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b504ab3b8e64fd2" /><Relationship Type="http://schemas.openxmlformats.org/officeDocument/2006/relationships/extended-properties" Target="/docProps/app.xml" Id="Raa95799c5c584848" /><Relationship Type="http://schemas.openxmlformats.org/officeDocument/2006/relationships/officeDocument" Target="/ppt/presentation.xml" Id="Re692533ed316467d" /></Relationships>
</file>

<file path=ppt/presentation.xml><?xml version="1.0" encoding="utf-8"?>
<p:presentation xmlns:p="http://schemas.openxmlformats.org/presentationml/2006/main">
  <p:sldMasterIdLst>
    <p:sldMasterId xmlns:r="http://schemas.openxmlformats.org/officeDocument/2006/relationships" id="2147483648" r:id="Rd5c76cb5cd8f4c04"/>
  </p:sldMasterIdLst>
  <p:notesMasterIdLst>
    <p:notesMasterId xmlns:r="http://schemas.openxmlformats.org/officeDocument/2006/relationships" r:id="R4d349bec24ce4905"/>
  </p:notesMasterIdLst>
  <p:sldIdLst>
    <p:sldId xmlns:r="http://schemas.openxmlformats.org/officeDocument/2006/relationships" id="256" r:id="R9b8a5cecc6254bc2"/>
    <p:sldId xmlns:r="http://schemas.openxmlformats.org/officeDocument/2006/relationships" id="257" r:id="Re07398fb9b234e48"/>
    <p:sldId xmlns:r="http://schemas.openxmlformats.org/officeDocument/2006/relationships" id="258" r:id="R7f8260927e244f5d"/>
    <p:sldId xmlns:r="http://schemas.openxmlformats.org/officeDocument/2006/relationships" id="259" r:id="R362d1f0824c84464"/>
    <p:sldId xmlns:r="http://schemas.openxmlformats.org/officeDocument/2006/relationships" id="260" r:id="Re96c373efdb4424d"/>
    <p:sldId xmlns:r="http://schemas.openxmlformats.org/officeDocument/2006/relationships" id="261" r:id="R9a9b12b8e2a64082"/>
    <p:sldId xmlns:r="http://schemas.openxmlformats.org/officeDocument/2006/relationships" id="262" r:id="Re198cf78ad4f4483"/>
    <p:sldId xmlns:r="http://schemas.openxmlformats.org/officeDocument/2006/relationships" id="263" r:id="Rf3d83be6d7d24ab5"/>
    <p:sldId xmlns:r="http://schemas.openxmlformats.org/officeDocument/2006/relationships" id="264" r:id="Ra99eae1746e6486a"/>
    <p:sldId xmlns:r="http://schemas.openxmlformats.org/officeDocument/2006/relationships" id="265" r:id="R70f00fdb6da448a2"/>
    <p:sldId xmlns:r="http://schemas.openxmlformats.org/officeDocument/2006/relationships" id="266" r:id="R89f7241d14fa40e5"/>
    <p:sldId xmlns:r="http://schemas.openxmlformats.org/officeDocument/2006/relationships" id="267" r:id="R9e3445516d6640b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cbdabb418de4ffb" /><Relationship Type="http://schemas.openxmlformats.org/officeDocument/2006/relationships/slideMaster" Target="/ppt/slideMasters/slideMaster1.xml" Id="Rd5c76cb5cd8f4c04" /><Relationship Type="http://schemas.openxmlformats.org/officeDocument/2006/relationships/notesMaster" Target="/ppt/notesMasters/notesMaster1.xml" Id="R4d349bec24ce4905" /><Relationship Type="http://schemas.openxmlformats.org/officeDocument/2006/relationships/presProps" Target="/ppt/presProps.xml" Id="R5c6c1a262e524fb5" /><Relationship Type="http://schemas.openxmlformats.org/officeDocument/2006/relationships/tableStyles" Target="/ppt/tableStyles.xml" Id="R209268f136cb46cd" /><Relationship Type="http://schemas.openxmlformats.org/officeDocument/2006/relationships/slide" Target="/ppt/slides/slide1.xml" Id="R9b8a5cecc6254bc2" /><Relationship Type="http://schemas.openxmlformats.org/officeDocument/2006/relationships/slide" Target="/ppt/slides/slide2.xml" Id="Re07398fb9b234e48" /><Relationship Type="http://schemas.openxmlformats.org/officeDocument/2006/relationships/slide" Target="/ppt/slides/slide3.xml" Id="R7f8260927e244f5d" /><Relationship Type="http://schemas.openxmlformats.org/officeDocument/2006/relationships/slide" Target="/ppt/slides/slide4.xml" Id="R362d1f0824c84464" /><Relationship Type="http://schemas.openxmlformats.org/officeDocument/2006/relationships/slide" Target="/ppt/slides/slide5.xml" Id="Re96c373efdb4424d" /><Relationship Type="http://schemas.openxmlformats.org/officeDocument/2006/relationships/slide" Target="/ppt/slides/slide6.xml" Id="R9a9b12b8e2a64082" /><Relationship Type="http://schemas.openxmlformats.org/officeDocument/2006/relationships/slide" Target="/ppt/slides/slide7.xml" Id="Re198cf78ad4f4483" /><Relationship Type="http://schemas.openxmlformats.org/officeDocument/2006/relationships/slide" Target="/ppt/slides/slide8.xml" Id="Rf3d83be6d7d24ab5" /><Relationship Type="http://schemas.openxmlformats.org/officeDocument/2006/relationships/slide" Target="/ppt/slides/slide9.xml" Id="Ra99eae1746e6486a" /><Relationship Type="http://schemas.openxmlformats.org/officeDocument/2006/relationships/slide" Target="/ppt/slides/slide10.xml" Id="R70f00fdb6da448a2" /><Relationship Type="http://schemas.openxmlformats.org/officeDocument/2006/relationships/slide" Target="/ppt/slides/slide11.xml" Id="R89f7241d14fa40e5" /><Relationship Type="http://schemas.openxmlformats.org/officeDocument/2006/relationships/slide" Target="/ppt/slides/slide12.xml" Id="R9e3445516d6640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28ce43a8664b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297dc792724254" /><Relationship Type="http://schemas.openxmlformats.org/officeDocument/2006/relationships/notesMaster" Target="/ppt/notesMasters/notesMaster1.xml" Id="R7ee75c9e5b0d488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f70a24911a4211" /><Relationship Type="http://schemas.openxmlformats.org/officeDocument/2006/relationships/notesMaster" Target="/ppt/notesMasters/notesMaster1.xml" Id="Rc990e1bdb8e348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b7875cace94b5e" /><Relationship Type="http://schemas.openxmlformats.org/officeDocument/2006/relationships/notesMaster" Target="/ppt/notesMasters/notesMaster1.xml" Id="R466bc147c3764f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28ae11ba644e93" /><Relationship Type="http://schemas.openxmlformats.org/officeDocument/2006/relationships/notesMaster" Target="/ppt/notesMasters/notesMaster1.xml" Id="Rf52e6c207b7e42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90b715ad634037" /><Relationship Type="http://schemas.openxmlformats.org/officeDocument/2006/relationships/notesMaster" Target="/ppt/notesMasters/notesMaster1.xml" Id="R40b0cfda97b74b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60337deefbb94c7b" /><Relationship Type="http://schemas.openxmlformats.org/officeDocument/2006/relationships/notesMaster" Target="/ppt/notesMasters/notesMaster1.xml" Id="R11acc8b309204b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239643351c440c" /><Relationship Type="http://schemas.openxmlformats.org/officeDocument/2006/relationships/notesMaster" Target="/ppt/notesMasters/notesMaster1.xml" Id="Rd4063b3e6f854f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3c7d3f86823741fd" /><Relationship Type="http://schemas.openxmlformats.org/officeDocument/2006/relationships/notesMaster" Target="/ppt/notesMasters/notesMaster1.xml" Id="R72057b89e5e646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27a8a36219d44815" /><Relationship Type="http://schemas.openxmlformats.org/officeDocument/2006/relationships/notesMaster" Target="/ppt/notesMasters/notesMaster1.xml" Id="Rf15bfdc155dd48b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3f96c6d1e6542c4" /><Relationship Type="http://schemas.openxmlformats.org/officeDocument/2006/relationships/notesMaster" Target="/ppt/notesMasters/notesMaster1.xml" Id="Rdbde57a6091f451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f295b7132a8409b" /><Relationship Type="http://schemas.openxmlformats.org/officeDocument/2006/relationships/notesMaster" Target="/ppt/notesMasters/notesMaster1.xml" Id="R721a8569d393494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6af7492d6914158" /><Relationship Type="http://schemas.openxmlformats.org/officeDocument/2006/relationships/notesMaster" Target="/ppt/notesMasters/notesMaster1.xml" Id="Ra6025153d6f140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0:00–0:45 (45 seconds). ArchEvolve needs a common description of what a kernel computes, how each implementation touches memory, and what profiling measured. We have implemented that Software Database. It keeps these facts in versioned records, supports queries, and exports a workload view for the hardware side. The current application is GAPBS. We have six kernels, eight implementations and thirty-two profiles across four inputs. Thirty-one profiles are complete. This is infrastructure plus initial characterization evidence. The new strategy catalog can screen opportunities, but we have not yet measured an implementation produced by applying one of those strategies. Today I will show one example, the implemented support, and the next experiment I propose.</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/Users/yanrujhou/CLionProjects/EvolveSWDB/CONTEXT.md</a:t>
            </a:r>
          </a:p>
          <a:p xmlns:a="http://schemas.openxmlformats.org/drawingml/2006/main">
            <a:r>
              <a:t>/Users/yanrujhou/CLionProjects/EvolveSWDB/swdb/cli.py</a:t>
            </a:r>
          </a:p>
          <a:p xmlns:a="http://schemas.openxmlformats.org/drawingml/2006/main">
            <a:r>
              <a:t>/Users/yanrujhou/CLionProjects/EvolveSWDB/swdb/view.py</a:t>
            </a:r>
          </a:p>
          <a:p xmlns:a="http://schemas.openxmlformats.org/drawingml/2006/main">
            <a:r>
              <a:t>/Users/yanrujhou/CLionProjects/EvolveSWDB/.scratch/evolveswdb-2026-09-22/map.md</a:t>
            </a:r>
          </a:p>
          <a:p xmlns:a="http://schemas.openxmlformats.org/drawingml/2006/main">
            <a:r>
              <a:t>/Users/yanrujhou/CLionProjects/EvolveSWDB/.scratch/optimization-strategies-2026-09-23/map.md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0:45–1:45 (60 seconds). A kernel is identified by its computation and correctness check. An implementation is the actual code that passes that check. For PageRank, we record the upstream Gauss-Seidel and Jacobi implementations separately. The example expression is a simplified view of their recorded gather: read a neighbor identifier from an index array, then use it to read a contribution. We represent each array access as a step, so the database retains the indirection rather than only labeling the whole function irregular. Both implementations share this pattern class, but their semantics differ. Gauss-Seidel updates contributions during the sweep and has a recorded loop-carried dependency. Jacobi has a separate contribution pass and no recorded dependency for this gather. A profile then records what happens for one implementation, input and machine. That separation lets us ask useful questions without mixing code facts and measurements.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/Users/yanrujhou/CLionProjects/EvolveSWDB/docs/adr/0001-kernel-identity-is-its-correctness-check.md</a:t>
            </a:r>
          </a:p>
          <a:p xmlns:a="http://schemas.openxmlformats.org/drawingml/2006/main">
            <a:r>
              <a:t>/Users/yanrujhou/CLionProjects/EvolveSWDB/docs/adr/0003-access-pattern-is-a-chain-of-steps.md</a:t>
            </a:r>
          </a:p>
          <a:p xmlns:a="http://schemas.openxmlformats.org/drawingml/2006/main">
            <a:r>
              <a:t>/Users/yanrujhou/CLionProjects/EvolveSWDB/records/implementations/gapbs-pr-gs.yaml</a:t>
            </a:r>
          </a:p>
          <a:p xmlns:a="http://schemas.openxmlformats.org/drawingml/2006/main">
            <a:r>
              <a:t>/Users/yanrujhou/CLionProjects/EvolveSWDB/records/implementations/gapbs-pr-jacobi.yaml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1:45–2:45 (60 seconds). The new extension stores reusable optimization strategies separately from executable implementations. Here is a query we can already answer: which strategies satisfy the recorded conditions for this PageRank gather? Packing and SIMD gather are illegal for the Gauss-Seidel record because its loop-carried dependency conflicts with those strategies’ conditions. The Jacobi record passes the encoded conditions. Software prefetch passes for both. These are query results, not proof that changing the program is correct or profitable. The tool also reports undetermined when required facts are unknown. For packing, manual checks still include whether values remain stable between packing and use, and whether reuse pays for the extra pass. We also record intrinsics and derive their required instruction-set extensions, so profiling can reject incompatible machine or compiler settings. No current production record yet declares that it applies these strategies.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/Users/yanrujhou/CLionProjects/EvolveSWDB/swdb/strategy.py</a:t>
            </a:r>
          </a:p>
          <a:p xmlns:a="http://schemas.openxmlformats.org/drawingml/2006/main">
            <a:r>
              <a:t>/Users/yanrujhou/CLionProjects/EvolveSWDB/swdb/db.py</a:t>
            </a:r>
          </a:p>
          <a:p xmlns:a="http://schemas.openxmlformats.org/drawingml/2006/main">
            <a:r>
              <a:t>/Users/yanrujhou/CLionProjects/EvolveSWDB/swdb/isa.py</a:t>
            </a:r>
          </a:p>
          <a:p xmlns:a="http://schemas.openxmlformats.org/drawingml/2006/main">
            <a:r>
              <a:t>/Users/yanrujhou/CLionProjects/EvolveSWDB/records/strategies/packing.yaml</a:t>
            </a:r>
          </a:p>
          <a:p xmlns:a="http://schemas.openxmlformats.org/drawingml/2006/main">
            <a:r>
              <a:t>/Users/yanrujhou/CLionProjects/EvolveSWDB/records/strategies/simd_gather.yaml</a:t>
            </a:r>
          </a:p>
          <a:p xmlns:a="http://schemas.openxmlformats.org/drawingml/2006/main">
            <a:r>
              <a:t>/Users/yanrujhou/CLionProjects/EvolveSWDB/records/strategies/software_prefetch.yaml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2:45–4:00 (75 seconds). These are recorded timings for the same Jacobi implementation on two Kronecker inputs. Both runs used the mbit10 Xeon Gold 6326, within one socket, and five trials at each thread count. The chart divides the one-thread median by each multi-thread median. The smaller input reaches about four times speedup and then flattens. The larger input reaches thirteen point three five times at sixteen threads. Their recorded footprints are eight point three three megabytes and five hundred eighty point three five megabytes, compared with a twenty-four mebibyte last-level cache per socket. For the small case, the code’s dynamic chunk size of sixteen thousand three hundred eighty-four gives only four chunks for roughly sixty-five thousand vertices. This helps explain the plateau. We retain measured timing separately from simulated cache misses and inferred bottleneck labels. The result motivates storing profiles per input. It does not by itself establish a memory-latency cause for the larger case.</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/Users/yanrujhou/CLionProjects/EvolveSWDB/records/profiles/gapbs-pr-jacobi.kron-g16-k16.mbit10.20260922t212416z.yaml</a:t>
            </a:r>
          </a:p>
          <a:p xmlns:a="http://schemas.openxmlformats.org/drawingml/2006/main">
            <a:r>
              <a:t>/Users/yanrujhou/CLionProjects/EvolveSWDB/records/profiles/gapbs-pr-jacobi.kron-g22-k16.mbit10.20260922t215412z.yaml</a:t>
            </a:r>
          </a:p>
          <a:p xmlns:a="http://schemas.openxmlformats.org/drawingml/2006/main">
            <a:r>
              <a:t>/Users/yanrujhou/CLionProjects/EvolveSWDB/records/machines/mbit10.yaml</a:t>
            </a:r>
          </a:p>
          <a:p xmlns:a="http://schemas.openxmlformats.org/drawingml/2006/main">
            <a:r>
              <a:t>/Users/yanrujhou/CLionProjects/EvolveSWDB/apps/gapbs/src/pr_spmv.cc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4:00–5:00 (60 seconds). The completed foundation includes record validation, queries, workload export, profiling, and strategy screening. The current boundary is clear: all records are still drafts, one triangle-counting profile has an incomplete correctness check, and no recorded implementation yet applies a cataloged strategy. I propose making one strategy concrete. We would choose one eligible access pattern, complete the remaining manual checks, implement the change as a derived implementation, and run the kernel’s correctness check. We would then compare that implementation with its own baseline on matched inputs and machine settings, including any added setup work. Packing on Jacobi is a candidate to investigate, not a promised speedup: its amortization may fail. The decision for this meeting is whether this is the right next experiment, and which strategy and implementation should go first.</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/Users/yanrujhou/CLionProjects/EvolveSWDB/records/strategies/packing.yaml</a:t>
            </a:r>
          </a:p>
          <a:p xmlns:a="http://schemas.openxmlformats.org/drawingml/2006/main">
            <a:r>
              <a:t>/Users/yanrujhou/CLionProjects/EvolveSWDB/swdb/strategy.py</a:t>
            </a:r>
          </a:p>
          <a:p xmlns:a="http://schemas.openxmlformats.org/drawingml/2006/main">
            <a:r>
              <a:t>/Users/yanrujhou/CLionProjects/EvolveSWDB/swdb/isa.py</a:t>
            </a:r>
          </a:p>
          <a:p xmlns:a="http://schemas.openxmlformats.org/drawingml/2006/main">
            <a:r>
              <a:t>/Users/yanrujhou/CLionProjects/EvolveSWDB/schemas/implementation.schema.json</a:t>
            </a:r>
          </a:p>
          <a:p xmlns:a="http://schemas.openxmlformats.org/drawingml/2006/main">
            <a:r>
              <a:t>/Users/yanrujhou/CLionProjects/EvolveSWDB/records/profiles/gapbs-tc-ordered.kron-g22-k16.mbit10.20260922t233432z.yaml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Counts are from all YAML records at the stated checkout. The 59 records all retain draft status. Access patterns are nested within implementations, so their count is not added to the record total. All 21 tickets across the initial milestone and strategy extension are marked resolved. Ticket status does not establish research effectiveness.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a:t>
            </a:r>
          </a:p>
          <a:p xmlns:a="http://schemas.openxmlformats.org/drawingml/2006/main">
            <a:r>
              <a:t>/Users/yanrujhou/CLionProjects/EvolveSWDB/.scratch/evolveswdb-2026-09-22/map.md</a:t>
            </a:r>
          </a:p>
          <a:p xmlns:a="http://schemas.openxmlformats.org/drawingml/2006/main">
            <a:r>
              <a:t>/Users/yanrujhou/CLionProjects/EvolveSWDB/.scratch/optimization-strategies-2026-09-23/map.md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Every implementation has one profile for each of the four pilot inputs, for 32 profiles. Thirty-one are complete. Triangle counting on the larger Kronecker input timed out in its correctness verifier and remains incomplete. Its timing and simulation output must not be treated as correctness-verified performance. Existing implementations come from upstream GAPBS, including Jacobi.</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/Users/yanrujhou/CLionProjects/EvolveSWDB/records/kernels/</a:t>
            </a:r>
          </a:p>
          <a:p xmlns:a="http://schemas.openxmlformats.org/drawingml/2006/main">
            <a:r>
              <a:t>/Users/yanrujhou/CLionProjects/EvolveSWDB/records/implementations/</a:t>
            </a:r>
          </a:p>
          <a:p xmlns:a="http://schemas.openxmlformats.org/drawingml/2006/main">
            <a:r>
              <a:t>/Users/yanrujhou/CLionProjects/EvolveSWDB/records/inputs/</a:t>
            </a:r>
          </a:p>
          <a:p xmlns:a="http://schemas.openxmlformats.org/drawingml/2006/main">
            <a:r>
              <a:t>/Users/yanrujhou/CLionProjects/EvolveSWDB/records/profiles/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YAML is the source of truth and SQLite is a generated query cache. Validation covers schemas, vocabularies and cross-record rules. Adding a record validates it before storing it and rebuilding the cache. Agent-origin additions retain draft status and agent-run provenance. Queries cover access patterns, semantic conditions, implementations and strategies. A workload view adapts stored records to the hardware-side format, but completed integration with a running HW agent is not established here.</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/Users/yanrujhou/CLionProjects/EvolveSWDB/swdb/cli.py</a:t>
            </a:r>
          </a:p>
          <a:p xmlns:a="http://schemas.openxmlformats.org/drawingml/2006/main">
            <a:r>
              <a:t>/Users/yanrujhou/CLionProjects/EvolveSWDB/swdb/db.py</a:t>
            </a:r>
          </a:p>
          <a:p xmlns:a="http://schemas.openxmlformats.org/drawingml/2006/main">
            <a:r>
              <a:t>/Users/yanrujhou/CLionProjects/EvolveSWDB/swdb/writer.py</a:t>
            </a:r>
          </a:p>
          <a:p xmlns:a="http://schemas.openxmlformats.org/drawingml/2006/main">
            <a:r>
              <a:t>/Users/yanrujhou/CLionProjects/EvolveSWDB/swdb/view.py</a:t>
            </a:r>
          </a:p>
          <a:p xmlns:a="http://schemas.openxmlformats.org/drawingml/2006/main">
            <a:r>
              <a:t>/Users/yanrujhou/CLionProjects/EvolveSWDB/docs/database.md</a:t>
            </a:r>
          </a:p>
          <a:p xmlns:a="http://schemas.openxmlformats.org/drawingml/2006/main">
            <a:r>
              <a:t>/Users/yanrujhou/CLionProjects/EvolveSWDB/docs/adr/0002-yaml-in-git-is-the-master-copy-sqlite-is-generated.md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 profiling pipeline records build provenance, host conditions, correctness checks and stages. Timing uses the application’s trial timer and retains all repetitions, medians, minima, maxima and spreads. Footprints use sizes and formulas. Index-stream features characterize recorded indirect streams and are available in 12 profiles, not all 32. Cachegrind simulates cache behavior at one thread, with kernel-function filtering. Bottleneck labels are inferences from counter-free evidence. The profile stores which stage completed and why other stages did not.</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/Users/yanrujhou/CLionProjects/EvolveSWDB/swdb/profile.py</a:t>
            </a:r>
          </a:p>
          <a:p xmlns:a="http://schemas.openxmlformats.org/drawingml/2006/main">
            <a:r>
              <a:t>/Users/yanrujhou/CLionProjects/EvolveSWDB/tools/index_features/</a:t>
            </a:r>
          </a:p>
          <a:p xmlns:a="http://schemas.openxmlformats.org/drawingml/2006/main">
            <a:r>
              <a:t>/Users/yanrujhou/CLionProjects/EvolveSWDB/docs/mbit10-profiling.md</a:t>
            </a:r>
          </a:p>
          <a:p xmlns:a="http://schemas.openxmlformats.org/drawingml/2006/main">
            <a:r>
              <a:t>/Users/yanrujhou/CLionProjects/EvolveSWDB/records/profiles/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 five strategy records identify changes by target and effect rather than name alone. Parameters such as distance or tile size do not create a new strategy identity. Preconditions return legal, illegal or undetermined, with unencoded obligations retained as manual checks. Benefits in strategy records are reported claims, not measured gains in this project. The intrinsic records cover the prefetch wrapper and an AVX-512 gather wrapper. Intrinsic use derives required ISA extensions for an implementation.</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/Users/yanrujhou/CLionProjects/EvolveSWDB/docs/adr/0004-optimization-strategy-is-a-record-identified-by-its-effect.md</a:t>
            </a:r>
          </a:p>
          <a:p xmlns:a="http://schemas.openxmlformats.org/drawingml/2006/main">
            <a:r>
              <a:t>/Users/yanrujhou/CLionProjects/EvolveSWDB/records/strategies/</a:t>
            </a:r>
          </a:p>
          <a:p xmlns:a="http://schemas.openxmlformats.org/drawingml/2006/main">
            <a:r>
              <a:t>/Users/yanrujhou/CLionProjects/EvolveSWDB/records/intrinsics/</a:t>
            </a:r>
          </a:p>
          <a:p xmlns:a="http://schemas.openxmlformats.org/drawingml/2006/main">
            <a:r>
              <a:t>/Users/yanrujhou/CLionProjects/EvolveSWDB/swdb/strategy.py</a:t>
            </a:r>
          </a:p>
          <a:p xmlns:a="http://schemas.openxmlformats.org/drawingml/2006/main">
            <a:r>
              <a:t>/Users/yanrujhou/CLionProjects/EvolveSWDB/swdb/isa.py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These distinctions prevent a schema-valid record from being mistaken for a scientifically established result. The database checks references and evidence bases, preserves unknown semantics and enforces ISA requirements during profiling. Workload view generation exists, but this deck does not assert completed hardware-agent integration. The shared-host measurements are from committed profile records. This deck preparation did not rerun them or independently recheck the remote raw files.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/Users/yanrujhou/CLionProjects/EvolveSWDB/swdb/rules.py</a:t>
            </a:r>
          </a:p>
          <a:p xmlns:a="http://schemas.openxmlformats.org/drawingml/2006/main">
            <a:r>
              <a:t>/Users/yanrujhou/CLionProjects/EvolveSWDB/swdb/validate.py</a:t>
            </a:r>
          </a:p>
          <a:p xmlns:a="http://schemas.openxmlformats.org/drawingml/2006/main">
            <a:r>
              <a:t>/Users/yanrujhou/CLionProjects/EvolveSWDB/swdb/isa.py</a:t>
            </a:r>
          </a:p>
          <a:p xmlns:a="http://schemas.openxmlformats.org/drawingml/2006/main">
            <a:r>
              <a:t>/Users/yanrujhou/CLionProjects/EvolveSWDB/swdb/profile.py</a:t>
            </a:r>
          </a:p>
          <a:p xmlns:a="http://schemas.openxmlformats.org/drawingml/2006/main">
            <a:r>
              <a:t>/Users/yanrujhou/CLionProjects/EvolveSWDB/swdb/view.py</a:t>
            </a:r>
          </a:p>
          <a:p xmlns:a="http://schemas.openxmlformats.org/drawingml/2006/main">
            <a:r>
              <a:t>/Users/yanrujhou/CLionProjects/EvolveSWDB/.claude/rules/remote_server.md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These are medians in milliseconds, rounded from the profile records. Speedup is the one-thread median divided by the 16-thread median. Each median uses five trials. The two experiments have different graph sizes, so absolute times should not be compared as a speedup. The footprint is recorded in decimal MB, and the cache is 24 MiB = 25,165,824 bytes. The labels parallelism_bound and memory_bound are stored inferences. The small-input implementation uses dynamic scheduling with a chunk size of 16,384. Timing is the application Trial Time, not end-to-end process wall time. Raw records identify build commits and raw-output paths. This deck does not independently revalidate remote files.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/Users/yanrujhou/CLionProjects/EvolveSWDB/records/profiles/gapbs-pr-jacobi.kron-g16-k16.mbit10.20260922t212416z.yaml</a:t>
            </a:r>
          </a:p>
          <a:p xmlns:a="http://schemas.openxmlformats.org/drawingml/2006/main">
            <a:r>
              <a:t>/Users/yanrujhou/CLionProjects/EvolveSWDB/records/profiles/gapbs-pr-jacobi.kron-g22-k16.mbit10.20260922t215412z.yaml</a:t>
            </a:r>
          </a:p>
          <a:p xmlns:a="http://schemas.openxmlformats.org/drawingml/2006/main">
            <a:r>
              <a:t>/Users/yanrujhou/CLionProjects/EvolveSWDB/apps/gapbs/src/pr_spmv.cc</a:t>
            </a:r>
          </a:p>
          <a:p xmlns:a="http://schemas.openxmlformats.org/drawingml/2006/main">
            <a:r>
              <a:t>/Users/yanrujhou/CLionProjects/EvolveSWDB/records/machines/mbit10.yaml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54aa6ba784408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9c12f8985e45d1" /><Relationship Type="http://schemas.openxmlformats.org/officeDocument/2006/relationships/slideLayout" Target="/ppt/slideLayouts/slideLayout1.xml" Id="R2b8e9e029b914e5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8e9e029b914e5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8a465b686474fb1" /><Relationship Type="http://schemas.openxmlformats.org/officeDocument/2006/relationships/notesSlide" Target="/ppt/notesSlides/notesSlide1.xml" Id="R9228fc01cf5149d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25c907c977446e2" /><Relationship Type="http://schemas.openxmlformats.org/officeDocument/2006/relationships/notesSlide" Target="/ppt/notesSlides/notesSlide2.xml" Id="Rc27e4dea046d482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85dbd86db094db3" /><Relationship Type="http://schemas.openxmlformats.org/officeDocument/2006/relationships/notesSlide" Target="/ppt/notesSlides/notesSlide3.xml" Id="Rb4f7e7114f0844e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8d51ca892cf47d9" /><Relationship Type="http://schemas.openxmlformats.org/officeDocument/2006/relationships/chart" Target="/ppt/slides/charts/chart1.xml" Id="Rb419de005ac74789" /><Relationship Type="http://schemas.openxmlformats.org/officeDocument/2006/relationships/notesSlide" Target="/ppt/notesSlides/notesSlide4.xml" Id="R22a8e58c287c45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75c0181894a4272" /><Relationship Type="http://schemas.openxmlformats.org/officeDocument/2006/relationships/notesSlide" Target="/ppt/notesSlides/notesSlide5.xml" Id="R3c202a4b07894a3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162c221c2d943f8" /><Relationship Type="http://schemas.openxmlformats.org/officeDocument/2006/relationships/notesSlide" Target="/ppt/notesSlides/notesSlide6.xml" Id="R337bcbdf35f449c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ac553aa33394e3a" /><Relationship Type="http://schemas.openxmlformats.org/officeDocument/2006/relationships/notesSlide" Target="/ppt/notesSlides/notesSlide7.xml" Id="R93cfed1d49ef45f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138c33d91114021" /><Relationship Type="http://schemas.openxmlformats.org/officeDocument/2006/relationships/notesSlide" Target="/ppt/notesSlides/notesSlide8.xml" Id="Rd4eb202e65414c3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dca151275f147aa" /><Relationship Type="http://schemas.openxmlformats.org/officeDocument/2006/relationships/notesSlide" Target="/ppt/notesSlides/notesSlide9.xml" Id="R115a71186a114b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84638ebaa6a44a8" /><Relationship Type="http://schemas.openxmlformats.org/officeDocument/2006/relationships/notesSlide" Target="/ppt/notesSlides/notesSlide10.xml" Id="R774b61ed25c4473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6d835acbec94a2d" /><Relationship Type="http://schemas.openxmlformats.org/officeDocument/2006/relationships/notesSlide" Target="/ppt/notesSlides/notesSlide11.xml" Id="Rcae75344c41b4d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ee096c3d0ef4294" /><Relationship Type="http://schemas.openxmlformats.org/officeDocument/2006/relationships/notesSlide" Target="/ppt/notesSlides/notesSlide12.xml" Id="Rec2d265382cd4b7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Scale 16 (65K vertices)</c:v>
          </c:tx>
          <c:spPr>
            <a:ln xmlns:a="http://schemas.openxmlformats.org/drawingml/2006/main" w="38100">
              <a:solidFill>
                <a:srgbClr val="00274C"/>
              </a:solidFill>
            </a:ln>
          </c:spPr>
          <c:marker>
            <c:symbol val="circle"/>
            <c:size val="9"/>
            <c:spPr>
              <a:solidFill xmlns:a="http://schemas.openxmlformats.org/drawingml/2006/main">
                <a:srgbClr val="00274C"/>
              </a:solidFill>
            </c:spPr>
          </c:marker>
          <c:cat>
            <c:numRef>
              <c:f>'Chart Data'!$A$2:$A$6</c:f>
              <c:numCache>
                <c:formatCode>General</c:formatCode>
                <c:ptCount val="5"/>
                <c:pt idx="0">
                  <c:v>1</c:v>
                </c:pt>
                <c:pt idx="1">
                  <c:v>2</c:v>
                </c:pt>
                <c:pt idx="2">
                  <c:v>4</c:v>
                </c:pt>
                <c:pt idx="3">
                  <c:v>8</c:v>
                </c:pt>
                <c:pt idx="4">
                  <c:v>16</c:v>
                </c:pt>
              </c:numCache>
            </c:numRef>
          </c:cat>
          <c:val>
            <c:numRef>
              <c:f>'Chart Data'!$B$2:$B$6</c:f>
              <c:numCache>
                <c:formatCode>0"×"</c:formatCode>
                <c:ptCount val="5"/>
                <c:pt idx="0">
                  <c:v>1</c:v>
                </c:pt>
                <c:pt idx="1">
                  <c:v>1.99</c:v>
                </c:pt>
                <c:pt idx="2">
                  <c:v>3.87</c:v>
                </c:pt>
                <c:pt idx="3">
                  <c:v>3.95</c:v>
                </c:pt>
                <c:pt idx="4">
                  <c:v>3.93</c:v>
                </c:pt>
              </c:numCache>
            </c:numRef>
          </c:val>
          <c:smooth val="0"/>
        </c:ser>
        <c:ser>
          <c:idx val="1"/>
          <c:order val="1"/>
          <c:tx>
            <c:v>Scale 22 (4.19M vertices)</c:v>
          </c:tx>
          <c:spPr>
            <a:ln xmlns:a="http://schemas.openxmlformats.org/drawingml/2006/main" w="38100">
              <a:solidFill>
                <a:srgbClr val="4A6FA5"/>
              </a:solidFill>
            </a:ln>
          </c:spPr>
          <c:marker>
            <c:symbol val="square"/>
            <c:size val="9"/>
            <c:spPr>
              <a:solidFill xmlns:a="http://schemas.openxmlformats.org/drawingml/2006/main">
                <a:srgbClr val="4A6FA5"/>
              </a:solidFill>
            </c:spPr>
          </c:marker>
          <c:cat>
            <c:numRef>
              <c:f>'Chart Data'!$C$2:$C$6</c:f>
              <c:numCache>
                <c:formatCode>General</c:formatCode>
                <c:ptCount val="5"/>
                <c:pt idx="0">
                  <c:v>1</c:v>
                </c:pt>
                <c:pt idx="1">
                  <c:v>2</c:v>
                </c:pt>
                <c:pt idx="2">
                  <c:v>4</c:v>
                </c:pt>
                <c:pt idx="3">
                  <c:v>8</c:v>
                </c:pt>
                <c:pt idx="4">
                  <c:v>16</c:v>
                </c:pt>
              </c:numCache>
            </c:numRef>
          </c:cat>
          <c:val>
            <c:numRef>
              <c:f>'Chart Data'!$D$2:$D$6</c:f>
              <c:numCache>
                <c:formatCode>0"×"</c:formatCode>
                <c:ptCount val="5"/>
                <c:pt idx="0">
                  <c:v>1</c:v>
                </c:pt>
                <c:pt idx="1">
                  <c:v>1.98</c:v>
                </c:pt>
                <c:pt idx="2">
                  <c:v>3.93</c:v>
                </c:pt>
                <c:pt idx="3">
                  <c:v>7.56</c:v>
                </c:pt>
                <c:pt idx="4">
                  <c:v>13.35</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latin typeface="Helvetica Neue"/>
                    <a:ea typeface="Helvetica Neue"/>
                    <a:cs typeface="Helvetica Neue"/>
                  </a:rPr>
                  <a:t>Threads</a:t>
                </a:r>
              </a:p>
            </c:rich>
          </c:tx>
          <c:overlay val="0"/>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16"/>
          <c:min val="0"/>
        </c:scaling>
        <c:delete val="0"/>
        <c:axPos val="l"/>
        <c:majorGridlines>
          <c:spPr>
            <a:ln xmlns:a="http://schemas.openxmlformats.org/drawingml/2006/main" w="9525">
              <a:solidFill>
                <a:srgbClr val="D9E1E8"/>
              </a:solidFill>
            </a:ln>
          </c:spPr>
        </c:majorGridlines>
        <c:title>
          <c:tx>
            <c:rich>
              <a:bodyPr xmlns:a="http://schemas.openxmlformats.org/drawingml/2006/main"/>
              <a:lstStyle xmlns:a="http://schemas.openxmlformats.org/drawingml/2006/main"/>
              <a:p xmlns:a="http://schemas.openxmlformats.org/drawingml/2006/main">
                <a:r>
                  <a:rPr sz="1650">
                    <a:latin typeface="Helvetica Neue"/>
                    <a:ea typeface="Helvetica Neue"/>
                    <a:cs typeface="Helvetica Neue"/>
                  </a:rPr>
                  <a:t>Speedup vs. 1 thread</a:t>
                </a:r>
              </a:p>
            </c:rich>
          </c:tx>
          <c:overlay val="0"/>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title>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majorUnit val="4"/>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64A9962-1086-4B73-AB68-21B54DBD9FF8}"/>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63AEDA6-B024-499C-9830-5D7FA6CD6594}"/>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E63E90F-7109-42C1-92A3-8C6687B40520}"/>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Software Database: first-week progress</a:t>
            </a:r>
          </a:p>
        </p:txBody>
      </p:sp>
      <p:sp>
        <p:nvSpPr>
          <p:cNvPr id="4" name="">
            <a:extLst xmlns:a="http://schemas.openxmlformats.org/drawingml/2006/main">
              <a:ext uri="{FF2B5EF4-FFF2-40B4-BE49-F238E27FC236}">
                <a16:creationId xmlns:a16="http://schemas.microsoft.com/office/drawing/2014/main" id="{DF527193-FA01-4BAC-BA40-705045D8EEF7}"/>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7A542DF7-3D60-43BA-AB08-22746BC5F139}"/>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3524710E-CB1E-4A13-84CD-FCA74EE80DB5}"/>
              </a:ext>
            </a:extLst>
          </p:cNvPr>
          <p:cNvSpPr>
            <a:spLocks xmlns:a="http://schemas.openxmlformats.org/drawingml/2006/main" noGrp="1"/>
          </p:cNvSpPr>
          <p:nvPr/>
        </p:nvSpPr>
        <p:spPr>
          <a:xfrm xmlns:a="http://schemas.openxmlformats.org/drawingml/2006/main">
            <a:off x="457200" y="133350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Purpose</a:t>
            </a:r>
          </a:p>
        </p:txBody>
      </p:sp>
      <p:sp>
        <p:nvSpPr>
          <p:cNvPr id="7" name="">
            <a:extLst xmlns:a="http://schemas.openxmlformats.org/drawingml/2006/main">
              <a:ext uri="{FF2B5EF4-FFF2-40B4-BE49-F238E27FC236}">
                <a16:creationId xmlns:a16="http://schemas.microsoft.com/office/drawing/2014/main" id="{BC8F31DF-6E6E-4201-BBF1-3E517F106736}"/>
              </a:ext>
            </a:extLst>
          </p:cNvPr>
          <p:cNvSpPr>
            <a:spLocks xmlns:a="http://schemas.openxmlformats.org/drawingml/2006/main" noGrp="1"/>
          </p:cNvSpPr>
          <p:nvPr/>
        </p:nvSpPr>
        <p:spPr>
          <a:xfrm xmlns:a="http://schemas.openxmlformats.org/drawingml/2006/main">
            <a:off x="457200" y="18097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A1A1A"/>
                </a:solidFill>
                <a:latin typeface="Helvetica Neue"/>
                <a:ea typeface="Helvetica Neue"/>
                <a:cs typeface="Helvetica Neue"/>
              </a:defRPr>
            </a:pPr>
            <a:r>
              <a:rPr sz="2550" b="0">
                <a:solidFill>
                  <a:srgbClr val="1A1A1A"/>
                </a:solidFill>
                <a:latin typeface="Helvetica Neue"/>
                <a:ea typeface="Helvetica Neue"/>
                <a:cs typeface="Helvetica Neue"/>
              </a:rPr>
              <a:t>Give ArchEvolve a shared record of computation,</a:t>
            </a:r>
          </a:p>
          <a:p xmlns:a="http://schemas.openxmlformats.org/drawingml/2006/main">
            <a:pPr>
              <a:defRPr sz="2550" b="0">
                <a:solidFill>
                  <a:srgbClr val="1A1A1A"/>
                </a:solidFill>
                <a:latin typeface="Helvetica Neue"/>
                <a:ea typeface="Helvetica Neue"/>
                <a:cs typeface="Helvetica Neue"/>
              </a:defRPr>
            </a:pPr>
            <a:r>
              <a:rPr sz="2550" b="0">
                <a:solidFill>
                  <a:srgbClr val="1A1A1A"/>
                </a:solidFill>
                <a:latin typeface="Helvetica Neue"/>
                <a:ea typeface="Helvetica Neue"/>
                <a:cs typeface="Helvetica Neue"/>
              </a:rPr>
              <a:t>memory behavior, and measured performance.</a:t>
            </a:r>
          </a:p>
        </p:txBody>
      </p:sp>
      <p:graphicFrame>
        <p:nvGraphicFramePr>
          <p:cNvPr id="18" name=""/>
          <p:cNvGraphicFramePr/>
          <p:nvPr/>
        </p:nvGraphicFramePr>
        <p:xfrm>
          <a:off xmlns:a="http://schemas.openxmlformats.org/drawingml/2006/main" x="457200" y="2943225"/>
          <a:ext xmlns:a="http://schemas.openxmlformats.org/drawingml/2006/main" cx="11277600" cy="2209800"/>
        </p:xfrm>
        <a:graphic xmlns:a="http://schemas.openxmlformats.org/drawingml/2006/main">
          <a:graphicData uri="http://schemas.openxmlformats.org/drawingml/2006/table">
            <a:tbl>
              <a:tblPr/>
              <a:tblGrid>
                <a:gridCol w="6000750"/>
                <a:gridCol w="5276850"/>
              </a:tblGrid>
              <a:tr h="552450">
                <a:tc>
                  <a:txBody>
                    <a:bodyPr/>
                    <a:lstStyle/>
                    <a:p>
                      <a:r>
                        <a:rPr sz="1950" b="1">
                          <a:solidFill>
                            <a:srgbClr val="FFFFFF"/>
                          </a:solidFill>
                          <a:latin typeface="Helvetica Neue"/>
                          <a:ea typeface="Helvetica Neue"/>
                          <a:cs typeface="Helvetica Neue"/>
                        </a:rPr>
                        <a:t>Implemented</a:t>
                      </a:r>
                    </a:p>
                  </a:txBody>
                  <a:tcPr marL="91440" marR="91440" marT="45720" marB="45720">
                    <a:solidFill>
                      <a:srgbClr val="00274C"/>
                    </a:solidFill>
                  </a:tcPr>
                </a:tc>
                <a:tc>
                  <a:txBody>
                    <a:bodyPr/>
                    <a:lstStyle/>
                    <a:p>
                      <a:r>
                        <a:rPr sz="1950" b="1">
                          <a:solidFill>
                            <a:srgbClr val="FFFFFF"/>
                          </a:solidFill>
                          <a:latin typeface="Helvetica Neue"/>
                          <a:ea typeface="Helvetica Neue"/>
                          <a:cs typeface="Helvetica Neue"/>
                        </a:rPr>
                        <a:t>Current coverage</a:t>
                      </a:r>
                    </a:p>
                  </a:txBody>
                  <a:tcPr marL="91440" marR="91440" marT="45720" marB="45720">
                    <a:solidFill>
                      <a:srgbClr val="00274C"/>
                    </a:solidFill>
                  </a:tcPr>
                </a:tc>
              </a:tr>
              <a:tr h="552450">
                <a:tc>
                  <a:txBody>
                    <a:bodyPr/>
                    <a:lstStyle/>
                    <a:p>
                      <a:r>
                        <a:rPr sz="1950" b="0">
                          <a:solidFill>
                            <a:srgbClr val="1A1A1A"/>
                          </a:solidFill>
                          <a:latin typeface="Helvetica Neue"/>
                          <a:ea typeface="Helvetica Neue"/>
                          <a:cs typeface="Helvetica Neue"/>
                        </a:rPr>
                        <a:t>Describe and query application code</a:t>
                      </a:r>
                    </a:p>
                  </a:txBody>
                  <a:tcPr marL="91440" marR="91440" marT="45720" marB="45720">
                    <a:solidFill>
                      <a:srgbClr val="FFFFFF"/>
                    </a:solidFill>
                  </a:tcPr>
                </a:tc>
                <a:tc>
                  <a:txBody>
                    <a:bodyPr/>
                    <a:lstStyle/>
                    <a:p>
                      <a:r>
                        <a:rPr sz="1950" b="0">
                          <a:solidFill>
                            <a:srgbClr val="1A1A1A"/>
                          </a:solidFill>
                          <a:latin typeface="Helvetica Neue"/>
                          <a:ea typeface="Helvetica Neue"/>
                          <a:cs typeface="Helvetica Neue"/>
                        </a:rPr>
                        <a:t>6 kernels, 8 implementations</a:t>
                      </a:r>
                    </a:p>
                  </a:txBody>
                  <a:tcPr marL="91440" marR="91440" marT="45720" marB="45720">
                    <a:solidFill>
                      <a:srgbClr val="FFFFFF"/>
                    </a:solidFill>
                  </a:tcPr>
                </a:tc>
              </a:tr>
              <a:tr h="552450">
                <a:tc>
                  <a:txBody>
                    <a:bodyPr/>
                    <a:lstStyle/>
                    <a:p>
                      <a:r>
                        <a:rPr sz="1950" b="0">
                          <a:solidFill>
                            <a:srgbClr val="1A1A1A"/>
                          </a:solidFill>
                          <a:latin typeface="Helvetica Neue"/>
                          <a:ea typeface="Helvetica Neue"/>
                          <a:cs typeface="Helvetica Neue"/>
                        </a:rPr>
                        <a:t>Profile each implementation on each input</a:t>
                      </a:r>
                    </a:p>
                  </a:txBody>
                  <a:tcPr marL="91440" marR="91440" marT="45720" marB="45720">
                    <a:solidFill>
                      <a:srgbClr val="F4F4F4"/>
                    </a:solidFill>
                  </a:tcPr>
                </a:tc>
                <a:tc>
                  <a:txBody>
                    <a:bodyPr/>
                    <a:lstStyle/>
                    <a:p>
                      <a:r>
                        <a:rPr sz="1950" b="0">
                          <a:solidFill>
                            <a:srgbClr val="1A1A1A"/>
                          </a:solidFill>
                          <a:latin typeface="Helvetica Neue"/>
                          <a:ea typeface="Helvetica Neue"/>
                          <a:cs typeface="Helvetica Neue"/>
                        </a:rPr>
                        <a:t>32 profiles across 4 inputs</a:t>
                      </a:r>
                    </a:p>
                  </a:txBody>
                  <a:tcPr marL="91440" marR="91440" marT="45720" marB="45720">
                    <a:solidFill>
                      <a:srgbClr val="F4F4F4"/>
                    </a:solidFill>
                  </a:tcPr>
                </a:tc>
              </a:tr>
              <a:tr h="552450">
                <a:tc>
                  <a:txBody>
                    <a:bodyPr/>
                    <a:lstStyle/>
                    <a:p>
                      <a:r>
                        <a:rPr sz="1950" b="0">
                          <a:solidFill>
                            <a:srgbClr val="1A1A1A"/>
                          </a:solidFill>
                          <a:latin typeface="Helvetica Neue"/>
                          <a:ea typeface="Helvetica Neue"/>
                          <a:cs typeface="Helvetica Neue"/>
                        </a:rPr>
                        <a:t>Screen optimization strategies</a:t>
                      </a:r>
                    </a:p>
                  </a:txBody>
                  <a:tcPr marL="91440" marR="91440" marT="45720" marB="45720">
                    <a:solidFill>
                      <a:srgbClr val="FFFFFF"/>
                    </a:solidFill>
                  </a:tcPr>
                </a:tc>
                <a:tc>
                  <a:txBody>
                    <a:bodyPr/>
                    <a:lstStyle/>
                    <a:p>
                      <a:r>
                        <a:rPr sz="1950" b="0">
                          <a:solidFill>
                            <a:srgbClr val="1A1A1A"/>
                          </a:solidFill>
                          <a:latin typeface="Helvetica Neue"/>
                          <a:ea typeface="Helvetica Neue"/>
                          <a:cs typeface="Helvetica Neue"/>
                        </a:rPr>
                        <a:t>5 strategies, 2 intrinsics</a:t>
                      </a:r>
                    </a:p>
                  </a:txBody>
                  <a:tcPr marL="91440" marR="91440" marT="45720" marB="45720">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37279631-3E8B-4E8D-A44E-0DFAEF8FB766}"/>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FDF77D4-C1BE-48F7-B346-53775C71B901}"/>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31 profiles complete. Strategy application and measured gains are the next step.</a:t>
            </a:r>
          </a:p>
        </p:txBody>
      </p:sp>
    </p:spTree>
    <p:extLst>
      <p:ext uri="{BB962C8B-B14F-4D97-AF65-F5344CB8AC3E}">
        <p14:creationId xmlns:p14="http://schemas.microsoft.com/office/powerpoint/2010/main" val="18130587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4ACD112-CD86-4963-96F7-86F85142B471}"/>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C6A68C-8465-400E-833B-B9FE6E408E9F}"/>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D6CD878-35B3-4A6D-ADA2-CB155FA4B8B5}"/>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One kernel can have different memory behavior</a:t>
            </a:r>
          </a:p>
        </p:txBody>
      </p:sp>
      <p:sp>
        <p:nvSpPr>
          <p:cNvPr id="4" name="">
            <a:extLst xmlns:a="http://schemas.openxmlformats.org/drawingml/2006/main">
              <a:ext uri="{FF2B5EF4-FFF2-40B4-BE49-F238E27FC236}">
                <a16:creationId xmlns:a16="http://schemas.microsoft.com/office/drawing/2014/main" id="{39C565AD-5645-4238-B8F6-1C87D81D56F5}"/>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F8C74608-5BA3-4921-9AD8-853114ACFC6D}"/>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2</a:t>
            </a:r>
          </a:p>
        </p:txBody>
      </p:sp>
      <p:sp>
        <p:nvSpPr>
          <p:cNvPr id="6" name="">
            <a:extLst xmlns:a="http://schemas.openxmlformats.org/drawingml/2006/main">
              <a:ext uri="{FF2B5EF4-FFF2-40B4-BE49-F238E27FC236}">
                <a16:creationId xmlns:a16="http://schemas.microsoft.com/office/drawing/2014/main" id="{2983D959-F2E1-42E6-8158-043DD02F9ADD}"/>
              </a:ext>
            </a:extLst>
          </p:cNvPr>
          <p:cNvSpPr>
            <a:spLocks xmlns:a="http://schemas.openxmlformats.org/drawingml/2006/main" noGrp="1"/>
          </p:cNvSpPr>
          <p:nvPr/>
        </p:nvSpPr>
        <p:spPr>
          <a:xfrm xmlns:a="http://schemas.openxmlformats.org/drawingml/2006/main">
            <a:off x="457200" y="1276350"/>
            <a:ext cx="11144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Example: PageRank reads a neighbor’s contribution</a:t>
            </a:r>
          </a:p>
        </p:txBody>
      </p:sp>
      <p:sp>
        <p:nvSpPr>
          <p:cNvPr id="7" name="">
            <a:extLst xmlns:a="http://schemas.openxmlformats.org/drawingml/2006/main">
              <a:ext uri="{FF2B5EF4-FFF2-40B4-BE49-F238E27FC236}">
                <a16:creationId xmlns:a16="http://schemas.microsoft.com/office/drawing/2014/main" id="{D15B8A5A-A797-4E76-81A0-09F23D2565A6}"/>
              </a:ext>
            </a:extLst>
          </p:cNvPr>
          <p:cNvSpPr>
            <a:spLocks xmlns:a="http://schemas.openxmlformats.org/drawingml/2006/main" noGrp="1"/>
          </p:cNvSpPr>
          <p:nvPr/>
        </p:nvSpPr>
        <p:spPr>
          <a:xfrm xmlns:a="http://schemas.openxmlformats.org/drawingml/2006/main">
            <a:off x="457200" y="1828800"/>
            <a:ext cx="11277600" cy="857250"/>
          </a:xfrm>
          <a:prstGeom xmlns:a="http://schemas.openxmlformats.org/drawingml/2006/main" prst="rect">
            <a:avLst/>
          </a:prstGeom>
          <a:solidFill xmlns:a="http://schemas.openxmlformats.org/drawingml/2006/main">
            <a:srgbClr val="F4F4F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DA6C9B8-E686-4113-8B6B-7AF4C2A6ADF6}"/>
              </a:ext>
            </a:extLst>
          </p:cNvPr>
          <p:cNvSpPr>
            <a:spLocks xmlns:a="http://schemas.openxmlformats.org/drawingml/2006/main" noGrp="1"/>
          </p:cNvSpPr>
          <p:nvPr/>
        </p:nvSpPr>
        <p:spPr>
          <a:xfrm xmlns:a="http://schemas.openxmlformats.org/drawingml/2006/main">
            <a:off x="714375" y="20288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274C"/>
                </a:solidFill>
                <a:latin typeface="Helvetica Neue"/>
                <a:ea typeface="Helvetica Neue"/>
                <a:cs typeface="Helvetica Neue"/>
              </a:defRPr>
            </a:pPr>
            <a:r>
              <a:rPr sz="2550" b="1">
                <a:solidFill>
                  <a:srgbClr val="00274C"/>
                </a:solidFill>
                <a:latin typeface="Helvetica Neue"/>
                <a:ea typeface="Helvetica Neue"/>
                <a:cs typeface="Helvetica Neue"/>
              </a:rPr>
              <a:t>contribution[neighbor_index[e]]</a:t>
            </a:r>
          </a:p>
        </p:txBody>
      </p:sp>
      <p:sp>
        <p:nvSpPr>
          <p:cNvPr id="9" name="">
            <a:extLst xmlns:a="http://schemas.openxmlformats.org/drawingml/2006/main">
              <a:ext uri="{FF2B5EF4-FFF2-40B4-BE49-F238E27FC236}">
                <a16:creationId xmlns:a16="http://schemas.microsoft.com/office/drawing/2014/main" id="{5F7F1AB5-9D2B-4C93-8B42-A76E9C26AD96}"/>
              </a:ext>
            </a:extLst>
          </p:cNvPr>
          <p:cNvSpPr>
            <a:spLocks xmlns:a="http://schemas.openxmlformats.org/drawingml/2006/main" noGrp="1"/>
          </p:cNvSpPr>
          <p:nvPr/>
        </p:nvSpPr>
        <p:spPr>
          <a:xfrm xmlns:a="http://schemas.openxmlformats.org/drawingml/2006/main">
            <a:off x="457200" y="2838450"/>
            <a:ext cx="1114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Simplified expression: stream through neighbor_index, then read contribution indirectly.</a:t>
            </a:r>
          </a:p>
        </p:txBody>
      </p:sp>
      <p:graphicFrame>
        <p:nvGraphicFramePr>
          <p:cNvPr id="22" name=""/>
          <p:cNvGraphicFramePr/>
          <p:nvPr/>
        </p:nvGraphicFramePr>
        <p:xfrm>
          <a:off xmlns:a="http://schemas.openxmlformats.org/drawingml/2006/main" x="457200" y="3581400"/>
          <a:ext xmlns:a="http://schemas.openxmlformats.org/drawingml/2006/main" cx="11277600" cy="1790700"/>
        </p:xfrm>
        <a:graphic xmlns:a="http://schemas.openxmlformats.org/drawingml/2006/main">
          <a:graphicData uri="http://schemas.openxmlformats.org/drawingml/2006/table">
            <a:tbl>
              <a:tblPr/>
              <a:tblGrid>
                <a:gridCol w="5334000"/>
                <a:gridCol w="2971800"/>
                <a:gridCol w="2971800"/>
              </a:tblGrid>
              <a:tr h="447675">
                <a:tc>
                  <a:txBody>
                    <a:bodyPr/>
                    <a:lstStyle/>
                    <a:p>
                      <a:r>
                        <a:rPr sz="1875" b="1">
                          <a:solidFill>
                            <a:srgbClr val="FFFFFF"/>
                          </a:solidFill>
                          <a:latin typeface="Helvetica Neue"/>
                          <a:ea typeface="Helvetica Neue"/>
                          <a:cs typeface="Helvetica Neue"/>
                        </a:rPr>
                        <a:t>Recorded fact</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Gauss–Seidel</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Jacobi</a:t>
                      </a:r>
                    </a:p>
                  </a:txBody>
                  <a:tcPr marL="91440" marR="91440" marT="45720" marB="45720">
                    <a:solidFill>
                      <a:srgbClr val="00274C"/>
                    </a:solidFill>
                  </a:tcPr>
                </a:tc>
              </a:tr>
              <a:tr h="447675">
                <a:tc>
                  <a:txBody>
                    <a:bodyPr/>
                    <a:lstStyle/>
                    <a:p>
                      <a:r>
                        <a:rPr sz="1875" b="0">
                          <a:solidFill>
                            <a:srgbClr val="1A1A1A"/>
                          </a:solidFill>
                          <a:latin typeface="Helvetica Neue"/>
                          <a:ea typeface="Helvetica Neue"/>
                          <a:cs typeface="Helvetica Neue"/>
                        </a:rPr>
                        <a:t>Kernel (shared correctness check)</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PageRank</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PageRank</a:t>
                      </a:r>
                    </a:p>
                  </a:txBody>
                  <a:tcPr marL="91440" marR="91440" marT="45720" marB="45720">
                    <a:solidFill>
                      <a:srgbClr val="FFFFFF"/>
                    </a:solidFill>
                  </a:tcPr>
                </a:tc>
              </a:tr>
              <a:tr h="447675">
                <a:tc>
                  <a:txBody>
                    <a:bodyPr/>
                    <a:lstStyle/>
                    <a:p>
                      <a:r>
                        <a:rPr sz="1875" b="0">
                          <a:solidFill>
                            <a:srgbClr val="1A1A1A"/>
                          </a:solidFill>
                          <a:latin typeface="Helvetica Neue"/>
                          <a:ea typeface="Helvetica Neue"/>
                          <a:cs typeface="Helvetica Neue"/>
                        </a:rPr>
                        <a:t>Access pattern’s update kind</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Read</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Read</a:t>
                      </a:r>
                    </a:p>
                  </a:txBody>
                  <a:tcPr marL="91440" marR="91440" marT="45720" marB="45720">
                    <a:solidFill>
                      <a:srgbClr val="F4F4F4"/>
                    </a:solidFill>
                  </a:tcPr>
                </a:tc>
              </a:tr>
              <a:tr h="447675">
                <a:tc>
                  <a:txBody>
                    <a:bodyPr/>
                    <a:lstStyle/>
                    <a:p>
                      <a:r>
                        <a:rPr sz="1875" b="0">
                          <a:solidFill>
                            <a:srgbClr val="1A1A1A"/>
                          </a:solidFill>
                          <a:latin typeface="Helvetica Neue"/>
                          <a:ea typeface="Helvetica Neue"/>
                          <a:cs typeface="Helvetica Neue"/>
                        </a:rPr>
                        <a:t>Loop-carried dependency</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Yes</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No</a:t>
                      </a:r>
                    </a:p>
                  </a:txBody>
                  <a:tcPr marL="91440" marR="91440" marT="45720" marB="45720">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A5E4D670-FED6-447B-8C28-867FFBBD6CD5}"/>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8CB09DF-1658-4042-A750-340473AB253A}"/>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Code semantics belong to the implementation. Measurements belong to its profiles.</a:t>
            </a:r>
          </a:p>
        </p:txBody>
      </p:sp>
    </p:spTree>
    <p:extLst>
      <p:ext uri="{BB962C8B-B14F-4D97-AF65-F5344CB8AC3E}">
        <p14:creationId xmlns:p14="http://schemas.microsoft.com/office/powerpoint/2010/main" val="18573574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EB6ADB7-9B7D-4EDA-BD93-D00314FE8AA7}"/>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350041-1255-4230-8400-400FE42A1C94}"/>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E7E828-8ED2-4190-A350-44B88F48C434}"/>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Strategy queries use those code semantics</a:t>
            </a:r>
          </a:p>
        </p:txBody>
      </p:sp>
      <p:sp>
        <p:nvSpPr>
          <p:cNvPr id="4" name="">
            <a:extLst xmlns:a="http://schemas.openxmlformats.org/drawingml/2006/main">
              <a:ext uri="{FF2B5EF4-FFF2-40B4-BE49-F238E27FC236}">
                <a16:creationId xmlns:a16="http://schemas.microsoft.com/office/drawing/2014/main" id="{9C403DBB-61D7-49A0-84FC-B2A78E6F39A9}"/>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BC8F4E38-FDE6-41B4-829B-0F6DCFABF395}"/>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3</a:t>
            </a:r>
          </a:p>
        </p:txBody>
      </p:sp>
      <p:sp>
        <p:nvSpPr>
          <p:cNvPr id="6" name="">
            <a:extLst xmlns:a="http://schemas.openxmlformats.org/drawingml/2006/main">
              <a:ext uri="{FF2B5EF4-FFF2-40B4-BE49-F238E27FC236}">
                <a16:creationId xmlns:a16="http://schemas.microsoft.com/office/drawing/2014/main" id="{DE0C91BF-C223-4284-A09F-BD6B5E9E7A98}"/>
              </a:ext>
            </a:extLst>
          </p:cNvPr>
          <p:cNvSpPr>
            <a:spLocks xmlns:a="http://schemas.openxmlformats.org/drawingml/2006/main" noGrp="1"/>
          </p:cNvSpPr>
          <p:nvPr/>
        </p:nvSpPr>
        <p:spPr>
          <a:xfrm xmlns:a="http://schemas.openxmlformats.org/drawingml/2006/main">
            <a:off x="457200" y="1295400"/>
            <a:ext cx="1123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Packing copies gathered values into a contiguous array</a:t>
            </a:r>
          </a:p>
        </p:txBody>
      </p:sp>
      <p:graphicFrame>
        <p:nvGraphicFramePr>
          <p:cNvPr id="17" name=""/>
          <p:cNvGraphicFramePr/>
          <p:nvPr/>
        </p:nvGraphicFramePr>
        <p:xfrm>
          <a:off xmlns:a="http://schemas.openxmlformats.org/drawingml/2006/main" x="457200" y="1952625"/>
          <a:ext xmlns:a="http://schemas.openxmlformats.org/drawingml/2006/main" cx="11277600" cy="2362200"/>
        </p:xfrm>
        <a:graphic xmlns:a="http://schemas.openxmlformats.org/drawingml/2006/main">
          <a:graphicData uri="http://schemas.openxmlformats.org/drawingml/2006/table">
            <a:tbl>
              <a:tblPr/>
              <a:tblGrid>
                <a:gridCol w="5334000"/>
                <a:gridCol w="2971800"/>
                <a:gridCol w="2971800"/>
              </a:tblGrid>
              <a:tr h="590550">
                <a:tc>
                  <a:txBody>
                    <a:bodyPr/>
                    <a:lstStyle/>
                    <a:p>
                      <a:r>
                        <a:rPr sz="2100" b="1">
                          <a:solidFill>
                            <a:srgbClr val="FFFFFF"/>
                          </a:solidFill>
                          <a:latin typeface="Helvetica Neue"/>
                          <a:ea typeface="Helvetica Neue"/>
                          <a:cs typeface="Helvetica Neue"/>
                        </a:rPr>
                        <a:t>Strategy</a:t>
                      </a:r>
                    </a:p>
                  </a:txBody>
                  <a:tcPr marL="91440" marR="91440" marT="45720" marB="45720">
                    <a:solidFill>
                      <a:srgbClr val="00274C"/>
                    </a:solidFill>
                  </a:tcPr>
                </a:tc>
                <a:tc>
                  <a:txBody>
                    <a:bodyPr/>
                    <a:lstStyle/>
                    <a:p>
                      <a:r>
                        <a:rPr sz="2100" b="1">
                          <a:solidFill>
                            <a:srgbClr val="FFFFFF"/>
                          </a:solidFill>
                          <a:latin typeface="Helvetica Neue"/>
                          <a:ea typeface="Helvetica Neue"/>
                          <a:cs typeface="Helvetica Neue"/>
                        </a:rPr>
                        <a:t>Gauss–Seidel</a:t>
                      </a:r>
                    </a:p>
                  </a:txBody>
                  <a:tcPr marL="91440" marR="91440" marT="45720" marB="45720">
                    <a:solidFill>
                      <a:srgbClr val="00274C"/>
                    </a:solidFill>
                  </a:tcPr>
                </a:tc>
                <a:tc>
                  <a:txBody>
                    <a:bodyPr/>
                    <a:lstStyle/>
                    <a:p>
                      <a:r>
                        <a:rPr sz="2100" b="1">
                          <a:solidFill>
                            <a:srgbClr val="FFFFFF"/>
                          </a:solidFill>
                          <a:latin typeface="Helvetica Neue"/>
                          <a:ea typeface="Helvetica Neue"/>
                          <a:cs typeface="Helvetica Neue"/>
                        </a:rPr>
                        <a:t>Jacobi</a:t>
                      </a:r>
                    </a:p>
                  </a:txBody>
                  <a:tcPr marL="91440" marR="91440" marT="45720" marB="45720">
                    <a:solidFill>
                      <a:srgbClr val="00274C"/>
                    </a:solidFill>
                  </a:tcPr>
                </a:tc>
              </a:tr>
              <a:tr h="590550">
                <a:tc>
                  <a:txBody>
                    <a:bodyPr/>
                    <a:lstStyle/>
                    <a:p>
                      <a:r>
                        <a:rPr sz="2100" b="0">
                          <a:solidFill>
                            <a:srgbClr val="1A1A1A"/>
                          </a:solidFill>
                          <a:latin typeface="Helvetica Neue"/>
                          <a:ea typeface="Helvetica Neue"/>
                          <a:cs typeface="Helvetica Neue"/>
                        </a:rPr>
                        <a:t>Packing</a:t>
                      </a:r>
                    </a:p>
                  </a:txBody>
                  <a:tcPr marL="91440" marR="91440" marT="45720" marB="45720">
                    <a:solidFill>
                      <a:srgbClr val="FFFFFF"/>
                    </a:solidFill>
                  </a:tcPr>
                </a:tc>
                <a:tc>
                  <a:txBody>
                    <a:bodyPr/>
                    <a:lstStyle/>
                    <a:p>
                      <a:r>
                        <a:rPr sz="2100" b="0">
                          <a:solidFill>
                            <a:srgbClr val="1A1A1A"/>
                          </a:solidFill>
                          <a:latin typeface="Helvetica Neue"/>
                          <a:ea typeface="Helvetica Neue"/>
                          <a:cs typeface="Helvetica Neue"/>
                        </a:rPr>
                        <a:t>Illegal</a:t>
                      </a:r>
                    </a:p>
                  </a:txBody>
                  <a:tcPr marL="91440" marR="91440" marT="45720" marB="45720">
                    <a:solidFill>
                      <a:srgbClr val="FFFFFF"/>
                    </a:solidFill>
                  </a:tcPr>
                </a:tc>
                <a:tc>
                  <a:txBody>
                    <a:bodyPr/>
                    <a:lstStyle/>
                    <a:p>
                      <a:r>
                        <a:rPr sz="2100" b="0">
                          <a:solidFill>
                            <a:srgbClr val="1A1A1A"/>
                          </a:solidFill>
                          <a:latin typeface="Helvetica Neue"/>
                          <a:ea typeface="Helvetica Neue"/>
                          <a:cs typeface="Helvetica Neue"/>
                        </a:rPr>
                        <a:t>Legal</a:t>
                      </a:r>
                    </a:p>
                  </a:txBody>
                  <a:tcPr marL="91440" marR="91440" marT="45720" marB="45720">
                    <a:solidFill>
                      <a:srgbClr val="FFFFFF"/>
                    </a:solidFill>
                  </a:tcPr>
                </a:tc>
              </a:tr>
              <a:tr h="590550">
                <a:tc>
                  <a:txBody>
                    <a:bodyPr/>
                    <a:lstStyle/>
                    <a:p>
                      <a:r>
                        <a:rPr sz="2100" b="0">
                          <a:solidFill>
                            <a:srgbClr val="1A1A1A"/>
                          </a:solidFill>
                          <a:latin typeface="Helvetica Neue"/>
                          <a:ea typeface="Helvetica Neue"/>
                          <a:cs typeface="Helvetica Neue"/>
                        </a:rPr>
                        <a:t>SIMD gather</a:t>
                      </a:r>
                    </a:p>
                  </a:txBody>
                  <a:tcPr marL="91440" marR="91440" marT="45720" marB="45720">
                    <a:solidFill>
                      <a:srgbClr val="F4F4F4"/>
                    </a:solidFill>
                  </a:tcPr>
                </a:tc>
                <a:tc>
                  <a:txBody>
                    <a:bodyPr/>
                    <a:lstStyle/>
                    <a:p>
                      <a:r>
                        <a:rPr sz="2100" b="0">
                          <a:solidFill>
                            <a:srgbClr val="1A1A1A"/>
                          </a:solidFill>
                          <a:latin typeface="Helvetica Neue"/>
                          <a:ea typeface="Helvetica Neue"/>
                          <a:cs typeface="Helvetica Neue"/>
                        </a:rPr>
                        <a:t>Illegal</a:t>
                      </a:r>
                    </a:p>
                  </a:txBody>
                  <a:tcPr marL="91440" marR="91440" marT="45720" marB="45720">
                    <a:solidFill>
                      <a:srgbClr val="F4F4F4"/>
                    </a:solidFill>
                  </a:tcPr>
                </a:tc>
                <a:tc>
                  <a:txBody>
                    <a:bodyPr/>
                    <a:lstStyle/>
                    <a:p>
                      <a:r>
                        <a:rPr sz="2100" b="0">
                          <a:solidFill>
                            <a:srgbClr val="1A1A1A"/>
                          </a:solidFill>
                          <a:latin typeface="Helvetica Neue"/>
                          <a:ea typeface="Helvetica Neue"/>
                          <a:cs typeface="Helvetica Neue"/>
                        </a:rPr>
                        <a:t>Legal</a:t>
                      </a:r>
                    </a:p>
                  </a:txBody>
                  <a:tcPr marL="91440" marR="91440" marT="45720" marB="45720">
                    <a:solidFill>
                      <a:srgbClr val="F4F4F4"/>
                    </a:solidFill>
                  </a:tcPr>
                </a:tc>
              </a:tr>
              <a:tr h="590550">
                <a:tc>
                  <a:txBody>
                    <a:bodyPr/>
                    <a:lstStyle/>
                    <a:p>
                      <a:r>
                        <a:rPr sz="2100" b="0">
                          <a:solidFill>
                            <a:srgbClr val="1A1A1A"/>
                          </a:solidFill>
                          <a:latin typeface="Helvetica Neue"/>
                          <a:ea typeface="Helvetica Neue"/>
                          <a:cs typeface="Helvetica Neue"/>
                        </a:rPr>
                        <a:t>Software prefetch</a:t>
                      </a:r>
                    </a:p>
                  </a:txBody>
                  <a:tcPr marL="91440" marR="91440" marT="45720" marB="45720">
                    <a:solidFill>
                      <a:srgbClr val="FFFFFF"/>
                    </a:solidFill>
                  </a:tcPr>
                </a:tc>
                <a:tc>
                  <a:txBody>
                    <a:bodyPr/>
                    <a:lstStyle/>
                    <a:p>
                      <a:r>
                        <a:rPr sz="2100" b="0">
                          <a:solidFill>
                            <a:srgbClr val="1A1A1A"/>
                          </a:solidFill>
                          <a:latin typeface="Helvetica Neue"/>
                          <a:ea typeface="Helvetica Neue"/>
                          <a:cs typeface="Helvetica Neue"/>
                        </a:rPr>
                        <a:t>Legal</a:t>
                      </a:r>
                    </a:p>
                  </a:txBody>
                  <a:tcPr marL="91440" marR="91440" marT="45720" marB="45720">
                    <a:solidFill>
                      <a:srgbClr val="FFFFFF"/>
                    </a:solidFill>
                  </a:tcPr>
                </a:tc>
                <a:tc>
                  <a:txBody>
                    <a:bodyPr/>
                    <a:lstStyle/>
                    <a:p>
                      <a:r>
                        <a:rPr sz="2100" b="0">
                          <a:solidFill>
                            <a:srgbClr val="1A1A1A"/>
                          </a:solidFill>
                          <a:latin typeface="Helvetica Neue"/>
                          <a:ea typeface="Helvetica Neue"/>
                          <a:cs typeface="Helvetica Neue"/>
                        </a:rPr>
                        <a:t>Legal</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EC26AD6D-9E82-4F40-9883-792C1C513436}"/>
              </a:ext>
            </a:extLst>
          </p:cNvPr>
          <p:cNvSpPr>
            <a:spLocks xmlns:a="http://schemas.openxmlformats.org/drawingml/2006/main" noGrp="1"/>
          </p:cNvSpPr>
          <p:nvPr/>
        </p:nvSpPr>
        <p:spPr>
          <a:xfrm xmlns:a="http://schemas.openxmlformats.org/drawingml/2006/main">
            <a:off x="457200" y="4562475"/>
            <a:ext cx="11191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A1A1A"/>
                </a:solidFill>
                <a:latin typeface="Helvetica Neue"/>
                <a:ea typeface="Helvetica Neue"/>
                <a:cs typeface="Helvetica Neue"/>
              </a:defRPr>
            </a:pPr>
            <a:r>
              <a:rPr sz="2025" b="0">
                <a:solidFill>
                  <a:srgbClr val="1A1A1A"/>
                </a:solidFill>
                <a:latin typeface="Helvetica Neue"/>
                <a:ea typeface="Helvetica Neue"/>
                <a:cs typeface="Helvetica Neue"/>
              </a:rPr>
              <a:t>“Legal” means encoded conditions pass. Manual checks still remain.</a:t>
            </a:r>
          </a:p>
          <a:p xmlns:a="http://schemas.openxmlformats.org/drawingml/2006/main">
            <a:pPr>
              <a:defRPr sz="2025" b="0">
                <a:solidFill>
                  <a:srgbClr val="1A1A1A"/>
                </a:solidFill>
                <a:latin typeface="Helvetica Neue"/>
                <a:ea typeface="Helvetica Neue"/>
                <a:cs typeface="Helvetica Neue"/>
              </a:defRPr>
            </a:pPr>
            <a:r>
              <a:rPr sz="2025" b="0">
                <a:solidFill>
                  <a:srgbClr val="1A1A1A"/>
                </a:solidFill>
                <a:latin typeface="Helvetica Neue"/>
                <a:ea typeface="Helvetica Neue"/>
                <a:cs typeface="Helvetica Neue"/>
              </a:rPr>
              <a:t>Unknown required facts produce “undetermined.”</a:t>
            </a:r>
          </a:p>
        </p:txBody>
      </p:sp>
      <p:sp>
        <p:nvSpPr>
          <p:cNvPr id="9" name="">
            <a:extLst xmlns:a="http://schemas.openxmlformats.org/drawingml/2006/main">
              <a:ext uri="{FF2B5EF4-FFF2-40B4-BE49-F238E27FC236}">
                <a16:creationId xmlns:a16="http://schemas.microsoft.com/office/drawing/2014/main" id="{A00C9FAF-C2D8-42A9-9506-89763435D3F1}"/>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61C9DCB-5FD4-4B21-96DE-82CDC500A5D7}"/>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Strategy screening and instruction-set checks work. No measured strategy gains yet.</a:t>
            </a:r>
          </a:p>
        </p:txBody>
      </p:sp>
    </p:spTree>
    <p:extLst>
      <p:ext uri="{BB962C8B-B14F-4D97-AF65-F5344CB8AC3E}">
        <p14:creationId xmlns:p14="http://schemas.microsoft.com/office/powerpoint/2010/main" val="56684295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0FD4E38-B72E-4F9B-B313-7E09F93C41DD}"/>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4B64F3-D119-441C-B049-640F9DFD207D}"/>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93352C6-2543-4E8C-9B99-FB0589249FBD}"/>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PageRank scaling changes with input size</a:t>
            </a:r>
          </a:p>
        </p:txBody>
      </p:sp>
      <p:sp>
        <p:nvSpPr>
          <p:cNvPr id="4" name="">
            <a:extLst xmlns:a="http://schemas.openxmlformats.org/drawingml/2006/main">
              <a:ext uri="{FF2B5EF4-FFF2-40B4-BE49-F238E27FC236}">
                <a16:creationId xmlns:a16="http://schemas.microsoft.com/office/drawing/2014/main" id="{4264C981-7862-4009-BD83-82B3AC1D8BE7}"/>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B3D84735-1212-48EE-854E-2C776174D6B0}"/>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4</a:t>
            </a:r>
          </a:p>
        </p:txBody>
      </p:sp>
      <p:sp>
        <p:nvSpPr>
          <p:cNvPr id="6" name="">
            <a:extLst xmlns:a="http://schemas.openxmlformats.org/drawingml/2006/main">
              <a:ext uri="{FF2B5EF4-FFF2-40B4-BE49-F238E27FC236}">
                <a16:creationId xmlns:a16="http://schemas.microsoft.com/office/drawing/2014/main" id="{B5EE6F9B-E4A1-4EF0-9EE0-00500F1098AD}"/>
              </a:ext>
            </a:extLst>
          </p:cNvPr>
          <p:cNvSpPr>
            <a:spLocks xmlns:a="http://schemas.openxmlformats.org/drawingml/2006/main" noGrp="1"/>
          </p:cNvSpPr>
          <p:nvPr/>
        </p:nvSpPr>
        <p:spPr>
          <a:xfrm xmlns:a="http://schemas.openxmlformats.org/drawingml/2006/main">
            <a:off x="457200" y="121920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Jacobi PageRank on mbit10: median of 5 trials per thread count</a:t>
            </a:r>
          </a:p>
        </p:txBody>
      </p:sp>
      <p:graphicFrame>
        <p:nvGraphicFramePr>
          <p:cNvPr id="19" name="Chart"/>
          <p:cNvGraphicFramePr/>
          <p:nvPr/>
        </p:nvGraphicFramePr>
        <p:xfrm>
          <a:off xmlns:a="http://schemas.openxmlformats.org/drawingml/2006/main" x="381000" y="1752600"/>
          <a:ext xmlns:a="http://schemas.openxmlformats.org/drawingml/2006/main" cx="7477125" cy="3581400"/>
        </p:xfrm>
        <a:graphic xmlns:a="http://schemas.openxmlformats.org/drawingml/2006/main">
          <a:graphicData uri="http://schemas.openxmlformats.org/drawingml/2006/chart">
            <c:chart xmlns:r="http://schemas.openxmlformats.org/officeDocument/2006/relationships" xmlns:c="http://schemas.openxmlformats.org/drawingml/2006/chart" r:id="Rb419de005ac74789"/>
          </a:graphicData>
        </a:graphic>
      </p:graphicFrame>
      <p:sp>
        <p:nvSpPr>
          <p:cNvPr id="8" name="">
            <a:extLst xmlns:a="http://schemas.openxmlformats.org/drawingml/2006/main">
              <a:ext uri="{FF2B5EF4-FFF2-40B4-BE49-F238E27FC236}">
                <a16:creationId xmlns:a16="http://schemas.microsoft.com/office/drawing/2014/main" id="{7DB608E7-3D6E-43CA-81E6-FD2FCFDB65E2}"/>
              </a:ext>
            </a:extLst>
          </p:cNvPr>
          <p:cNvSpPr>
            <a:spLocks xmlns:a="http://schemas.openxmlformats.org/drawingml/2006/main" noGrp="1"/>
          </p:cNvSpPr>
          <p:nvPr/>
        </p:nvSpPr>
        <p:spPr>
          <a:xfrm xmlns:a="http://schemas.openxmlformats.org/drawingml/2006/main">
            <a:off x="8248650" y="19621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274C"/>
                </a:solidFill>
                <a:latin typeface="Helvetica Neue"/>
                <a:ea typeface="Helvetica Neue"/>
                <a:cs typeface="Helvetica Neue"/>
              </a:defRPr>
            </a:pPr>
            <a:r>
              <a:rPr sz="2100" b="1">
                <a:solidFill>
                  <a:srgbClr val="00274C"/>
                </a:solidFill>
                <a:latin typeface="Helvetica Neue"/>
                <a:ea typeface="Helvetica Neue"/>
                <a:cs typeface="Helvetica Neue"/>
              </a:rPr>
              <a:t>At 16 threads</a:t>
            </a:r>
          </a:p>
        </p:txBody>
      </p:sp>
      <p:sp>
        <p:nvSpPr>
          <p:cNvPr id="9" name="">
            <a:extLst xmlns:a="http://schemas.openxmlformats.org/drawingml/2006/main">
              <a:ext uri="{FF2B5EF4-FFF2-40B4-BE49-F238E27FC236}">
                <a16:creationId xmlns:a16="http://schemas.microsoft.com/office/drawing/2014/main" id="{0E27300C-02C4-4430-AAD0-275336B141BA}"/>
              </a:ext>
            </a:extLst>
          </p:cNvPr>
          <p:cNvSpPr>
            <a:spLocks xmlns:a="http://schemas.openxmlformats.org/drawingml/2006/main" noGrp="1"/>
          </p:cNvSpPr>
          <p:nvPr/>
        </p:nvSpPr>
        <p:spPr>
          <a:xfrm xmlns:a="http://schemas.openxmlformats.org/drawingml/2006/main">
            <a:off x="8248650" y="2505075"/>
            <a:ext cx="338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A1A1A"/>
                </a:solidFill>
                <a:latin typeface="Helvetica Neue"/>
                <a:ea typeface="Helvetica Neue"/>
                <a:cs typeface="Helvetica Neue"/>
              </a:defRPr>
            </a:pPr>
            <a:r>
              <a:rPr sz="2100" b="1">
                <a:solidFill>
                  <a:srgbClr val="1A1A1A"/>
                </a:solidFill>
                <a:latin typeface="Helvetica Neue"/>
                <a:ea typeface="Helvetica Neue"/>
                <a:cs typeface="Helvetica Neue"/>
              </a:rPr>
              <a:t>Scale 16: 3.93×</a:t>
            </a:r>
          </a:p>
          <a:p xmlns:a="http://schemas.openxmlformats.org/drawingml/2006/main">
            <a:pPr>
              <a:defRPr sz="2100" b="1">
                <a:solidFill>
                  <a:srgbClr val="1A1A1A"/>
                </a:solidFill>
                <a:latin typeface="Helvetica Neue"/>
                <a:ea typeface="Helvetica Neue"/>
                <a:cs typeface="Helvetica Neue"/>
              </a:defRPr>
            </a:pPr>
            <a:r>
              <a:rPr sz="2100" b="1">
                <a:solidFill>
                  <a:srgbClr val="1A1A1A"/>
                </a:solidFill>
                <a:latin typeface="Helvetica Neue"/>
                <a:ea typeface="Helvetica Neue"/>
                <a:cs typeface="Helvetica Neue"/>
              </a:rPr>
              <a:t>Scale 22: 13.35×</a:t>
            </a:r>
          </a:p>
        </p:txBody>
      </p:sp>
      <p:sp>
        <p:nvSpPr>
          <p:cNvPr id="10" name="">
            <a:extLst xmlns:a="http://schemas.openxmlformats.org/drawingml/2006/main">
              <a:ext uri="{FF2B5EF4-FFF2-40B4-BE49-F238E27FC236}">
                <a16:creationId xmlns:a16="http://schemas.microsoft.com/office/drawing/2014/main" id="{1CEA2360-5EF6-454D-8523-BD7AA0BA32B4}"/>
              </a:ext>
            </a:extLst>
          </p:cNvPr>
          <p:cNvSpPr>
            <a:spLocks xmlns:a="http://schemas.openxmlformats.org/drawingml/2006/main" noGrp="1"/>
          </p:cNvSpPr>
          <p:nvPr/>
        </p:nvSpPr>
        <p:spPr>
          <a:xfrm xmlns:a="http://schemas.openxmlformats.org/drawingml/2006/main">
            <a:off x="8248650" y="3638550"/>
            <a:ext cx="33813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Footprint / socket L3</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Scale 16: 0.33×</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Scale 22: 23.06×</a:t>
            </a:r>
          </a:p>
        </p:txBody>
      </p:sp>
      <p:sp>
        <p:nvSpPr>
          <p:cNvPr id="11" name="">
            <a:extLst xmlns:a="http://schemas.openxmlformats.org/drawingml/2006/main">
              <a:ext uri="{FF2B5EF4-FFF2-40B4-BE49-F238E27FC236}">
                <a16:creationId xmlns:a16="http://schemas.microsoft.com/office/drawing/2014/main" id="{51F3B42D-AEBA-4411-A489-65D76BD10B63}"/>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1AD6A36-59F2-4EF6-9F5B-B32269420465}"/>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Same implementation, different scaling. Profiles must retain input and machine context.</a:t>
            </a:r>
          </a:p>
        </p:txBody>
      </p:sp>
    </p:spTree>
    <p:extLst>
      <p:ext uri="{BB962C8B-B14F-4D97-AF65-F5344CB8AC3E}">
        <p14:creationId xmlns:p14="http://schemas.microsoft.com/office/powerpoint/2010/main" val="93938814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4C55E6A-B1AC-4C42-9F24-3A00950A07F5}"/>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8370B0-1E40-4696-98E1-B9F6F5DE0BC1}"/>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96349C7-E4E1-4908-BEE3-C39856EFBBB7}"/>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Next step: apply and evaluate one strategy</a:t>
            </a:r>
          </a:p>
        </p:txBody>
      </p:sp>
      <p:sp>
        <p:nvSpPr>
          <p:cNvPr id="4" name="">
            <a:extLst xmlns:a="http://schemas.openxmlformats.org/drawingml/2006/main">
              <a:ext uri="{FF2B5EF4-FFF2-40B4-BE49-F238E27FC236}">
                <a16:creationId xmlns:a16="http://schemas.microsoft.com/office/drawing/2014/main" id="{F0BB0FE7-E2F2-4ED3-9C05-747020B84583}"/>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E12B81C4-2602-49B5-88C4-ED8038137120}"/>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5</a:t>
            </a:r>
          </a:p>
        </p:txBody>
      </p:sp>
      <p:sp>
        <p:nvSpPr>
          <p:cNvPr id="6" name="">
            <a:extLst xmlns:a="http://schemas.openxmlformats.org/drawingml/2006/main">
              <a:ext uri="{FF2B5EF4-FFF2-40B4-BE49-F238E27FC236}">
                <a16:creationId xmlns:a16="http://schemas.microsoft.com/office/drawing/2014/main" id="{EF928FE1-33E4-4BB4-B502-24D917582943}"/>
              </a:ext>
            </a:extLst>
          </p:cNvPr>
          <p:cNvSpPr>
            <a:spLocks xmlns:a="http://schemas.openxmlformats.org/drawingml/2006/main" noGrp="1"/>
          </p:cNvSpPr>
          <p:nvPr/>
        </p:nvSpPr>
        <p:spPr>
          <a:xfrm xmlns:a="http://schemas.openxmlformats.org/drawingml/2006/main">
            <a:off x="457200" y="1323975"/>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Completed</a:t>
            </a:r>
          </a:p>
        </p:txBody>
      </p:sp>
      <p:sp>
        <p:nvSpPr>
          <p:cNvPr id="7" name="">
            <a:extLst xmlns:a="http://schemas.openxmlformats.org/drawingml/2006/main">
              <a:ext uri="{FF2B5EF4-FFF2-40B4-BE49-F238E27FC236}">
                <a16:creationId xmlns:a16="http://schemas.microsoft.com/office/drawing/2014/main" id="{3D520835-FF70-47AD-AAE0-A171A29B2B21}"/>
              </a:ext>
            </a:extLst>
          </p:cNvPr>
          <p:cNvSpPr>
            <a:spLocks xmlns:a="http://schemas.openxmlformats.org/drawingml/2006/main" noGrp="1"/>
          </p:cNvSpPr>
          <p:nvPr/>
        </p:nvSpPr>
        <p:spPr>
          <a:xfrm xmlns:a="http://schemas.openxmlformats.org/drawingml/2006/main">
            <a:off x="3219450" y="1333500"/>
            <a:ext cx="8429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A1A1A"/>
                </a:solidFill>
                <a:latin typeface="Helvetica Neue"/>
                <a:ea typeface="Helvetica Neue"/>
                <a:cs typeface="Helvetica Neue"/>
              </a:defRPr>
            </a:pPr>
            <a:r>
              <a:rPr sz="2100" b="0">
                <a:solidFill>
                  <a:srgbClr val="1A1A1A"/>
                </a:solidFill>
                <a:latin typeface="Helvetica Neue"/>
                <a:ea typeface="Helvetica Neue"/>
                <a:cs typeface="Helvetica Neue"/>
              </a:rPr>
              <a:t>Records, queries, profiling, workload export, and strategy screening</a:t>
            </a:r>
          </a:p>
        </p:txBody>
      </p:sp>
      <p:sp>
        <p:nvSpPr>
          <p:cNvPr id="8" name="">
            <a:extLst xmlns:a="http://schemas.openxmlformats.org/drawingml/2006/main">
              <a:ext uri="{FF2B5EF4-FFF2-40B4-BE49-F238E27FC236}">
                <a16:creationId xmlns:a16="http://schemas.microsoft.com/office/drawing/2014/main" id="{11D3D639-F4EE-4F13-9B4D-F03246F4C356}"/>
              </a:ext>
            </a:extLst>
          </p:cNvPr>
          <p:cNvSpPr>
            <a:spLocks xmlns:a="http://schemas.openxmlformats.org/drawingml/2006/main" noGrp="1"/>
          </p:cNvSpPr>
          <p:nvPr/>
        </p:nvSpPr>
        <p:spPr>
          <a:xfrm xmlns:a="http://schemas.openxmlformats.org/drawingml/2006/main">
            <a:off x="457200" y="2419350"/>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Current limits</a:t>
            </a:r>
          </a:p>
        </p:txBody>
      </p:sp>
      <p:sp>
        <p:nvSpPr>
          <p:cNvPr id="9" name="">
            <a:extLst xmlns:a="http://schemas.openxmlformats.org/drawingml/2006/main">
              <a:ext uri="{FF2B5EF4-FFF2-40B4-BE49-F238E27FC236}">
                <a16:creationId xmlns:a16="http://schemas.microsoft.com/office/drawing/2014/main" id="{7A307EC7-0072-4690-A5C1-B2A07388FB8E}"/>
              </a:ext>
            </a:extLst>
          </p:cNvPr>
          <p:cNvSpPr>
            <a:spLocks xmlns:a="http://schemas.openxmlformats.org/drawingml/2006/main" noGrp="1"/>
          </p:cNvSpPr>
          <p:nvPr/>
        </p:nvSpPr>
        <p:spPr>
          <a:xfrm xmlns:a="http://schemas.openxmlformats.org/drawingml/2006/main">
            <a:off x="3219450" y="2419350"/>
            <a:ext cx="84296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A1A1A"/>
                </a:solidFill>
                <a:latin typeface="Helvetica Neue"/>
                <a:ea typeface="Helvetica Neue"/>
                <a:cs typeface="Helvetica Neue"/>
              </a:defRPr>
            </a:pPr>
            <a:r>
              <a:rPr sz="2100" b="0">
                <a:solidFill>
                  <a:srgbClr val="1A1A1A"/>
                </a:solidFill>
                <a:latin typeface="Helvetica Neue"/>
                <a:ea typeface="Helvetica Neue"/>
                <a:cs typeface="Helvetica Neue"/>
              </a:rPr>
              <a:t>No measured strategy applications. One incomplete correctness check.</a:t>
            </a:r>
          </a:p>
          <a:p xmlns:a="http://schemas.openxmlformats.org/drawingml/2006/main">
            <a:pPr>
              <a:defRPr sz="2100" b="0">
                <a:solidFill>
                  <a:srgbClr val="1A1A1A"/>
                </a:solidFill>
                <a:latin typeface="Helvetica Neue"/>
                <a:ea typeface="Helvetica Neue"/>
                <a:cs typeface="Helvetica Neue"/>
              </a:defRPr>
            </a:pPr>
            <a:r>
              <a:rPr sz="2100" b="0">
                <a:solidFill>
                  <a:srgbClr val="1A1A1A"/>
                </a:solidFill>
                <a:latin typeface="Helvetica Neue"/>
                <a:ea typeface="Helvetica Neue"/>
                <a:cs typeface="Helvetica Neue"/>
              </a:rPr>
              <a:t>All records retain draft status.</a:t>
            </a:r>
          </a:p>
        </p:txBody>
      </p:sp>
      <p:sp>
        <p:nvSpPr>
          <p:cNvPr id="10" name="">
            <a:extLst xmlns:a="http://schemas.openxmlformats.org/drawingml/2006/main">
              <a:ext uri="{FF2B5EF4-FFF2-40B4-BE49-F238E27FC236}">
                <a16:creationId xmlns:a16="http://schemas.microsoft.com/office/drawing/2014/main" id="{DB22AABA-EA99-4C60-896D-1D8B1023D4AE}"/>
              </a:ext>
            </a:extLst>
          </p:cNvPr>
          <p:cNvSpPr>
            <a:spLocks xmlns:a="http://schemas.openxmlformats.org/drawingml/2006/main" noGrp="1"/>
          </p:cNvSpPr>
          <p:nvPr/>
        </p:nvSpPr>
        <p:spPr>
          <a:xfrm xmlns:a="http://schemas.openxmlformats.org/drawingml/2006/main">
            <a:off x="457200" y="3733800"/>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Proposed experiment</a:t>
            </a:r>
          </a:p>
        </p:txBody>
      </p:sp>
      <p:sp>
        <p:nvSpPr>
          <p:cNvPr id="11" name="">
            <a:extLst xmlns:a="http://schemas.openxmlformats.org/drawingml/2006/main">
              <a:ext uri="{FF2B5EF4-FFF2-40B4-BE49-F238E27FC236}">
                <a16:creationId xmlns:a16="http://schemas.microsoft.com/office/drawing/2014/main" id="{CE006CA8-1D6C-4FC8-9622-0ECA0BBA80C0}"/>
              </a:ext>
            </a:extLst>
          </p:cNvPr>
          <p:cNvSpPr>
            <a:spLocks xmlns:a="http://schemas.openxmlformats.org/drawingml/2006/main" noGrp="1"/>
          </p:cNvSpPr>
          <p:nvPr/>
        </p:nvSpPr>
        <p:spPr>
          <a:xfrm xmlns:a="http://schemas.openxmlformats.org/drawingml/2006/main">
            <a:off x="457200" y="4248150"/>
            <a:ext cx="11239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A1A1A"/>
                </a:solidFill>
                <a:latin typeface="Helvetica Neue"/>
                <a:ea typeface="Helvetica Neue"/>
                <a:cs typeface="Helvetica Neue"/>
              </a:defRPr>
            </a:pPr>
            <a:r>
              <a:rPr sz="2100" b="0">
                <a:solidFill>
                  <a:srgbClr val="1A1A1A"/>
                </a:solidFill>
                <a:latin typeface="Helvetica Neue"/>
                <a:ea typeface="Helvetica Neue"/>
                <a:cs typeface="Helvetica Neue"/>
              </a:rPr>
              <a:t>Choose an eligible strategy and check its remaining conditions.</a:t>
            </a:r>
          </a:p>
          <a:p xmlns:a="http://schemas.openxmlformats.org/drawingml/2006/main">
            <a:pPr>
              <a:defRPr sz="2100" b="0">
                <a:solidFill>
                  <a:srgbClr val="1A1A1A"/>
                </a:solidFill>
                <a:latin typeface="Helvetica Neue"/>
                <a:ea typeface="Helvetica Neue"/>
                <a:cs typeface="Helvetica Neue"/>
              </a:defRPr>
            </a:pPr>
            <a:r>
              <a:rPr sz="2100" b="0">
                <a:solidFill>
                  <a:srgbClr val="1A1A1A"/>
                </a:solidFill>
                <a:latin typeface="Helvetica Neue"/>
                <a:ea typeface="Helvetica Neue"/>
                <a:cs typeface="Helvetica Neue"/>
              </a:rPr>
              <a:t>Implement it, verify correctness, and measure total cost against its baseline.</a:t>
            </a:r>
          </a:p>
        </p:txBody>
      </p:sp>
      <p:sp>
        <p:nvSpPr>
          <p:cNvPr id="12" name="">
            <a:extLst xmlns:a="http://schemas.openxmlformats.org/drawingml/2006/main">
              <a:ext uri="{FF2B5EF4-FFF2-40B4-BE49-F238E27FC236}">
                <a16:creationId xmlns:a16="http://schemas.microsoft.com/office/drawing/2014/main" id="{CC32B828-21A1-44B0-8F80-4F6BDD93F8DF}"/>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0148A23-18B0-4FCE-9678-FB0E9B2584C0}"/>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Advisor discussion: which strategy and implementation should we evaluate first?</a:t>
            </a:r>
          </a:p>
        </p:txBody>
      </p:sp>
    </p:spTree>
    <p:extLst>
      <p:ext uri="{BB962C8B-B14F-4D97-AF65-F5344CB8AC3E}">
        <p14:creationId xmlns:p14="http://schemas.microsoft.com/office/powerpoint/2010/main" val="175613414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CA59487-628B-43F5-9828-836B5CF14679}"/>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63E4985-DB6A-41BF-BF2D-018CD3241C77}"/>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6B67D88-4E07-4E57-923F-4E913C1168C7}"/>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complete record inventory</a:t>
            </a:r>
          </a:p>
        </p:txBody>
      </p:sp>
      <p:sp>
        <p:nvSpPr>
          <p:cNvPr id="4" name="">
            <a:extLst xmlns:a="http://schemas.openxmlformats.org/drawingml/2006/main">
              <a:ext uri="{FF2B5EF4-FFF2-40B4-BE49-F238E27FC236}">
                <a16:creationId xmlns:a16="http://schemas.microsoft.com/office/drawing/2014/main" id="{9A373BF3-EAC6-43F4-9919-C60E47951BE0}"/>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E1F5B866-515B-4C8B-B1F8-CA84474561FD}"/>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6</a:t>
            </a:r>
          </a:p>
        </p:txBody>
      </p:sp>
      <p:graphicFrame>
        <p:nvGraphicFramePr>
          <p:cNvPr id="14" name=""/>
          <p:cNvGraphicFramePr/>
          <p:nvPr/>
        </p:nvGraphicFramePr>
        <p:xfrm>
          <a:off xmlns:a="http://schemas.openxmlformats.org/drawingml/2006/main" x="457200" y="1285875"/>
          <a:ext xmlns:a="http://schemas.openxmlformats.org/drawingml/2006/main" cx="11277600" cy="4029075"/>
        </p:xfrm>
        <a:graphic xmlns:a="http://schemas.openxmlformats.org/drawingml/2006/main">
          <a:graphicData uri="http://schemas.openxmlformats.org/drawingml/2006/table">
            <a:tbl>
              <a:tblPr/>
              <a:tblGrid>
                <a:gridCol w="2476500"/>
                <a:gridCol w="1143000"/>
                <a:gridCol w="7658100"/>
              </a:tblGrid>
              <a:tr h="447675">
                <a:tc>
                  <a:txBody>
                    <a:bodyPr/>
                    <a:lstStyle/>
                    <a:p>
                      <a:r>
                        <a:rPr sz="1725" b="1">
                          <a:solidFill>
                            <a:srgbClr val="FFFFFF"/>
                          </a:solidFill>
                          <a:latin typeface="Helvetica Neue"/>
                          <a:ea typeface="Helvetica Neue"/>
                          <a:cs typeface="Helvetica Neue"/>
                        </a:rPr>
                        <a:t>Record kind</a:t>
                      </a:r>
                    </a:p>
                  </a:txBody>
                  <a:tcPr marL="91440" marR="91440" marT="45720" marB="45720">
                    <a:solidFill>
                      <a:srgbClr val="00274C"/>
                    </a:solidFill>
                  </a:tcPr>
                </a:tc>
                <a:tc>
                  <a:txBody>
                    <a:bodyPr/>
                    <a:lstStyle/>
                    <a:p>
                      <a:r>
                        <a:rPr sz="1725" b="1">
                          <a:solidFill>
                            <a:srgbClr val="FFFFFF"/>
                          </a:solidFill>
                          <a:latin typeface="Helvetica Neue"/>
                          <a:ea typeface="Helvetica Neue"/>
                          <a:cs typeface="Helvetica Neue"/>
                        </a:rPr>
                        <a:t>Count</a:t>
                      </a:r>
                    </a:p>
                  </a:txBody>
                  <a:tcPr marL="91440" marR="91440" marT="45720" marB="45720">
                    <a:solidFill>
                      <a:srgbClr val="00274C"/>
                    </a:solidFill>
                  </a:tcPr>
                </a:tc>
                <a:tc>
                  <a:txBody>
                    <a:bodyPr/>
                    <a:lstStyle/>
                    <a:p>
                      <a:r>
                        <a:rPr sz="1725" b="1">
                          <a:solidFill>
                            <a:srgbClr val="FFFFFF"/>
                          </a:solidFill>
                          <a:latin typeface="Helvetica Neue"/>
                          <a:ea typeface="Helvetica Neue"/>
                          <a:cs typeface="Helvetica Neue"/>
                        </a:rPr>
                        <a:t>What it stores</a:t>
                      </a:r>
                    </a:p>
                  </a:txBody>
                  <a:tcPr marL="91440" marR="91440" marT="45720" marB="45720">
                    <a:solidFill>
                      <a:srgbClr val="00274C"/>
                    </a:solidFill>
                  </a:tcPr>
                </a:tc>
              </a:tr>
              <a:tr h="447675">
                <a:tc>
                  <a:txBody>
                    <a:bodyPr/>
                    <a:lstStyle/>
                    <a:p>
                      <a:r>
                        <a:rPr sz="1725" b="0">
                          <a:solidFill>
                            <a:srgbClr val="1A1A1A"/>
                          </a:solidFill>
                          <a:latin typeface="Helvetica Neue"/>
                          <a:ea typeface="Helvetica Neue"/>
                          <a:cs typeface="Helvetica Neue"/>
                        </a:rPr>
                        <a:t>Application</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1</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GAPBS source and version</a:t>
                      </a:r>
                    </a:p>
                  </a:txBody>
                  <a:tcPr marL="91440" marR="91440" marT="45720" marB="45720">
                    <a:solidFill>
                      <a:srgbClr val="FFFFFF"/>
                    </a:solidFill>
                  </a:tcPr>
                </a:tc>
              </a:tr>
              <a:tr h="447675">
                <a:tc>
                  <a:txBody>
                    <a:bodyPr/>
                    <a:lstStyle/>
                    <a:p>
                      <a:r>
                        <a:rPr sz="1725" b="0">
                          <a:solidFill>
                            <a:srgbClr val="1A1A1A"/>
                          </a:solidFill>
                          <a:latin typeface="Helvetica Neue"/>
                          <a:ea typeface="Helvetica Neue"/>
                          <a:cs typeface="Helvetica Neue"/>
                        </a:rPr>
                        <a:t>Kernel</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6</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Computation and correctness check</a:t>
                      </a:r>
                    </a:p>
                  </a:txBody>
                  <a:tcPr marL="91440" marR="91440" marT="45720" marB="45720">
                    <a:solidFill>
                      <a:srgbClr val="F4F4F4"/>
                    </a:solidFill>
                  </a:tcPr>
                </a:tc>
              </a:tr>
              <a:tr h="447675">
                <a:tc>
                  <a:txBody>
                    <a:bodyPr/>
                    <a:lstStyle/>
                    <a:p>
                      <a:r>
                        <a:rPr sz="1725" b="0">
                          <a:solidFill>
                            <a:srgbClr val="1A1A1A"/>
                          </a:solidFill>
                          <a:latin typeface="Helvetica Neue"/>
                          <a:ea typeface="Helvetica Neue"/>
                          <a:cs typeface="Helvetica Neue"/>
                        </a:rPr>
                        <a:t>Implementation</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8</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Code, loops, and 77 access patterns</a:t>
                      </a:r>
                    </a:p>
                  </a:txBody>
                  <a:tcPr marL="91440" marR="91440" marT="45720" marB="45720">
                    <a:solidFill>
                      <a:srgbClr val="FFFFFF"/>
                    </a:solidFill>
                  </a:tcPr>
                </a:tc>
              </a:tr>
              <a:tr h="447675">
                <a:tc>
                  <a:txBody>
                    <a:bodyPr/>
                    <a:lstStyle/>
                    <a:p>
                      <a:r>
                        <a:rPr sz="1725" b="0">
                          <a:solidFill>
                            <a:srgbClr val="1A1A1A"/>
                          </a:solidFill>
                          <a:latin typeface="Helvetica Neue"/>
                          <a:ea typeface="Helvetica Neue"/>
                          <a:cs typeface="Helvetica Neue"/>
                        </a:rPr>
                        <a:t>Input</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4</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Kronecker / uniform, scales 16 / 22</a:t>
                      </a:r>
                    </a:p>
                  </a:txBody>
                  <a:tcPr marL="91440" marR="91440" marT="45720" marB="45720">
                    <a:solidFill>
                      <a:srgbClr val="F4F4F4"/>
                    </a:solidFill>
                  </a:tcPr>
                </a:tc>
              </a:tr>
              <a:tr h="447675">
                <a:tc>
                  <a:txBody>
                    <a:bodyPr/>
                    <a:lstStyle/>
                    <a:p>
                      <a:r>
                        <a:rPr sz="1725" b="0">
                          <a:solidFill>
                            <a:srgbClr val="1A1A1A"/>
                          </a:solidFill>
                          <a:latin typeface="Helvetica Neue"/>
                          <a:ea typeface="Helvetica Neue"/>
                          <a:cs typeface="Helvetica Neue"/>
                        </a:rPr>
                        <a:t>Machine</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1</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mbit10 hardware and CPU flags</a:t>
                      </a:r>
                    </a:p>
                  </a:txBody>
                  <a:tcPr marL="91440" marR="91440" marT="45720" marB="45720">
                    <a:solidFill>
                      <a:srgbClr val="FFFFFF"/>
                    </a:solidFill>
                  </a:tcPr>
                </a:tc>
              </a:tr>
              <a:tr h="447675">
                <a:tc>
                  <a:txBody>
                    <a:bodyPr/>
                    <a:lstStyle/>
                    <a:p>
                      <a:r>
                        <a:rPr sz="1725" b="0">
                          <a:solidFill>
                            <a:srgbClr val="1A1A1A"/>
                          </a:solidFill>
                          <a:latin typeface="Helvetica Neue"/>
                          <a:ea typeface="Helvetica Neue"/>
                          <a:cs typeface="Helvetica Neue"/>
                        </a:rPr>
                        <a:t>Profile</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32</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Measurements for an implementation/input/machine</a:t>
                      </a:r>
                    </a:p>
                  </a:txBody>
                  <a:tcPr marL="91440" marR="91440" marT="45720" marB="45720">
                    <a:solidFill>
                      <a:srgbClr val="F4F4F4"/>
                    </a:solidFill>
                  </a:tcPr>
                </a:tc>
              </a:tr>
              <a:tr h="447675">
                <a:tc>
                  <a:txBody>
                    <a:bodyPr/>
                    <a:lstStyle/>
                    <a:p>
                      <a:r>
                        <a:rPr sz="1725" b="0">
                          <a:solidFill>
                            <a:srgbClr val="1A1A1A"/>
                          </a:solidFill>
                          <a:latin typeface="Helvetica Neue"/>
                          <a:ea typeface="Helvetica Neue"/>
                          <a:cs typeface="Helvetica Neue"/>
                        </a:rPr>
                        <a:t>Strategy</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5</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Target, effects, conditions, reported benefit</a:t>
                      </a:r>
                    </a:p>
                  </a:txBody>
                  <a:tcPr marL="91440" marR="91440" marT="45720" marB="45720">
                    <a:solidFill>
                      <a:srgbClr val="FFFFFF"/>
                    </a:solidFill>
                  </a:tcPr>
                </a:tc>
              </a:tr>
              <a:tr h="447675">
                <a:tc>
                  <a:txBody>
                    <a:bodyPr/>
                    <a:lstStyle/>
                    <a:p>
                      <a:r>
                        <a:rPr sz="1725" b="0">
                          <a:solidFill>
                            <a:srgbClr val="1A1A1A"/>
                          </a:solidFill>
                          <a:latin typeface="Helvetica Neue"/>
                          <a:ea typeface="Helvetica Neue"/>
                          <a:cs typeface="Helvetica Neue"/>
                        </a:rPr>
                        <a:t>Intrinsic</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2</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Instruction wrapper and required ISA</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66F3FC75-C24F-47C5-9A6C-29F7D44A172A}"/>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A9091A4-5568-434D-9D20-F6EB3DD3B5C5}"/>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59 records validate. All are draft. 14 initial tickets and 7 extension tickets are resolved.</a:t>
            </a:r>
          </a:p>
        </p:txBody>
      </p:sp>
    </p:spTree>
    <p:extLst>
      <p:ext uri="{BB962C8B-B14F-4D97-AF65-F5344CB8AC3E}">
        <p14:creationId xmlns:p14="http://schemas.microsoft.com/office/powerpoint/2010/main" val="164186764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58C1792-3917-454E-8888-91D532603F8A}"/>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FFA4A8E-54F7-4237-842E-0F797AAAF186}"/>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0C1F088-8B98-40ED-A563-75EF4F405545}"/>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application and profile coverage</a:t>
            </a:r>
          </a:p>
        </p:txBody>
      </p:sp>
      <p:sp>
        <p:nvSpPr>
          <p:cNvPr id="4" name="">
            <a:extLst xmlns:a="http://schemas.openxmlformats.org/drawingml/2006/main">
              <a:ext uri="{FF2B5EF4-FFF2-40B4-BE49-F238E27FC236}">
                <a16:creationId xmlns:a16="http://schemas.microsoft.com/office/drawing/2014/main" id="{BD555AAF-DF83-436B-A1CA-F1033A11B40D}"/>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D3C256CB-7410-40CF-82D1-487C21A11E5A}"/>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7</a:t>
            </a:r>
          </a:p>
        </p:txBody>
      </p:sp>
      <p:graphicFrame>
        <p:nvGraphicFramePr>
          <p:cNvPr id="13" name=""/>
          <p:cNvGraphicFramePr/>
          <p:nvPr/>
        </p:nvGraphicFramePr>
        <p:xfrm>
          <a:off xmlns:a="http://schemas.openxmlformats.org/drawingml/2006/main" x="457200" y="1343025"/>
          <a:ext xmlns:a="http://schemas.openxmlformats.org/drawingml/2006/main" cx="11277600" cy="3524250"/>
        </p:xfrm>
        <a:graphic xmlns:a="http://schemas.openxmlformats.org/drawingml/2006/main">
          <a:graphicData uri="http://schemas.openxmlformats.org/drawingml/2006/table">
            <a:tbl>
              <a:tblPr/>
              <a:tblGrid>
                <a:gridCol w="3714750"/>
                <a:gridCol w="4857750"/>
                <a:gridCol w="2705100"/>
              </a:tblGrid>
              <a:tr h="503464">
                <a:tc>
                  <a:txBody>
                    <a:bodyPr/>
                    <a:lstStyle/>
                    <a:p>
                      <a:r>
                        <a:rPr sz="1875" b="1">
                          <a:solidFill>
                            <a:srgbClr val="FFFFFF"/>
                          </a:solidFill>
                          <a:latin typeface="Helvetica Neue"/>
                          <a:ea typeface="Helvetica Neue"/>
                          <a:cs typeface="Helvetica Neue"/>
                        </a:rPr>
                        <a:t>Kernel</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Recorded implementations</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Profiles</a:t>
                      </a:r>
                    </a:p>
                  </a:txBody>
                  <a:tcPr marL="91440" marR="91440" marT="45720" marB="45720">
                    <a:solidFill>
                      <a:srgbClr val="00274C"/>
                    </a:solidFill>
                  </a:tcPr>
                </a:tc>
              </a:tr>
              <a:tr h="503464">
                <a:tc>
                  <a:txBody>
                    <a:bodyPr/>
                    <a:lstStyle/>
                    <a:p>
                      <a:r>
                        <a:rPr sz="1875" b="0">
                          <a:solidFill>
                            <a:srgbClr val="1A1A1A"/>
                          </a:solidFill>
                          <a:latin typeface="Helvetica Neue"/>
                          <a:ea typeface="Helvetica Neue"/>
                          <a:cs typeface="Helvetica Neue"/>
                        </a:rPr>
                        <a:t>PageRank</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Gauss–Seidel, Jacobi</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8 complete</a:t>
                      </a:r>
                    </a:p>
                  </a:txBody>
                  <a:tcPr marL="91440" marR="91440" marT="45720" marB="45720">
                    <a:solidFill>
                      <a:srgbClr val="FFFFFF"/>
                    </a:solidFill>
                  </a:tcPr>
                </a:tc>
              </a:tr>
              <a:tr h="503464">
                <a:tc>
                  <a:txBody>
                    <a:bodyPr/>
                    <a:lstStyle/>
                    <a:p>
                      <a:r>
                        <a:rPr sz="1875" b="0">
                          <a:solidFill>
                            <a:srgbClr val="1A1A1A"/>
                          </a:solidFill>
                          <a:latin typeface="Helvetica Neue"/>
                          <a:ea typeface="Helvetica Neue"/>
                          <a:cs typeface="Helvetica Neue"/>
                        </a:rPr>
                        <a:t>Breadth-first search</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Direction-optimizing</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4 complete</a:t>
                      </a:r>
                    </a:p>
                  </a:txBody>
                  <a:tcPr marL="91440" marR="91440" marT="45720" marB="45720">
                    <a:solidFill>
                      <a:srgbClr val="F4F4F4"/>
                    </a:solidFill>
                  </a:tcPr>
                </a:tc>
              </a:tr>
              <a:tr h="503464">
                <a:tc>
                  <a:txBody>
                    <a:bodyPr/>
                    <a:lstStyle/>
                    <a:p>
                      <a:r>
                        <a:rPr sz="1875" b="0">
                          <a:solidFill>
                            <a:srgbClr val="1A1A1A"/>
                          </a:solidFill>
                          <a:latin typeface="Helvetica Neue"/>
                          <a:ea typeface="Helvetica Neue"/>
                          <a:cs typeface="Helvetica Neue"/>
                        </a:rPr>
                        <a:t>Betweenness centrality</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Brandes</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4 complete</a:t>
                      </a:r>
                    </a:p>
                  </a:txBody>
                  <a:tcPr marL="91440" marR="91440" marT="45720" marB="45720">
                    <a:solidFill>
                      <a:srgbClr val="FFFFFF"/>
                    </a:solidFill>
                  </a:tcPr>
                </a:tc>
              </a:tr>
              <a:tr h="503464">
                <a:tc>
                  <a:txBody>
                    <a:bodyPr/>
                    <a:lstStyle/>
                    <a:p>
                      <a:r>
                        <a:rPr sz="1875" b="0">
                          <a:solidFill>
                            <a:srgbClr val="1A1A1A"/>
                          </a:solidFill>
                          <a:latin typeface="Helvetica Neue"/>
                          <a:ea typeface="Helvetica Neue"/>
                          <a:cs typeface="Helvetica Neue"/>
                        </a:rPr>
                        <a:t>Single-source shortest paths</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Delta-stepping</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4 complete</a:t>
                      </a:r>
                    </a:p>
                  </a:txBody>
                  <a:tcPr marL="91440" marR="91440" marT="45720" marB="45720">
                    <a:solidFill>
                      <a:srgbClr val="F4F4F4"/>
                    </a:solidFill>
                  </a:tcPr>
                </a:tc>
              </a:tr>
              <a:tr h="503464">
                <a:tc>
                  <a:txBody>
                    <a:bodyPr/>
                    <a:lstStyle/>
                    <a:p>
                      <a:r>
                        <a:rPr sz="1875" b="0">
                          <a:solidFill>
                            <a:srgbClr val="1A1A1A"/>
                          </a:solidFill>
                          <a:latin typeface="Helvetica Neue"/>
                          <a:ea typeface="Helvetica Neue"/>
                          <a:cs typeface="Helvetica Neue"/>
                        </a:rPr>
                        <a:t>Connected components</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Afforest, Shiloach–Vishkin</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8 complete</a:t>
                      </a:r>
                    </a:p>
                  </a:txBody>
                  <a:tcPr marL="91440" marR="91440" marT="45720" marB="45720">
                    <a:solidFill>
                      <a:srgbClr val="FFFFFF"/>
                    </a:solidFill>
                  </a:tcPr>
                </a:tc>
              </a:tr>
              <a:tr h="503464">
                <a:tc>
                  <a:txBody>
                    <a:bodyPr/>
                    <a:lstStyle/>
                    <a:p>
                      <a:r>
                        <a:rPr sz="1875" b="0">
                          <a:solidFill>
                            <a:srgbClr val="1A1A1A"/>
                          </a:solidFill>
                          <a:latin typeface="Helvetica Neue"/>
                          <a:ea typeface="Helvetica Neue"/>
                          <a:cs typeface="Helvetica Neue"/>
                        </a:rPr>
                        <a:t>Triangle counting</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Ordered</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3 complete, 1 incomplete</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9A993D46-9D79-4321-B377-2DD46CCDEDE0}"/>
              </a:ext>
            </a:extLst>
          </p:cNvPr>
          <p:cNvSpPr>
            <a:spLocks xmlns:a="http://schemas.openxmlformats.org/drawingml/2006/main" noGrp="1"/>
          </p:cNvSpPr>
          <p:nvPr/>
        </p:nvSpPr>
        <p:spPr>
          <a:xfrm xmlns:a="http://schemas.openxmlformats.org/drawingml/2006/main">
            <a:off x="457200" y="5153025"/>
            <a:ext cx="11239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Each implementation uses 4 inputs: Kronecker and uniform random graphs,</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each at scales 16 and 22 with generator parameter k = 16.</a:t>
            </a:r>
          </a:p>
        </p:txBody>
      </p:sp>
    </p:spTree>
    <p:extLst>
      <p:ext uri="{BB962C8B-B14F-4D97-AF65-F5344CB8AC3E}">
        <p14:creationId xmlns:p14="http://schemas.microsoft.com/office/powerpoint/2010/main" val="112521870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4E01188-1206-4A01-AAF3-3BBA751F4206}"/>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6CEF5C6-A4A0-45EF-BBA7-B4F098DE4224}"/>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7B8B4A2-81ED-4ED8-876C-9E3C9555CA7D}"/>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implemented database operations</a:t>
            </a:r>
          </a:p>
        </p:txBody>
      </p:sp>
      <p:sp>
        <p:nvSpPr>
          <p:cNvPr id="4" name="">
            <a:extLst xmlns:a="http://schemas.openxmlformats.org/drawingml/2006/main">
              <a:ext uri="{FF2B5EF4-FFF2-40B4-BE49-F238E27FC236}">
                <a16:creationId xmlns:a16="http://schemas.microsoft.com/office/drawing/2014/main" id="{67D6EA92-DE95-485D-87CB-084837DCAD97}"/>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0614FC01-7B97-450A-B9D3-508EEF69D047}"/>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8</a:t>
            </a:r>
          </a:p>
        </p:txBody>
      </p:sp>
      <p:graphicFrame>
        <p:nvGraphicFramePr>
          <p:cNvPr id="14" name=""/>
          <p:cNvGraphicFramePr/>
          <p:nvPr/>
        </p:nvGraphicFramePr>
        <p:xfrm>
          <a:off xmlns:a="http://schemas.openxmlformats.org/drawingml/2006/main" x="457200" y="1352550"/>
          <a:ext xmlns:a="http://schemas.openxmlformats.org/drawingml/2006/main" cx="11277600" cy="4010025"/>
        </p:xfrm>
        <a:graphic xmlns:a="http://schemas.openxmlformats.org/drawingml/2006/main">
          <a:graphicData uri="http://schemas.openxmlformats.org/drawingml/2006/table">
            <a:tbl>
              <a:tblPr/>
              <a:tblGrid>
                <a:gridCol w="5286375"/>
                <a:gridCol w="5991225"/>
              </a:tblGrid>
              <a:tr h="501253">
                <a:tc>
                  <a:txBody>
                    <a:bodyPr/>
                    <a:lstStyle/>
                    <a:p>
                      <a:r>
                        <a:rPr sz="1800" b="1">
                          <a:solidFill>
                            <a:srgbClr val="FFFFFF"/>
                          </a:solidFill>
                          <a:latin typeface="Helvetica Neue"/>
                          <a:ea typeface="Helvetica Neue"/>
                          <a:cs typeface="Helvetica Neue"/>
                        </a:rPr>
                        <a:t>Capability</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Implemented interface</a:t>
                      </a:r>
                    </a:p>
                  </a:txBody>
                  <a:tcPr marL="91440" marR="91440" marT="45720" marB="45720">
                    <a:solidFill>
                      <a:srgbClr val="00274C"/>
                    </a:solidFill>
                  </a:tcPr>
                </a:tc>
              </a:tr>
              <a:tr h="501253">
                <a:tc>
                  <a:txBody>
                    <a:bodyPr/>
                    <a:lstStyle/>
                    <a:p>
                      <a:r>
                        <a:rPr sz="1800" b="0">
                          <a:solidFill>
                            <a:srgbClr val="1A1A1A"/>
                          </a:solidFill>
                          <a:latin typeface="Helvetica Neue"/>
                          <a:ea typeface="Helvetica Neue"/>
                          <a:cs typeface="Helvetica Neue"/>
                        </a:rPr>
                        <a:t>Validate and store records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validate, add, build</a:t>
                      </a:r>
                    </a:p>
                  </a:txBody>
                  <a:tcPr marL="91440" marR="91440" marT="45720" marB="45720">
                    <a:solidFill>
                      <a:srgbClr val="FFFFFF"/>
                    </a:solidFill>
                  </a:tcPr>
                </a:tc>
              </a:tr>
              <a:tr h="501253">
                <a:tc>
                  <a:txBody>
                    <a:bodyPr/>
                    <a:lstStyle/>
                    <a:p>
                      <a:r>
                        <a:rPr sz="1800" b="0">
                          <a:solidFill>
                            <a:srgbClr val="1A1A1A"/>
                          </a:solidFill>
                          <a:latin typeface="Helvetica Neue"/>
                          <a:ea typeface="Helvetica Neue"/>
                          <a:cs typeface="Helvetica Neue"/>
                        </a:rPr>
                        <a:t>Search access patterns and semantic facts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find, sql</a:t>
                      </a:r>
                    </a:p>
                  </a:txBody>
                  <a:tcPr marL="91440" marR="91440" marT="45720" marB="45720">
                    <a:solidFill>
                      <a:srgbClr val="F4F4F4"/>
                    </a:solidFill>
                  </a:tcPr>
                </a:tc>
              </a:tr>
              <a:tr h="501253">
                <a:tc>
                  <a:txBody>
                    <a:bodyPr/>
                    <a:lstStyle/>
                    <a:p>
                      <a:r>
                        <a:rPr sz="1800" b="0">
                          <a:solidFill>
                            <a:srgbClr val="1A1A1A"/>
                          </a:solidFill>
                          <a:latin typeface="Helvetica Neue"/>
                          <a:ea typeface="Helvetica Neue"/>
                          <a:cs typeface="Helvetica Neue"/>
                        </a:rPr>
                        <a:t>Compare implementations of a kernel</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implementations, including --applies</a:t>
                      </a:r>
                    </a:p>
                  </a:txBody>
                  <a:tcPr marL="91440" marR="91440" marT="45720" marB="45720">
                    <a:solidFill>
                      <a:srgbClr val="FFFFFF"/>
                    </a:solidFill>
                  </a:tcPr>
                </a:tc>
              </a:tr>
              <a:tr h="501253">
                <a:tc>
                  <a:txBody>
                    <a:bodyPr/>
                    <a:lstStyle/>
                    <a:p>
                      <a:r>
                        <a:rPr sz="1800" b="0">
                          <a:solidFill>
                            <a:srgbClr val="1A1A1A"/>
                          </a:solidFill>
                          <a:latin typeface="Helvetica Neue"/>
                          <a:ea typeface="Helvetica Neue"/>
                          <a:cs typeface="Helvetica Neue"/>
                        </a:rPr>
                        <a:t>Screen strategy targets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strategies --pattern / --loop / --input</a:t>
                      </a:r>
                    </a:p>
                  </a:txBody>
                  <a:tcPr marL="91440" marR="91440" marT="45720" marB="45720">
                    <a:solidFill>
                      <a:srgbClr val="F4F4F4"/>
                    </a:solidFill>
                  </a:tcPr>
                </a:tc>
              </a:tr>
              <a:tr h="501253">
                <a:tc>
                  <a:txBody>
                    <a:bodyPr/>
                    <a:lstStyle/>
                    <a:p>
                      <a:r>
                        <a:rPr sz="1800" b="0">
                          <a:solidFill>
                            <a:srgbClr val="1A1A1A"/>
                          </a:solidFill>
                          <a:latin typeface="Helvetica Neue"/>
                          <a:ea typeface="Helvetica Neue"/>
                          <a:cs typeface="Helvetica Neue"/>
                        </a:rPr>
                        <a:t>Export a workload view</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view implementation input machine</a:t>
                      </a:r>
                    </a:p>
                  </a:txBody>
                  <a:tcPr marL="91440" marR="91440" marT="45720" marB="45720">
                    <a:solidFill>
                      <a:srgbClr val="FFFFFF"/>
                    </a:solidFill>
                  </a:tcPr>
                </a:tc>
              </a:tr>
              <a:tr h="501253">
                <a:tc>
                  <a:txBody>
                    <a:bodyPr/>
                    <a:lstStyle/>
                    <a:p>
                      <a:r>
                        <a:rPr sz="1800" b="0">
                          <a:solidFill>
                            <a:srgbClr val="1A1A1A"/>
                          </a:solidFill>
                          <a:latin typeface="Helvetica Neue"/>
                          <a:ea typeface="Helvetica Neue"/>
                          <a:cs typeface="Helvetica Neue"/>
                        </a:rPr>
                        <a:t>Capture and profile the machine</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capture-machine, profile</a:t>
                      </a:r>
                    </a:p>
                  </a:txBody>
                  <a:tcPr marL="91440" marR="91440" marT="45720" marB="45720">
                    <a:solidFill>
                      <a:srgbClr val="F4F4F4"/>
                    </a:solidFill>
                  </a:tcPr>
                </a:tc>
              </a:tr>
              <a:tr h="501253">
                <a:tc>
                  <a:txBody>
                    <a:bodyPr/>
                    <a:lstStyle/>
                    <a:p>
                      <a:r>
                        <a:rPr sz="1800" b="0">
                          <a:solidFill>
                            <a:srgbClr val="1A1A1A"/>
                          </a:solidFill>
                          <a:latin typeface="Helvetica Neue"/>
                          <a:ea typeface="Helvetica Neue"/>
                          <a:cs typeface="Helvetica Neue"/>
                        </a:rPr>
                        <a:t>Refresh simulated cache metrics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recompute-cachegrind</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716C69D3-BD27-4D24-8C83-8413F5FCBFC7}"/>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46BEF1B-7B82-47DD-BCDD-8767E89DE2D3}"/>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Versioned YAML is the master copy. SQLite is generated for queries.</a:t>
            </a:r>
          </a:p>
        </p:txBody>
      </p:sp>
    </p:spTree>
    <p:extLst>
      <p:ext uri="{BB962C8B-B14F-4D97-AF65-F5344CB8AC3E}">
        <p14:creationId xmlns:p14="http://schemas.microsoft.com/office/powerpoint/2010/main" val="87813098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0CEEDAA-1546-4D59-9E11-3DE3134F23F7}"/>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92D520-4611-4519-AB31-793406214585}"/>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91F0426-8847-4D56-8269-6148104A86A2}"/>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profiling and evidence types</a:t>
            </a:r>
          </a:p>
        </p:txBody>
      </p:sp>
      <p:sp>
        <p:nvSpPr>
          <p:cNvPr id="4" name="">
            <a:extLst xmlns:a="http://schemas.openxmlformats.org/drawingml/2006/main">
              <a:ext uri="{FF2B5EF4-FFF2-40B4-BE49-F238E27FC236}">
                <a16:creationId xmlns:a16="http://schemas.microsoft.com/office/drawing/2014/main" id="{E8ACE64C-E807-451F-BF16-A24B65D28C8C}"/>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4AD374A2-F646-417F-A81D-D1A1859CF90A}"/>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9</a:t>
            </a:r>
          </a:p>
        </p:txBody>
      </p:sp>
      <p:graphicFrame>
        <p:nvGraphicFramePr>
          <p:cNvPr id="13" name=""/>
          <p:cNvGraphicFramePr/>
          <p:nvPr/>
        </p:nvGraphicFramePr>
        <p:xfrm>
          <a:off xmlns:a="http://schemas.openxmlformats.org/drawingml/2006/main" x="457200" y="1409700"/>
          <a:ext xmlns:a="http://schemas.openxmlformats.org/drawingml/2006/main" cx="11277600" cy="3600450"/>
        </p:xfrm>
        <a:graphic xmlns:a="http://schemas.openxmlformats.org/drawingml/2006/main">
          <a:graphicData uri="http://schemas.openxmlformats.org/drawingml/2006/table">
            <a:tbl>
              <a:tblPr/>
              <a:tblGrid>
                <a:gridCol w="2381250"/>
                <a:gridCol w="5124450"/>
                <a:gridCol w="3771900"/>
              </a:tblGrid>
              <a:tr h="514350">
                <a:tc>
                  <a:txBody>
                    <a:bodyPr/>
                    <a:lstStyle/>
                    <a:p>
                      <a:r>
                        <a:rPr sz="1800" b="1">
                          <a:solidFill>
                            <a:srgbClr val="FFFFFF"/>
                          </a:solidFill>
                          <a:latin typeface="Helvetica Neue"/>
                          <a:ea typeface="Helvetica Neue"/>
                          <a:cs typeface="Helvetica Neue"/>
                        </a:rPr>
                        <a:t>Evidence</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Recorded content</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Interpretation</a:t>
                      </a:r>
                    </a:p>
                  </a:txBody>
                  <a:tcPr marL="91440" marR="91440" marT="45720" marB="45720">
                    <a:solidFill>
                      <a:srgbClr val="00274C"/>
                    </a:solidFill>
                  </a:tcPr>
                </a:tc>
              </a:tr>
              <a:tr h="514350">
                <a:tc>
                  <a:txBody>
                    <a:bodyPr/>
                    <a:lstStyle/>
                    <a:p>
                      <a:r>
                        <a:rPr sz="1800" b="0">
                          <a:solidFill>
                            <a:srgbClr val="1A1A1A"/>
                          </a:solidFill>
                          <a:latin typeface="Helvetica Neue"/>
                          <a:ea typeface="Helvetica Neue"/>
                          <a:cs typeface="Helvetica Neue"/>
                        </a:rPr>
                        <a:t>Correctness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Verifier outcome and timeout</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31 complete profiles</a:t>
                      </a:r>
                    </a:p>
                  </a:txBody>
                  <a:tcPr marL="91440" marR="91440" marT="45720" marB="45720">
                    <a:solidFill>
                      <a:srgbClr val="FFFFFF"/>
                    </a:solidFill>
                  </a:tcPr>
                </a:tc>
              </a:tr>
              <a:tr h="514350">
                <a:tc>
                  <a:txBody>
                    <a:bodyPr/>
                    <a:lstStyle/>
                    <a:p>
                      <a:r>
                        <a:rPr sz="1800" b="0">
                          <a:solidFill>
                            <a:srgbClr val="1A1A1A"/>
                          </a:solidFill>
                          <a:latin typeface="Helvetica Neue"/>
                          <a:ea typeface="Helvetica Neue"/>
                          <a:cs typeface="Helvetica Neue"/>
                        </a:rPr>
                        <a:t>Timing</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1, 2, 4, 8, 16 threads, 5 trials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Measured application trial time</a:t>
                      </a:r>
                    </a:p>
                  </a:txBody>
                  <a:tcPr marL="91440" marR="91440" marT="45720" marB="45720">
                    <a:solidFill>
                      <a:srgbClr val="F4F4F4"/>
                    </a:solidFill>
                  </a:tcPr>
                </a:tc>
              </a:tr>
              <a:tr h="514350">
                <a:tc>
                  <a:txBody>
                    <a:bodyPr/>
                    <a:lstStyle/>
                    <a:p>
                      <a:r>
                        <a:rPr sz="1800" b="0">
                          <a:solidFill>
                            <a:srgbClr val="1A1A1A"/>
                          </a:solidFill>
                          <a:latin typeface="Helvetica Neue"/>
                          <a:ea typeface="Helvetica Neue"/>
                          <a:cs typeface="Helvetica Neue"/>
                        </a:rPr>
                        <a:t>Memory footprint</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Array sizes and footprint/L3</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Recorded sizes and formulas</a:t>
                      </a:r>
                    </a:p>
                  </a:txBody>
                  <a:tcPr marL="91440" marR="91440" marT="45720" marB="45720">
                    <a:solidFill>
                      <a:srgbClr val="FFFFFF"/>
                    </a:solidFill>
                  </a:tcPr>
                </a:tc>
              </a:tr>
              <a:tr h="514350">
                <a:tc>
                  <a:txBody>
                    <a:bodyPr/>
                    <a:lstStyle/>
                    <a:p>
                      <a:r>
                        <a:rPr sz="1800" b="0">
                          <a:solidFill>
                            <a:srgbClr val="1A1A1A"/>
                          </a:solidFill>
                          <a:latin typeface="Helvetica Neue"/>
                          <a:ea typeface="Helvetica Neue"/>
                          <a:cs typeface="Helvetica Neue"/>
                        </a:rPr>
                        <a:t>Index stream</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Reuse, sequentiality, degree skew</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Features in 12 profiles</a:t>
                      </a:r>
                    </a:p>
                  </a:txBody>
                  <a:tcPr marL="91440" marR="91440" marT="45720" marB="45720">
                    <a:solidFill>
                      <a:srgbClr val="F4F4F4"/>
                    </a:solidFill>
                  </a:tcPr>
                </a:tc>
              </a:tr>
              <a:tr h="514350">
                <a:tc>
                  <a:txBody>
                    <a:bodyPr/>
                    <a:lstStyle/>
                    <a:p>
                      <a:r>
                        <a:rPr sz="1800" b="0">
                          <a:solidFill>
                            <a:srgbClr val="1A1A1A"/>
                          </a:solidFill>
                          <a:latin typeface="Helvetica Neue"/>
                          <a:ea typeface="Helvetica Neue"/>
                          <a:cs typeface="Helvetica Neue"/>
                        </a:rPr>
                        <a:t>Cachegrind</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Kernel-function cache references/misses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Simulated, single-threaded</a:t>
                      </a:r>
                    </a:p>
                  </a:txBody>
                  <a:tcPr marL="91440" marR="91440" marT="45720" marB="45720">
                    <a:solidFill>
                      <a:srgbClr val="FFFFFF"/>
                    </a:solidFill>
                  </a:tcPr>
                </a:tc>
              </a:tr>
              <a:tr h="514350">
                <a:tc>
                  <a:txBody>
                    <a:bodyPr/>
                    <a:lstStyle/>
                    <a:p>
                      <a:r>
                        <a:rPr sz="1800" b="0">
                          <a:solidFill>
                            <a:srgbClr val="1A1A1A"/>
                          </a:solidFill>
                          <a:latin typeface="Helvetica Neue"/>
                          <a:ea typeface="Helvetica Neue"/>
                          <a:cs typeface="Helvetica Neue"/>
                        </a:rPr>
                        <a:t>Bottleneck</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Classification with its basis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Inferred, not a counter measurement</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F0A99871-019F-4C83-8A0B-37123A6AFC46}"/>
              </a:ext>
            </a:extLst>
          </p:cNvPr>
          <p:cNvSpPr>
            <a:spLocks xmlns:a="http://schemas.openxmlformats.org/drawingml/2006/main" noGrp="1"/>
          </p:cNvSpPr>
          <p:nvPr/>
        </p:nvSpPr>
        <p:spPr>
          <a:xfrm xmlns:a="http://schemas.openxmlformats.org/drawingml/2006/main">
            <a:off x="457200" y="5314950"/>
            <a:ext cx="1123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Profiles retain source/build identity, commands, raw-output locations,</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host load, thread binding, stage outcomes, and evidence references.</a:t>
            </a:r>
          </a:p>
        </p:txBody>
      </p:sp>
    </p:spTree>
    <p:extLst>
      <p:ext uri="{BB962C8B-B14F-4D97-AF65-F5344CB8AC3E}">
        <p14:creationId xmlns:p14="http://schemas.microsoft.com/office/powerpoint/2010/main" val="198557235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738FF4A-38C5-45C8-A1E5-20B139967061}"/>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A87E98-EA25-4FA4-8178-D569054850AE}"/>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B0114ED-10F9-46A9-AD56-61179D6FBBF0}"/>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optimization strategies and intrinsics</a:t>
            </a:r>
          </a:p>
        </p:txBody>
      </p:sp>
      <p:sp>
        <p:nvSpPr>
          <p:cNvPr id="4" name="">
            <a:extLst xmlns:a="http://schemas.openxmlformats.org/drawingml/2006/main">
              <a:ext uri="{FF2B5EF4-FFF2-40B4-BE49-F238E27FC236}">
                <a16:creationId xmlns:a16="http://schemas.microsoft.com/office/drawing/2014/main" id="{7BCE6AA7-C957-4710-ADAA-133BE5BFD1EE}"/>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861AE660-9B0E-46B9-87C8-98C1FADC09A0}"/>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10</a:t>
            </a:r>
          </a:p>
        </p:txBody>
      </p:sp>
      <p:graphicFrame>
        <p:nvGraphicFramePr>
          <p:cNvPr id="13" name=""/>
          <p:cNvGraphicFramePr/>
          <p:nvPr/>
        </p:nvGraphicFramePr>
        <p:xfrm>
          <a:off xmlns:a="http://schemas.openxmlformats.org/drawingml/2006/main" x="457200" y="1343025"/>
          <a:ext xmlns:a="http://schemas.openxmlformats.org/drawingml/2006/main" cx="11277600" cy="3200400"/>
        </p:xfrm>
        <a:graphic xmlns:a="http://schemas.openxmlformats.org/drawingml/2006/main">
          <a:graphicData uri="http://schemas.openxmlformats.org/drawingml/2006/table">
            <a:tbl>
              <a:tblPr/>
              <a:tblGrid>
                <a:gridCol w="3143250"/>
                <a:gridCol w="2476500"/>
                <a:gridCol w="5657850"/>
              </a:tblGrid>
              <a:tr h="533400">
                <a:tc>
                  <a:txBody>
                    <a:bodyPr/>
                    <a:lstStyle/>
                    <a:p>
                      <a:r>
                        <a:rPr sz="1800" b="1">
                          <a:solidFill>
                            <a:srgbClr val="FFFFFF"/>
                          </a:solidFill>
                          <a:latin typeface="Helvetica Neue"/>
                          <a:ea typeface="Helvetica Neue"/>
                          <a:cs typeface="Helvetica Neue"/>
                        </a:rPr>
                        <a:t>Strategy</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Target</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Recorded effect</a:t>
                      </a:r>
                    </a:p>
                  </a:txBody>
                  <a:tcPr marL="91440" marR="91440" marT="45720" marB="45720">
                    <a:solidFill>
                      <a:srgbClr val="00274C"/>
                    </a:solidFill>
                  </a:tcPr>
                </a:tc>
              </a:tr>
              <a:tr h="533400">
                <a:tc>
                  <a:txBody>
                    <a:bodyPr/>
                    <a:lstStyle/>
                    <a:p>
                      <a:r>
                        <a:rPr sz="1800" b="0">
                          <a:solidFill>
                            <a:srgbClr val="1A1A1A"/>
                          </a:solidFill>
                          <a:latin typeface="Helvetica Neue"/>
                          <a:ea typeface="Helvetica Neue"/>
                          <a:cs typeface="Helvetica Neue"/>
                        </a:rPr>
                        <a:t>Packing</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Access pattern</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Indirect read becomes a stream, plus a packing pass</a:t>
                      </a:r>
                    </a:p>
                  </a:txBody>
                  <a:tcPr marL="91440" marR="91440" marT="45720" marB="45720">
                    <a:solidFill>
                      <a:srgbClr val="FFFFFF"/>
                    </a:solidFill>
                  </a:tcPr>
                </a:tc>
              </a:tr>
              <a:tr h="533400">
                <a:tc>
                  <a:txBody>
                    <a:bodyPr/>
                    <a:lstStyle/>
                    <a:p>
                      <a:r>
                        <a:rPr sz="1800" b="0">
                          <a:solidFill>
                            <a:srgbClr val="1A1A1A"/>
                          </a:solidFill>
                          <a:latin typeface="Helvetica Neue"/>
                          <a:ea typeface="Helvetica Neue"/>
                          <a:cs typeface="Helvetica Neue"/>
                        </a:rPr>
                        <a:t>Software prefetch</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Access pattern</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Add a non-binding early access</a:t>
                      </a:r>
                    </a:p>
                  </a:txBody>
                  <a:tcPr marL="91440" marR="91440" marT="45720" marB="45720">
                    <a:solidFill>
                      <a:srgbClr val="F4F4F4"/>
                    </a:solidFill>
                  </a:tcPr>
                </a:tc>
              </a:tr>
              <a:tr h="533400">
                <a:tc>
                  <a:txBody>
                    <a:bodyPr/>
                    <a:lstStyle/>
                    <a:p>
                      <a:r>
                        <a:rPr sz="1800" b="0">
                          <a:solidFill>
                            <a:srgbClr val="1A1A1A"/>
                          </a:solidFill>
                          <a:latin typeface="Helvetica Neue"/>
                          <a:ea typeface="Helvetica Neue"/>
                          <a:cs typeface="Helvetica Neue"/>
                        </a:rPr>
                        <a:t>SIMD gather</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Access pattern</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Widen lanes per access</a:t>
                      </a:r>
                    </a:p>
                  </a:txBody>
                  <a:tcPr marL="91440" marR="91440" marT="45720" marB="45720">
                    <a:solidFill>
                      <a:srgbClr val="FFFFFF"/>
                    </a:solidFill>
                  </a:tcPr>
                </a:tc>
              </a:tr>
              <a:tr h="533400">
                <a:tc>
                  <a:txBody>
                    <a:bodyPr/>
                    <a:lstStyle/>
                    <a:p>
                      <a:r>
                        <a:rPr sz="1800" b="0">
                          <a:solidFill>
                            <a:srgbClr val="1A1A1A"/>
                          </a:solidFill>
                          <a:latin typeface="Helvetica Neue"/>
                          <a:ea typeface="Helvetica Neue"/>
                          <a:cs typeface="Helvetica Neue"/>
                        </a:rPr>
                        <a:t>Vertex reordering</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Input</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Reorder indices</a:t>
                      </a:r>
                    </a:p>
                  </a:txBody>
                  <a:tcPr marL="91440" marR="91440" marT="45720" marB="45720">
                    <a:solidFill>
                      <a:srgbClr val="F4F4F4"/>
                    </a:solidFill>
                  </a:tcPr>
                </a:tc>
              </a:tr>
              <a:tr h="533400">
                <a:tc>
                  <a:txBody>
                    <a:bodyPr/>
                    <a:lstStyle/>
                    <a:p>
                      <a:r>
                        <a:rPr sz="1800" b="0">
                          <a:solidFill>
                            <a:srgbClr val="1A1A1A"/>
                          </a:solidFill>
                          <a:latin typeface="Helvetica Neue"/>
                          <a:ea typeface="Helvetica Neue"/>
                          <a:cs typeface="Helvetica Neue"/>
                        </a:rPr>
                        <a:t>Loop tiling</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Loop</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Restructure the loop</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9311692F-CEAF-4DED-ADE1-FDC8A70F141E}"/>
              </a:ext>
            </a:extLst>
          </p:cNvPr>
          <p:cNvSpPr>
            <a:spLocks xmlns:a="http://schemas.openxmlformats.org/drawingml/2006/main" noGrp="1"/>
          </p:cNvSpPr>
          <p:nvPr/>
        </p:nvSpPr>
        <p:spPr>
          <a:xfrm xmlns:a="http://schemas.openxmlformats.org/drawingml/2006/main">
            <a:off x="457200" y="4905375"/>
            <a:ext cx="11239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Intrinsic records: _mm_prefetch and _mm512_i32gather_ps</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Strategy application links and derived ISA checks are implemented.</a:t>
            </a:r>
          </a:p>
        </p:txBody>
      </p:sp>
    </p:spTree>
    <p:extLst>
      <p:ext uri="{BB962C8B-B14F-4D97-AF65-F5344CB8AC3E}">
        <p14:creationId xmlns:p14="http://schemas.microsoft.com/office/powerpoint/2010/main" val="159973100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87DA38-2C56-41C5-9497-A22778B42FFE}"/>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521B4B-C4D2-415A-A00E-FD3D227C17EF}"/>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1648386-AA1F-4AC2-8DFC-EB96F85A5E56}"/>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safeguards and remaining boundaries</a:t>
            </a:r>
          </a:p>
        </p:txBody>
      </p:sp>
      <p:sp>
        <p:nvSpPr>
          <p:cNvPr id="4" name="">
            <a:extLst xmlns:a="http://schemas.openxmlformats.org/drawingml/2006/main">
              <a:ext uri="{FF2B5EF4-FFF2-40B4-BE49-F238E27FC236}">
                <a16:creationId xmlns:a16="http://schemas.microsoft.com/office/drawing/2014/main" id="{9620A705-AA40-4877-9EDE-43542B8A4A75}"/>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4544278A-1359-427A-ABCB-EE17BCCCA469}"/>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11</a:t>
            </a:r>
          </a:p>
        </p:txBody>
      </p:sp>
      <p:graphicFrame>
        <p:nvGraphicFramePr>
          <p:cNvPr id="13" name=""/>
          <p:cNvGraphicFramePr/>
          <p:nvPr/>
        </p:nvGraphicFramePr>
        <p:xfrm>
          <a:off xmlns:a="http://schemas.openxmlformats.org/drawingml/2006/main" x="457200" y="1352550"/>
          <a:ext xmlns:a="http://schemas.openxmlformats.org/drawingml/2006/main" cx="11277600" cy="3714750"/>
        </p:xfrm>
        <a:graphic xmlns:a="http://schemas.openxmlformats.org/drawingml/2006/main">
          <a:graphicData uri="http://schemas.openxmlformats.org/drawingml/2006/table">
            <a:tbl>
              <a:tblPr/>
              <a:tblGrid>
                <a:gridCol w="5410200"/>
                <a:gridCol w="5867400"/>
              </a:tblGrid>
              <a:tr h="530679">
                <a:tc>
                  <a:txBody>
                    <a:bodyPr/>
                    <a:lstStyle/>
                    <a:p>
                      <a:r>
                        <a:rPr sz="1800" b="1">
                          <a:solidFill>
                            <a:srgbClr val="FFFFFF"/>
                          </a:solidFill>
                          <a:latin typeface="Helvetica Neue"/>
                          <a:ea typeface="Helvetica Neue"/>
                          <a:cs typeface="Helvetica Neue"/>
                        </a:rPr>
                        <a:t>Implemented safeguard</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Remaining boundary</a:t>
                      </a:r>
                    </a:p>
                  </a:txBody>
                  <a:tcPr marL="91440" marR="91440" marT="45720" marB="45720">
                    <a:solidFill>
                      <a:srgbClr val="00274C"/>
                    </a:solidFill>
                  </a:tcPr>
                </a:tc>
              </a:tr>
              <a:tr h="530679">
                <a:tc>
                  <a:txBody>
                    <a:bodyPr/>
                    <a:lstStyle/>
                    <a:p>
                      <a:r>
                        <a:rPr sz="1800" b="0">
                          <a:solidFill>
                            <a:srgbClr val="1A1A1A"/>
                          </a:solidFill>
                          <a:latin typeface="Helvetica Neue"/>
                          <a:ea typeface="Helvetica Neue"/>
                          <a:cs typeface="Helvetica Neue"/>
                        </a:rPr>
                        <a:t>Schema, vocabulary, cross-record checks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Valid structure does not establish a research claim</a:t>
                      </a:r>
                    </a:p>
                  </a:txBody>
                  <a:tcPr marL="91440" marR="91440" marT="45720" marB="45720">
                    <a:solidFill>
                      <a:srgbClr val="FFFFFF"/>
                    </a:solidFill>
                  </a:tcPr>
                </a:tc>
              </a:tr>
              <a:tr h="530679">
                <a:tc>
                  <a:txBody>
                    <a:bodyPr/>
                    <a:lstStyle/>
                    <a:p>
                      <a:r>
                        <a:rPr sz="1800" b="0">
                          <a:solidFill>
                            <a:srgbClr val="1A1A1A"/>
                          </a:solidFill>
                          <a:latin typeface="Helvetica Neue"/>
                          <a:ea typeface="Helvetica Neue"/>
                          <a:cs typeface="Helvetica Neue"/>
                        </a:rPr>
                        <a:t>Unknown semantics remain unknown</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Strategy screening is not a full correctness proof</a:t>
                      </a:r>
                    </a:p>
                  </a:txBody>
                  <a:tcPr marL="91440" marR="91440" marT="45720" marB="45720">
                    <a:solidFill>
                      <a:srgbClr val="F4F4F4"/>
                    </a:solidFill>
                  </a:tcPr>
                </a:tc>
              </a:tr>
              <a:tr h="530679">
                <a:tc>
                  <a:txBody>
                    <a:bodyPr/>
                    <a:lstStyle/>
                    <a:p>
                      <a:r>
                        <a:rPr sz="1800" b="0">
                          <a:solidFill>
                            <a:srgbClr val="1A1A1A"/>
                          </a:solidFill>
                          <a:latin typeface="Helvetica Neue"/>
                          <a:ea typeface="Helvetica Neue"/>
                          <a:cs typeface="Helvetica Neue"/>
                        </a:rPr>
                        <a:t>Derived ISA and compiler/machine checks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No strategy-applied implementation measured yet</a:t>
                      </a:r>
                    </a:p>
                  </a:txBody>
                  <a:tcPr marL="91440" marR="91440" marT="45720" marB="45720">
                    <a:solidFill>
                      <a:srgbClr val="FFFFFF"/>
                    </a:solidFill>
                  </a:tcPr>
                </a:tc>
              </a:tr>
              <a:tr h="530679">
                <a:tc>
                  <a:txBody>
                    <a:bodyPr/>
                    <a:lstStyle/>
                    <a:p>
                      <a:r>
                        <a:rPr sz="1800" b="0">
                          <a:solidFill>
                            <a:srgbClr val="1A1A1A"/>
                          </a:solidFill>
                          <a:latin typeface="Helvetica Neue"/>
                          <a:ea typeface="Helvetica Neue"/>
                          <a:cs typeface="Helvetica Neue"/>
                        </a:rPr>
                        <a:t>Correctness status and incomplete profiles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Triangle counting / large Kronecker is incomplete</a:t>
                      </a:r>
                    </a:p>
                  </a:txBody>
                  <a:tcPr marL="91440" marR="91440" marT="45720" marB="45720">
                    <a:solidFill>
                      <a:srgbClr val="F4F4F4"/>
                    </a:solidFill>
                  </a:tcPr>
                </a:tc>
              </a:tr>
              <a:tr h="530679">
                <a:tc>
                  <a:txBody>
                    <a:bodyPr/>
                    <a:lstStyle/>
                    <a:p>
                      <a:r>
                        <a:rPr sz="1800" b="0">
                          <a:solidFill>
                            <a:srgbClr val="1A1A1A"/>
                          </a:solidFill>
                          <a:latin typeface="Helvetica Neue"/>
                          <a:ea typeface="Helvetica Neue"/>
                          <a:cs typeface="Helvetica Neue"/>
                        </a:rPr>
                        <a:t>Evidence basis and raw-output references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Simulated cache misses and inferred bottlenecks</a:t>
                      </a:r>
                    </a:p>
                  </a:txBody>
                  <a:tcPr marL="91440" marR="91440" marT="45720" marB="45720">
                    <a:solidFill>
                      <a:srgbClr val="FFFFFF"/>
                    </a:solidFill>
                  </a:tcPr>
                </a:tc>
              </a:tr>
              <a:tr h="530679">
                <a:tc>
                  <a:txBody>
                    <a:bodyPr/>
                    <a:lstStyle/>
                    <a:p>
                      <a:r>
                        <a:rPr sz="1800" b="0">
                          <a:solidFill>
                            <a:srgbClr val="1A1A1A"/>
                          </a:solidFill>
                          <a:latin typeface="Helvetica Neue"/>
                          <a:ea typeface="Helvetica Neue"/>
                          <a:cs typeface="Helvetica Neue"/>
                        </a:rPr>
                        <a:t>Workload-view generation</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Live HW-agent integration not demonstrated</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AF29B6B9-0EC6-4AA4-A3AF-4EC26A7D3D24}"/>
              </a:ext>
            </a:extLst>
          </p:cNvPr>
          <p:cNvSpPr>
            <a:spLocks xmlns:a="http://schemas.openxmlformats.org/drawingml/2006/main" noGrp="1"/>
          </p:cNvSpPr>
          <p:nvPr/>
        </p:nvSpPr>
        <p:spPr>
          <a:xfrm xmlns:a="http://schemas.openxmlformats.org/drawingml/2006/main">
            <a:off x="457200" y="5276850"/>
            <a:ext cx="11239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Measurement context: shared mbit10 host, one socket per run.</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This update uses committed profile records, not a new measurement campaign.</a:t>
            </a:r>
          </a:p>
        </p:txBody>
      </p:sp>
    </p:spTree>
    <p:extLst>
      <p:ext uri="{BB962C8B-B14F-4D97-AF65-F5344CB8AC3E}">
        <p14:creationId xmlns:p14="http://schemas.microsoft.com/office/powerpoint/2010/main" val="107885691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D87925F-E165-45BA-B74B-38A9BC4E568A}"/>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D60098-FB05-4E42-8E24-79694F7E0B65}"/>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A3CF731-E010-4195-872D-FF04F25A4EFC}"/>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PageRank timing and setup</a:t>
            </a:r>
          </a:p>
        </p:txBody>
      </p:sp>
      <p:sp>
        <p:nvSpPr>
          <p:cNvPr id="4" name="">
            <a:extLst xmlns:a="http://schemas.openxmlformats.org/drawingml/2006/main">
              <a:ext uri="{FF2B5EF4-FFF2-40B4-BE49-F238E27FC236}">
                <a16:creationId xmlns:a16="http://schemas.microsoft.com/office/drawing/2014/main" id="{71605048-3140-431C-BA6E-4249520D70C0}"/>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92444473-2909-4F8C-A818-4C388CBEB09A}"/>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12</a:t>
            </a:r>
          </a:p>
        </p:txBody>
      </p:sp>
      <p:sp>
        <p:nvSpPr>
          <p:cNvPr id="6" name="">
            <a:extLst xmlns:a="http://schemas.openxmlformats.org/drawingml/2006/main">
              <a:ext uri="{FF2B5EF4-FFF2-40B4-BE49-F238E27FC236}">
                <a16:creationId xmlns:a16="http://schemas.microsoft.com/office/drawing/2014/main" id="{E8E9F447-8B08-4B50-B623-31F670317B67}"/>
              </a:ext>
            </a:extLst>
          </p:cNvPr>
          <p:cNvSpPr>
            <a:spLocks xmlns:a="http://schemas.openxmlformats.org/drawingml/2006/main" noGrp="1"/>
          </p:cNvSpPr>
          <p:nvPr/>
        </p:nvSpPr>
        <p:spPr>
          <a:xfrm xmlns:a="http://schemas.openxmlformats.org/drawingml/2006/main">
            <a:off x="457200" y="12382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A1A1A"/>
                </a:solidFill>
                <a:latin typeface="Helvetica Neue"/>
                <a:ea typeface="Helvetica Neue"/>
                <a:cs typeface="Helvetica Neue"/>
              </a:defRPr>
            </a:pPr>
            <a:r>
              <a:rPr sz="1875" b="0">
                <a:solidFill>
                  <a:srgbClr val="1A1A1A"/>
                </a:solidFill>
                <a:latin typeface="Helvetica Neue"/>
                <a:ea typeface="Helvetica Neue"/>
                <a:cs typeface="Helvetica Neue"/>
              </a:rPr>
              <a:t>Intel Xeon Gold 6326, one socket, 24 MiB L3, 5 trials at each thread count</a:t>
            </a:r>
          </a:p>
        </p:txBody>
      </p:sp>
      <p:graphicFrame>
        <p:nvGraphicFramePr>
          <p:cNvPr id="15" name=""/>
          <p:cNvGraphicFramePr/>
          <p:nvPr/>
        </p:nvGraphicFramePr>
        <p:xfrm>
          <a:off xmlns:a="http://schemas.openxmlformats.org/drawingml/2006/main" x="457200" y="1819275"/>
          <a:ext xmlns:a="http://schemas.openxmlformats.org/drawingml/2006/main" cx="11277600" cy="2800350"/>
        </p:xfrm>
        <a:graphic xmlns:a="http://schemas.openxmlformats.org/drawingml/2006/main">
          <a:graphicData uri="http://schemas.openxmlformats.org/drawingml/2006/table">
            <a:tbl>
              <a:tblPr/>
              <a:tblGrid>
                <a:gridCol w="2476500"/>
                <a:gridCol w="4400550"/>
                <a:gridCol w="4400550"/>
              </a:tblGrid>
              <a:tr h="466725">
                <a:tc>
                  <a:txBody>
                    <a:bodyPr/>
                    <a:lstStyle/>
                    <a:p>
                      <a:r>
                        <a:rPr sz="1875" b="1">
                          <a:solidFill>
                            <a:srgbClr val="FFFFFF"/>
                          </a:solidFill>
                          <a:latin typeface="Helvetica Neue"/>
                          <a:ea typeface="Helvetica Neue"/>
                          <a:cs typeface="Helvetica Neue"/>
                        </a:rPr>
                        <a:t>Threads</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Scale 16 median (ms)</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Scale 22 median (ms)</a:t>
                      </a:r>
                    </a:p>
                  </a:txBody>
                  <a:tcPr marL="91440" marR="91440" marT="45720" marB="45720">
                    <a:solidFill>
                      <a:srgbClr val="00274C"/>
                    </a:solidFill>
                  </a:tcPr>
                </a:tc>
              </a:tr>
              <a:tr h="466725">
                <a:tc>
                  <a:txBody>
                    <a:bodyPr/>
                    <a:lstStyle/>
                    <a:p>
                      <a:r>
                        <a:rPr sz="1875" b="0">
                          <a:solidFill>
                            <a:srgbClr val="1A1A1A"/>
                          </a:solidFill>
                          <a:latin typeface="Helvetica Neue"/>
                          <a:ea typeface="Helvetica Neue"/>
                          <a:cs typeface="Helvetica Neue"/>
                        </a:rPr>
                        <a:t>1</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20.45</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2539.72</a:t>
                      </a:r>
                    </a:p>
                  </a:txBody>
                  <a:tcPr marL="91440" marR="91440" marT="45720" marB="45720">
                    <a:solidFill>
                      <a:srgbClr val="FFFFFF"/>
                    </a:solidFill>
                  </a:tcPr>
                </a:tc>
              </a:tr>
              <a:tr h="466725">
                <a:tc>
                  <a:txBody>
                    <a:bodyPr/>
                    <a:lstStyle/>
                    <a:p>
                      <a:r>
                        <a:rPr sz="1875" b="0">
                          <a:solidFill>
                            <a:srgbClr val="1A1A1A"/>
                          </a:solidFill>
                          <a:latin typeface="Helvetica Neue"/>
                          <a:ea typeface="Helvetica Neue"/>
                          <a:cs typeface="Helvetica Neue"/>
                        </a:rPr>
                        <a:t>2</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10.28</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1281.29</a:t>
                      </a:r>
                    </a:p>
                  </a:txBody>
                  <a:tcPr marL="91440" marR="91440" marT="45720" marB="45720">
                    <a:solidFill>
                      <a:srgbClr val="F4F4F4"/>
                    </a:solidFill>
                  </a:tcPr>
                </a:tc>
              </a:tr>
              <a:tr h="466725">
                <a:tc>
                  <a:txBody>
                    <a:bodyPr/>
                    <a:lstStyle/>
                    <a:p>
                      <a:r>
                        <a:rPr sz="1875" b="0">
                          <a:solidFill>
                            <a:srgbClr val="1A1A1A"/>
                          </a:solidFill>
                          <a:latin typeface="Helvetica Neue"/>
                          <a:ea typeface="Helvetica Neue"/>
                          <a:cs typeface="Helvetica Neue"/>
                        </a:rPr>
                        <a:t>4</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5.28</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646.16</a:t>
                      </a:r>
                    </a:p>
                  </a:txBody>
                  <a:tcPr marL="91440" marR="91440" marT="45720" marB="45720">
                    <a:solidFill>
                      <a:srgbClr val="FFFFFF"/>
                    </a:solidFill>
                  </a:tcPr>
                </a:tc>
              </a:tr>
              <a:tr h="466725">
                <a:tc>
                  <a:txBody>
                    <a:bodyPr/>
                    <a:lstStyle/>
                    <a:p>
                      <a:r>
                        <a:rPr sz="1875" b="0">
                          <a:solidFill>
                            <a:srgbClr val="1A1A1A"/>
                          </a:solidFill>
                          <a:latin typeface="Helvetica Neue"/>
                          <a:ea typeface="Helvetica Neue"/>
                          <a:cs typeface="Helvetica Neue"/>
                        </a:rPr>
                        <a:t>8</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5.18</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335.84</a:t>
                      </a:r>
                    </a:p>
                  </a:txBody>
                  <a:tcPr marL="91440" marR="91440" marT="45720" marB="45720">
                    <a:solidFill>
                      <a:srgbClr val="F4F4F4"/>
                    </a:solidFill>
                  </a:tcPr>
                </a:tc>
              </a:tr>
              <a:tr h="466725">
                <a:tc>
                  <a:txBody>
                    <a:bodyPr/>
                    <a:lstStyle/>
                    <a:p>
                      <a:r>
                        <a:rPr sz="1875" b="0">
                          <a:solidFill>
                            <a:srgbClr val="1A1A1A"/>
                          </a:solidFill>
                          <a:latin typeface="Helvetica Neue"/>
                          <a:ea typeface="Helvetica Neue"/>
                          <a:cs typeface="Helvetica Neue"/>
                        </a:rPr>
                        <a:t>16</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5.20</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190.22</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4ABE81F5-FFE0-4135-A22E-1A295242D57C}"/>
              </a:ext>
            </a:extLst>
          </p:cNvPr>
          <p:cNvSpPr>
            <a:spLocks xmlns:a="http://schemas.openxmlformats.org/drawingml/2006/main" noGrp="1"/>
          </p:cNvSpPr>
          <p:nvPr/>
        </p:nvSpPr>
        <p:spPr>
          <a:xfrm xmlns:a="http://schemas.openxmlformats.org/drawingml/2006/main">
            <a:off x="457200" y="4933950"/>
            <a:ext cx="112395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Scale 16: 65,536 vertices, recorded footprint 8.33 MB</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Scale 22: 4,194,302 vertices, recorded footprint 580.35 MB</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Timing scope: application Trial Time. Raw runs date to 2026-09-22.</a:t>
            </a:r>
          </a:p>
        </p:txBody>
      </p:sp>
    </p:spTree>
    <p:extLst>
      <p:ext uri="{BB962C8B-B14F-4D97-AF65-F5344CB8AC3E}">
        <p14:creationId xmlns:p14="http://schemas.microsoft.com/office/powerpoint/2010/main" val="7013922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2026-09-24T04:43:05.0560000Z</dcterms:created>
  <dcterms:modified xsi:type="dcterms:W3CDTF">2026-09-24T04:43:05.0560000Z</dcterms:modified>
</coreProperties>
</file>
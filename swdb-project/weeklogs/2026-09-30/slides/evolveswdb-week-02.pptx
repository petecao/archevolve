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3540012ee74249" /><Relationship Type="http://schemas.openxmlformats.org/officeDocument/2006/relationships/extended-properties" Target="/docProps/app.xml" Id="R12b4bcf4955f4c28" /><Relationship Type="http://schemas.openxmlformats.org/officeDocument/2006/relationships/officeDocument" Target="/ppt/presentation.xml" Id="R4435c25d9d5e4bfe" /></Relationships>
</file>

<file path=ppt/presentation.xml><?xml version="1.0" encoding="utf-8"?>
<p:presentation xmlns:p="http://schemas.openxmlformats.org/presentationml/2006/main">
  <p:sldMasterIdLst>
    <p:sldMasterId xmlns:r="http://schemas.openxmlformats.org/officeDocument/2006/relationships" id="2147483648" r:id="R13999cd1bbac4d30"/>
  </p:sldMasterIdLst>
  <p:notesMasterIdLst>
    <p:notesMasterId xmlns:r="http://schemas.openxmlformats.org/officeDocument/2006/relationships" r:id="R6e802bc41b14450b"/>
  </p:notesMasterIdLst>
  <p:sldIdLst>
    <p:sldId xmlns:r="http://schemas.openxmlformats.org/officeDocument/2006/relationships" id="256" r:id="R3b45558498c841d0"/>
    <p:sldId xmlns:r="http://schemas.openxmlformats.org/officeDocument/2006/relationships" id="257" r:id="R36dc72e0fe444a8a"/>
    <p:sldId xmlns:r="http://schemas.openxmlformats.org/officeDocument/2006/relationships" id="258" r:id="R7ef9c905face43cc"/>
    <p:sldId xmlns:r="http://schemas.openxmlformats.org/officeDocument/2006/relationships" id="259" r:id="Rdfcba1fd5a70485d"/>
    <p:sldId xmlns:r="http://schemas.openxmlformats.org/officeDocument/2006/relationships" id="260" r:id="R12dba3fb21e94d58"/>
    <p:sldId xmlns:r="http://schemas.openxmlformats.org/officeDocument/2006/relationships" id="261" r:id="Re6c28c9198b24147"/>
    <p:sldId xmlns:r="http://schemas.openxmlformats.org/officeDocument/2006/relationships" id="262" r:id="Ra0d7c3fc66244f6f"/>
    <p:sldId xmlns:r="http://schemas.openxmlformats.org/officeDocument/2006/relationships" id="263" r:id="R0382150d0eb64a27"/>
    <p:sldId xmlns:r="http://schemas.openxmlformats.org/officeDocument/2006/relationships" id="264" r:id="Ra2c92580278542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e09ecb101248db" /><Relationship Type="http://schemas.openxmlformats.org/officeDocument/2006/relationships/slideMaster" Target="/ppt/slideMasters/slideMaster1.xml" Id="R13999cd1bbac4d30" /><Relationship Type="http://schemas.openxmlformats.org/officeDocument/2006/relationships/notesMaster" Target="/ppt/notesMasters/notesMaster1.xml" Id="R6e802bc41b14450b" /><Relationship Type="http://schemas.openxmlformats.org/officeDocument/2006/relationships/presProps" Target="/ppt/presProps.xml" Id="R3691c5359a3448eb" /><Relationship Type="http://schemas.openxmlformats.org/officeDocument/2006/relationships/tableStyles" Target="/ppt/tableStyles.xml" Id="R47a80dd60a414b73" /><Relationship Type="http://schemas.openxmlformats.org/officeDocument/2006/relationships/slide" Target="/ppt/slides/slide1.xml" Id="R3b45558498c841d0" /><Relationship Type="http://schemas.openxmlformats.org/officeDocument/2006/relationships/slide" Target="/ppt/slides/slide2.xml" Id="R36dc72e0fe444a8a" /><Relationship Type="http://schemas.openxmlformats.org/officeDocument/2006/relationships/slide" Target="/ppt/slides/slide3.xml" Id="R7ef9c905face43cc" /><Relationship Type="http://schemas.openxmlformats.org/officeDocument/2006/relationships/slide" Target="/ppt/slides/slide4.xml" Id="Rdfcba1fd5a70485d" /><Relationship Type="http://schemas.openxmlformats.org/officeDocument/2006/relationships/slide" Target="/ppt/slides/slide5.xml" Id="R12dba3fb21e94d58" /><Relationship Type="http://schemas.openxmlformats.org/officeDocument/2006/relationships/slide" Target="/ppt/slides/slide6.xml" Id="Re6c28c9198b24147" /><Relationship Type="http://schemas.openxmlformats.org/officeDocument/2006/relationships/slide" Target="/ppt/slides/slide7.xml" Id="Ra0d7c3fc66244f6f" /><Relationship Type="http://schemas.openxmlformats.org/officeDocument/2006/relationships/slide" Target="/ppt/slides/slide8.xml" Id="R0382150d0eb64a27" /><Relationship Type="http://schemas.openxmlformats.org/officeDocument/2006/relationships/slide" Target="/ppt/slides/slide9.xml" Id="Ra2c92580278542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0e6b28fa2a4f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5fba65a6ab43a2" /><Relationship Type="http://schemas.openxmlformats.org/officeDocument/2006/relationships/notesMaster" Target="/ppt/notesMasters/notesMaster1.xml" Id="R7712a6acda7249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47fb1eb05a455c" /><Relationship Type="http://schemas.openxmlformats.org/officeDocument/2006/relationships/notesMaster" Target="/ppt/notesMasters/notesMaster1.xml" Id="Rb8e0d92aa44f49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006a939e5a4ef3" /><Relationship Type="http://schemas.openxmlformats.org/officeDocument/2006/relationships/notesMaster" Target="/ppt/notesMasters/notesMaster1.xml" Id="R8cb4025b6a7540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cdc90192e84508" /><Relationship Type="http://schemas.openxmlformats.org/officeDocument/2006/relationships/notesMaster" Target="/ppt/notesMasters/notesMaster1.xml" Id="R6235d1d675ff49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d0fd0fcd4a4ab5" /><Relationship Type="http://schemas.openxmlformats.org/officeDocument/2006/relationships/notesMaster" Target="/ppt/notesMasters/notesMaster1.xml" Id="R74d5e3fbae2e40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7bae3a6a2b4d4e" /><Relationship Type="http://schemas.openxmlformats.org/officeDocument/2006/relationships/notesMaster" Target="/ppt/notesMasters/notesMaster1.xml" Id="Rd3c3f2628e9f4b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2f7d6db1c54657" /><Relationship Type="http://schemas.openxmlformats.org/officeDocument/2006/relationships/notesMaster" Target="/ppt/notesMasters/notesMaster1.xml" Id="R89fba655f7294f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18570ed4cd48d8" /><Relationship Type="http://schemas.openxmlformats.org/officeDocument/2006/relationships/notesMaster" Target="/ppt/notesMasters/notesMaster1.xml" Id="R42c1607d56bc49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06f47e3eac4da4" /><Relationship Type="http://schemas.openxmlformats.org/officeDocument/2006/relationships/notesMaster" Target="/ppt/notesMasters/notesMaster1.xml" Id="R9da639fec7e847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Title. This week covers 2026-09-23 to 2026-09-29.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0:20–1:20 (60 s). Last week we built the Software Database: records of real code, memory access patterns, inputs, machines, and profiles, with query and export interfaces. It stored knowledge but could not yet act on it. This week's question: can an agent's rewrite proposal be carried all the way from a measured bottleneck to a trustworthy result? We chose BFS as the first complete case, because it has two very different starting implementations: upstream GAPBS direction-optimizing BFS, and the scalar top-down BFS from the DX100 accelerator paper, which also lets us target an accelerator.</a:t>
            </a:r>
          </a:p>
          <a:p xmlns:a="http://schemas.openxmlformats.org/drawingml/2006/main">
            <a:r>
              <a:t/>
            </a:r>
          </a:p>
          <a:p xmlns:a="http://schemas.openxmlformats.org/drawingml/2006/main">
            <a:r>
              <a:t>Sources:</a:t>
            </a:r>
          </a:p>
          <a:p xmlns:a="http://schemas.openxmlformats.org/drawingml/2006/main">
            <a:r>
              <a:t>weeklogs/2026-09-24/speaker-notes.md</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1:20–2:30 (70 s). Motivation: the SW and HW ensemble agents, being built by Peter and Josh, will propose rewrites. A proposal is only useful if someone independently applies it, checks it is still correct, and measures it on the exact workload. Problem: source-level guesses and whole-program counters do not tell us where a specific BFS run spends time, and two BFS versions from different origins cannot be compared without a stated baseline. Solution: one public interface that profiles, accepts a proposal, applies it, checks correctness, measures, and stores everything, including failures. Since the live agents are not ready, we use representative proposals that exercise the same real path.</a:t>
            </a:r>
          </a:p>
          <a:p xmlns:a="http://schemas.openxmlformats.org/drawingml/2006/main">
            <a:r>
              <a:t/>
            </a:r>
          </a:p>
          <a:p xmlns:a="http://schemas.openxmlformats.org/drawingml/2006/main">
            <a:r>
              <a:t>Sources:</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2:30–3:50 (80 s). Here is the path with a real example. Profiling finds the hot BFS loop and its memory behavior. The proposal here is a patch for the DX100 scalar BFS: process vertices in chunks of 64 and drop a redundant store after an atomic compare-and-swap. The system applies the patch to an identified source snapshot, compiles it, checks the BFS tree on every timed trial, and measures only the declared region of interest against the unmodified baseline, in paired runs. Everything is stored and retrievable later from a fresh process. Proposals can arrive in two forms: instructions, in natural language or structured, and code, as a patch or annotated source.</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.scratch/bfs-rewrite-evaluation-2026-09-25/spec.md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3:50–5:00 (70 s). The first deliverable covers two starting implementations, two proposal forms, and two graph families, Kronecker and uniform random: eight cases. All workflow interfaces are implemented: profiling hot functions and loops, memory observations, rewrite application with bounded repair, native evaluation, DX100 build, correctness, and profiling. The native CPU cases for one route on each implementation ran end to end on the lab host. The remaining cases need the DX100 simulator or new proposals and are in progress. The acceptance report currently shows 11 of 20 criteria met. The full test suite passed: 2,672 tests, 0 failures.</a:t>
            </a:r>
          </a:p>
          <a:p xmlns:a="http://schemas.openxmlformats.org/drawingml/2006/main">
            <a:r>
              <a:t/>
            </a:r>
          </a:p>
          <a:p xmlns:a="http://schemas.openxmlformats.org/drawingml/2006/main">
            <a:r>
              <a:t>Sources:</a:t>
            </a:r>
          </a:p>
          <a:p xmlns:a="http://schemas.openxmlformats.org/drawingml/2006/main">
            <a:r>
              <a:t>.scratch/bfs-rewrite-evaluation-2026-09-25/map.md</a:t>
            </a:r>
          </a:p>
          <a:p xmlns:a="http://schemas.openxmlformats.org/drawingml/2006/main">
            <a:r>
              <a:t>.scratch/bfs-rewrite-evaluation-2026-09-25/issues/21-coverage-roi-gain-and-handoff.md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5:00–6:30 (90 s). Setup: mbit10, Intel Xeon Gold 6326, one socket, one thread. Ten paired repetitions per graph, baseline and candidate alternating, timing only the BFS region. The protocol requires a speedup of at least 1.05 and a run-to-run spread under 10 percent to call a result. Result: both proposals changed real code and passed correctness on all 30 timed trials per role. Speedups are 1.000 to 1.002, and every 95 percent interval includes 1. Spread was above the 10 percent ceiling, so the verdict is inconclusive. Analysis: these were small edits, a chunk-size change and removing dead work, so no gain is expected; the value is that the pipeline gives a conservative verdict instead of reporting noise as a win.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.scratch/bfs-rewrite-evaluation-2026-09-25/issues/19-upstream-instruction-route-acceptance.md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6:30–8:00 (90 s). Three things slowed us this week. First, getting a proposal from the language-model provider: several attempts timed out, and one returned a patch that did not apply. We added a whole-file edit format, and it produced a candidate that now waits for a build. Second, the DX100 reference and control runs are simulations that take hours; gem5 is single-threaded and deterministic, so we now run several simulations inside one socket lane and plan one replay per source if replays show identical ticks. Third, the shared lab host allows two jobs at once, one per socket, and one socket is often held by another project. We also sped up our harness: a per-trial save fell from 8.7 to 1.0 seconds.</a:t>
            </a:r>
          </a:p>
          <a:p xmlns:a="http://schemas.openxmlformats.org/drawingml/2006/main">
            <a:r>
              <a:t/>
            </a:r>
          </a:p>
          <a:p xmlns:a="http://schemas.openxmlformats.org/drawingml/2006/main">
            <a:r>
              <a:t>Sources:</a:t>
            </a:r>
          </a:p>
          <a:p xmlns:a="http://schemas.openxmlformats.org/drawingml/2006/main">
            <a:r>
              <a:t>.scratch/bfs-rewrite-evaluation-2026-09-25/issues/20-upstream-annotated-route-acceptance.md</a:t>
            </a:r>
          </a:p>
          <a:p xmlns:a="http://schemas.openxmlformats.org/drawingml/2006/main">
            <a:r>
              <a:t>.scratch/bfs-rewrite-evaluation-2026-09-25/resume-plan-20260927.md</a:t>
            </a:r>
          </a:p>
          <a:p xmlns:a="http://schemas.openxmlformats.org/drawingml/2006/main">
            <a:r>
              <a:t>.scratch/bfs-rewrite-evaluation-2026-09-25/issues/18-dx100-patch-route-acceptance.md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8:00–9:30 (90 s). This week we will finish the first deliverable. One: freeze the simulator protocol and complete the DX100 reference and control runs, so accelerated results have an explicit unaccelerated comparison. Two: evaluate the remaining proposal routes, including at least one candidate that uses DX100 from each starting implementation. Three: generate the coverage report across all eight cases and hand the interface to Peter's SW ensemble and Josh's HW ensemble. Then the next question becomes whether proposals that are larger than these small edits produce measurable gains.</a:t>
            </a:r>
          </a:p>
          <a:p xmlns:a="http://schemas.openxmlformats.org/drawingml/2006/main">
            <a:r>
              <a:t/>
            </a:r>
          </a:p>
          <a:p xmlns:a="http://schemas.openxmlformats.org/drawingml/2006/main">
            <a:r>
              <a:t>Sources:</a:t>
            </a:r>
          </a:p>
          <a:p xmlns:a="http://schemas.openxmlformats.org/drawingml/2006/main">
            <a:r>
              <a:t>.scratch/bfs-rewrite-evaluation-2026-09-25/spec.md</a:t>
            </a:r>
          </a:p>
          <a:p xmlns:a="http://schemas.openxmlformats.org/drawingml/2006/main">
            <a:r>
              <a:t>.scratch/bfs-rewrite-evaluation-2026-09-25/map.md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The native protocol was frozen from a one-thread pilot study. Baseline and candidate trials alternate in pairs to reduce drift on a shared host. Correctness is verified outside the timed region. A speedup is claimed only if the lower confidence bound exceeds 1 and the minimum speedup and spread rules pass. The host load is recorded with every run. No hardware counters are available to our account, so profiling uses region timers and Callgrind memory simulation.</a:t>
            </a:r>
          </a:p>
          <a:p xmlns:a="http://schemas.openxmlformats.org/drawingml/2006/main">
            <a:r>
              <a:t/>
            </a:r>
          </a:p>
          <a:p xmlns:a="http://schemas.openxmlformats.org/drawingml/2006/main">
            <a:r>
              <a:t>Sources:</a:t>
            </a:r>
          </a:p>
          <a:p xmlns:a="http://schemas.openxmlformats.org/drawingml/2006/main">
            <a:r>
              <a:t>.scratch/bfs-rewrite-evaluation-2026-09-25/issues/18-dx100-patch-route-acceptance.md</a:t>
            </a:r>
          </a:p>
          <a:p xmlns:a="http://schemas.openxmlformats.org/drawingml/2006/main">
            <a:r>
              <a:t>.claude/rules/remote_server.md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7ab715ca9644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3e539d3c58417b" /><Relationship Type="http://schemas.openxmlformats.org/officeDocument/2006/relationships/slideLayout" Target="/ppt/slideLayouts/slideLayout1.xml" Id="R1d1a3fb52eb74b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1a3fb52eb74b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8cfc75cd614b58" /><Relationship Type="http://schemas.openxmlformats.org/officeDocument/2006/relationships/notesSlide" Target="/ppt/notesSlides/notesSlide1.xml" Id="Rcead6426c87544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6b2cb2f8334e51" /><Relationship Type="http://schemas.openxmlformats.org/officeDocument/2006/relationships/notesSlide" Target="/ppt/notesSlides/notesSlide2.xml" Id="R9e952fb729214a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1ec43eb1d84626" /><Relationship Type="http://schemas.openxmlformats.org/officeDocument/2006/relationships/notesSlide" Target="/ppt/notesSlides/notesSlide3.xml" Id="Rc98d568d28734d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79108ceac94f0c" /><Relationship Type="http://schemas.openxmlformats.org/officeDocument/2006/relationships/notesSlide" Target="/ppt/notesSlides/notesSlide4.xml" Id="R4260b071e95f43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ce480a414448ec" /><Relationship Type="http://schemas.openxmlformats.org/officeDocument/2006/relationships/notesSlide" Target="/ppt/notesSlides/notesSlide5.xml" Id="R75c732db89c848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97cba4738349c8" /><Relationship Type="http://schemas.openxmlformats.org/officeDocument/2006/relationships/notesSlide" Target="/ppt/notesSlides/notesSlide6.xml" Id="R2b438a7e98d74d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41b89f21284967" /><Relationship Type="http://schemas.openxmlformats.org/officeDocument/2006/relationships/notesSlide" Target="/ppt/notesSlides/notesSlide7.xml" Id="R4d0e809788d84e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bbb1367330407e" /><Relationship Type="http://schemas.openxmlformats.org/officeDocument/2006/relationships/notesSlide" Target="/ppt/notesSlides/notesSlide8.xml" Id="R0e99d4de0c61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bce057e8e943d7" /><Relationship Type="http://schemas.openxmlformats.org/officeDocument/2006/relationships/notesSlide" Target="/ppt/notesSlides/notesSlide9.xml" Id="Ra7b6d4b75dad420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81C8C2-B0B5-4F25-9122-8991C04897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0CDAB7-6681-41BF-B5BF-8B037E1F5B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5AFE93-660D-4225-B51B-3120AE9E46D6}"/>
              </a:ext>
            </a:extLst>
          </p:cNvPr>
          <p:cNvSpPr>
            <a:spLocks xmlns:a="http://schemas.openxmlformats.org/drawingml/2006/main" noGrp="1"/>
          </p:cNvSpPr>
          <p:nvPr/>
        </p:nvSpPr>
        <p:spPr>
          <a:xfrm xmlns:a="http://schemas.openxmlformats.org/drawingml/2006/main">
            <a:off x="857250" y="2000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EvolveSWDB weekly update</a:t>
            </a:r>
          </a:p>
        </p:txBody>
      </p:sp>
      <p:sp>
        <p:nvSpPr>
          <p:cNvPr id="4" name="">
            <a:extLst xmlns:a="http://schemas.openxmlformats.org/drawingml/2006/main">
              <a:ext uri="{FF2B5EF4-FFF2-40B4-BE49-F238E27FC236}">
                <a16:creationId xmlns:a16="http://schemas.microsoft.com/office/drawing/2014/main" id="{9315774C-1C29-40F7-867C-55FE6E260B1F}"/>
              </a:ext>
            </a:extLst>
          </p:cNvPr>
          <p:cNvSpPr>
            <a:spLocks xmlns:a="http://schemas.openxmlformats.org/drawingml/2006/main" noGrp="1"/>
          </p:cNvSpPr>
          <p:nvPr/>
        </p:nvSpPr>
        <p:spPr>
          <a:xfrm xmlns:a="http://schemas.openxmlformats.org/drawingml/2006/main">
            <a:off x="85725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CB05"/>
                </a:solidFill>
                <a:latin typeface="Helvetica Neue"/>
                <a:ea typeface="Helvetica Neue"/>
                <a:cs typeface="Helvetica Neue"/>
              </a:defRPr>
            </a:pPr>
            <a:r>
              <a:rPr sz="2250" b="0">
                <a:solidFill>
                  <a:srgbClr val="FFCB05"/>
                </a:solidFill>
                <a:latin typeface="Helvetica Neue"/>
                <a:ea typeface="Helvetica Neue"/>
                <a:cs typeface="Helvetica Neue"/>
              </a:rPr>
              <a:t>From a software database to evaluating BFS rewrites</a:t>
            </a:r>
          </a:p>
        </p:txBody>
      </p:sp>
      <p:sp>
        <p:nvSpPr>
          <p:cNvPr id="5" name="">
            <a:extLst xmlns:a="http://schemas.openxmlformats.org/drawingml/2006/main">
              <a:ext uri="{FF2B5EF4-FFF2-40B4-BE49-F238E27FC236}">
                <a16:creationId xmlns:a16="http://schemas.microsoft.com/office/drawing/2014/main" id="{446FE147-48F2-4B83-A09E-F3C64080B6C6}"/>
              </a:ext>
            </a:extLst>
          </p:cNvPr>
          <p:cNvSpPr>
            <a:spLocks xmlns:a="http://schemas.openxmlformats.org/drawingml/2006/main" noGrp="1"/>
          </p:cNvSpPr>
          <p:nvPr/>
        </p:nvSpPr>
        <p:spPr>
          <a:xfrm xmlns:a="http://schemas.openxmlformats.org/drawingml/2006/main">
            <a:off x="857250" y="4000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Yan-Ru Jhou    2026-09-30</a:t>
            </a:r>
          </a:p>
        </p:txBody>
      </p:sp>
      <p:sp>
        <p:nvSpPr>
          <p:cNvPr id="6" name="">
            <a:extLst xmlns:a="http://schemas.openxmlformats.org/drawingml/2006/main">
              <a:ext uri="{FF2B5EF4-FFF2-40B4-BE49-F238E27FC236}">
                <a16:creationId xmlns:a16="http://schemas.microsoft.com/office/drawing/2014/main" id="{B0263426-8C46-4BE3-BB94-B01CA057B2F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1</a:t>
            </a:r>
          </a:p>
        </p:txBody>
      </p:sp>
    </p:spTree>
    <p:extLst>
      <p:ext uri="{BB962C8B-B14F-4D97-AF65-F5344CB8AC3E}">
        <p14:creationId xmlns:p14="http://schemas.microsoft.com/office/powerpoint/2010/main" val="17631806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A78F55F-EFB9-46AB-814E-59FDAF42918D}"/>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4F9223-03AB-43EA-A426-46A076524B30}"/>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403DC2-1E9A-4BF5-A0A2-804C7B5EF2B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Where we are</a:t>
            </a:r>
          </a:p>
        </p:txBody>
      </p:sp>
      <p:sp>
        <p:nvSpPr>
          <p:cNvPr id="4" name="">
            <a:extLst xmlns:a="http://schemas.openxmlformats.org/drawingml/2006/main">
              <a:ext uri="{FF2B5EF4-FFF2-40B4-BE49-F238E27FC236}">
                <a16:creationId xmlns:a16="http://schemas.microsoft.com/office/drawing/2014/main" id="{B23FEC7F-4137-4E7C-A119-C2DB5F6A068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495842A0-AB2B-4206-A011-6BECB32E74E1}"/>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70541528-2D8B-4174-B0F4-B4A5D97FC2D0}"/>
              </a:ext>
            </a:extLst>
          </p:cNvPr>
          <p:cNvSpPr>
            <a:spLocks xmlns:a="http://schemas.openxmlformats.org/drawingml/2006/main" noGrp="1"/>
          </p:cNvSpPr>
          <p:nvPr/>
        </p:nvSpPr>
        <p:spPr>
          <a:xfrm xmlns:a="http://schemas.openxmlformats.org/drawingml/2006/main">
            <a:off x="60960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Last week</a:t>
            </a:r>
          </a:p>
        </p:txBody>
      </p:sp>
      <p:sp>
        <p:nvSpPr>
          <p:cNvPr id="7" name="">
            <a:extLst xmlns:a="http://schemas.openxmlformats.org/drawingml/2006/main">
              <a:ext uri="{FF2B5EF4-FFF2-40B4-BE49-F238E27FC236}">
                <a16:creationId xmlns:a16="http://schemas.microsoft.com/office/drawing/2014/main" id="{5FD804A6-6759-4A1B-B44D-8ECD5FB4A59C}"/>
              </a:ext>
            </a:extLst>
          </p:cNvPr>
          <p:cNvSpPr>
            <a:spLocks xmlns:a="http://schemas.openxmlformats.org/drawingml/2006/main" noGrp="1"/>
          </p:cNvSpPr>
          <p:nvPr/>
        </p:nvSpPr>
        <p:spPr>
          <a:xfrm xmlns:a="http://schemas.openxmlformats.org/drawingml/2006/main">
            <a:off x="60960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Built the Software Database</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Real code + memory access patterns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Inputs, machine, measured profiles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Query and export for the agents</a:t>
            </a:r>
          </a:p>
        </p:txBody>
      </p:sp>
      <p:sp>
        <p:nvSpPr>
          <p:cNvPr id="8" name="">
            <a:extLst xmlns:a="http://schemas.openxmlformats.org/drawingml/2006/main">
              <a:ext uri="{FF2B5EF4-FFF2-40B4-BE49-F238E27FC236}">
                <a16:creationId xmlns:a16="http://schemas.microsoft.com/office/drawing/2014/main" id="{FDD48F60-10DC-488C-B2E2-77D82C251EBD}"/>
              </a:ext>
            </a:extLst>
          </p:cNvPr>
          <p:cNvSpPr>
            <a:spLocks xmlns:a="http://schemas.openxmlformats.org/drawingml/2006/main" noGrp="1"/>
          </p:cNvSpPr>
          <p:nvPr/>
        </p:nvSpPr>
        <p:spPr>
          <a:xfrm xmlns:a="http://schemas.openxmlformats.org/drawingml/2006/main">
            <a:off x="6572250" y="1333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This week</a:t>
            </a:r>
          </a:p>
        </p:txBody>
      </p:sp>
      <p:sp>
        <p:nvSpPr>
          <p:cNvPr id="9" name="">
            <a:extLst xmlns:a="http://schemas.openxmlformats.org/drawingml/2006/main">
              <a:ext uri="{FF2B5EF4-FFF2-40B4-BE49-F238E27FC236}">
                <a16:creationId xmlns:a16="http://schemas.microsoft.com/office/drawing/2014/main" id="{DEA2742E-C6CE-47C8-81E5-F953C5B0E5FD}"/>
              </a:ext>
            </a:extLst>
          </p:cNvPr>
          <p:cNvSpPr>
            <a:spLocks xmlns:a="http://schemas.openxmlformats.org/drawingml/2006/main" noGrp="1"/>
          </p:cNvSpPr>
          <p:nvPr/>
        </p:nvSpPr>
        <p:spPr>
          <a:xfrm xmlns:a="http://schemas.openxmlformats.org/drawingml/2006/main">
            <a:off x="6572250" y="19050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Use it to evaluate code rewrites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Agent proposes a change to BFS</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We build, check, and measure it</a:t>
            </a:r>
          </a:p>
          <a:p xmlns:a="http://schemas.openxmlformats.org/drawingml/2006/main">
            <a:pPr>
              <a:defRPr sz="1800" b="0">
                <a:solidFill>
                  <a:srgbClr val="1A1A1A"/>
                </a:solidFill>
                <a:latin typeface="Helvetica Neue"/>
                <a:ea typeface="Helvetica Neue"/>
                <a:cs typeface="Helvetica Neue"/>
              </a:defRPr>
            </a:pPr>
            <a:r>
              <a:rPr sz="1800" b="0">
                <a:solidFill>
                  <a:srgbClr val="1A1A1A"/>
                </a:solidFill>
                <a:latin typeface="Helvetica Neue"/>
                <a:ea typeface="Helvetica Neue"/>
                <a:cs typeface="Helvetica Neue"/>
              </a:rPr>
              <a:t>• Native CPU and DX100 simulation</a:t>
            </a:r>
          </a:p>
        </p:txBody>
      </p:sp>
      <p:sp>
        <p:nvSpPr>
          <p:cNvPr id="10" name="">
            <a:extLst xmlns:a="http://schemas.openxmlformats.org/drawingml/2006/main">
              <a:ext uri="{FF2B5EF4-FFF2-40B4-BE49-F238E27FC236}">
                <a16:creationId xmlns:a16="http://schemas.microsoft.com/office/drawing/2014/main" id="{1BB909C5-A777-41DB-A9EC-ED981A65A229}"/>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C6304A-2ACF-4FFB-B027-88A6AA73B6CE}"/>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Question: can a rewrite proposal go from bottleneck to a trustworthy result?</a:t>
            </a:r>
          </a:p>
        </p:txBody>
      </p:sp>
    </p:spTree>
    <p:extLst>
      <p:ext uri="{BB962C8B-B14F-4D97-AF65-F5344CB8AC3E}">
        <p14:creationId xmlns:p14="http://schemas.microsoft.com/office/powerpoint/2010/main" val="14738547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8AC5DD-877E-4719-964A-E58BAA37F51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C60FCB-97A7-4A6E-A359-DB9A6834EC53}"/>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A062A8-10D6-4E0C-913F-77C38AC4CD8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Why an evaluation workflow?</a:t>
            </a:r>
          </a:p>
        </p:txBody>
      </p:sp>
      <p:sp>
        <p:nvSpPr>
          <p:cNvPr id="4" name="">
            <a:extLst xmlns:a="http://schemas.openxmlformats.org/drawingml/2006/main">
              <a:ext uri="{FF2B5EF4-FFF2-40B4-BE49-F238E27FC236}">
                <a16:creationId xmlns:a16="http://schemas.microsoft.com/office/drawing/2014/main" id="{963640F4-5BD8-4297-B183-EB74E823984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279DA319-2D6E-4273-8FB2-7639F12225B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3</a:t>
            </a:r>
          </a:p>
        </p:txBody>
      </p:sp>
      <p:graphicFrame>
        <p:nvGraphicFramePr>
          <p:cNvPr id="14" name=""/>
          <p:cNvGraphicFramePr/>
          <p:nvPr/>
        </p:nvGraphicFramePr>
        <p:xfrm>
          <a:off xmlns:a="http://schemas.openxmlformats.org/drawingml/2006/main" x="533400" y="1333500"/>
          <a:ext xmlns:a="http://schemas.openxmlformats.org/drawingml/2006/main" cx="11125200" cy="3810000"/>
        </p:xfrm>
        <a:graphic xmlns:a="http://schemas.openxmlformats.org/drawingml/2006/main">
          <a:graphicData uri="http://schemas.openxmlformats.org/drawingml/2006/table">
            <a:tbl>
              <a:tblPr/>
              <a:tblGrid>
                <a:gridCol w="2190750"/>
                <a:gridCol w="8934450"/>
              </a:tblGrid>
              <a:tr h="635000">
                <a:tc>
                  <a:txBody>
                    <a:bodyPr/>
                    <a:lstStyle/>
                    <a:p>
                      <a:r>
                        <a:rPr sz="1725" b="1">
                          <a:solidFill>
                            <a:srgbClr val="FFFFFF"/>
                          </a:solidFill>
                          <a:latin typeface="Helvetica Neue"/>
                          <a:ea typeface="Helvetica Neue"/>
                          <a:cs typeface="Helvetica Neue"/>
                        </a:rPr>
                        <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means for us</a:t>
                      </a:r>
                    </a:p>
                  </a:txBody>
                  <a:tcPr marL="91440" marR="91440" marT="45720" marB="45720">
                    <a:solidFill>
                      <a:srgbClr val="00274C"/>
                    </a:solidFill>
                  </a:tcPr>
                </a:tc>
              </a:tr>
              <a:tr h="635000">
                <a:tc>
                  <a:txBody>
                    <a:bodyPr/>
                    <a:lstStyle/>
                    <a:p>
                      <a:r>
                        <a:rPr sz="1725" b="0">
                          <a:solidFill>
                            <a:srgbClr val="1A1A1A"/>
                          </a:solidFill>
                          <a:latin typeface="Helvetica Neue"/>
                          <a:ea typeface="Helvetica Neue"/>
                          <a:cs typeface="Helvetica Neue"/>
                        </a:rPr>
                        <a:t>Motivation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Agents will propose rewrites; each needs a trustworthy verdict</a:t>
                      </a:r>
                    </a:p>
                  </a:txBody>
                  <a:tcPr marL="91440" marR="91440" marT="45720" marB="45720">
                    <a:solidFill>
                      <a:srgbClr val="FFFFFF"/>
                    </a:solidFill>
                  </a:tcPr>
                </a:tc>
              </a:tr>
              <a:tr h="635000">
                <a:tc>
                  <a:txBody>
                    <a:bodyPr/>
                    <a:lstStyle/>
                    <a:p>
                      <a:r>
                        <a:rPr sz="1725" b="0">
                          <a:solidFill>
                            <a:srgbClr val="1A1A1A"/>
                          </a:solidFill>
                          <a:latin typeface="Helvetica Neue"/>
                          <a:ea typeface="Helvetica Neue"/>
                          <a:cs typeface="Helvetica Neue"/>
                        </a:rPr>
                        <a:t>Problem</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Guesses and aggregate counters do not locate a workload’s hot code</a:t>
                      </a:r>
                    </a:p>
                  </a:txBody>
                  <a:tcPr marL="91440" marR="91440" marT="45720" marB="45720">
                    <a:solidFill>
                      <a:srgbClr val="F4F4F4"/>
                    </a:solidFill>
                  </a:tcPr>
                </a:tc>
              </a:tr>
              <a:tr h="635000">
                <a:tc>
                  <a:txBody>
                    <a:bodyPr/>
                    <a:lstStyle/>
                    <a:p>
                      <a:r>
                        <a:rPr sz="1725" b="0">
                          <a:solidFill>
                            <a:srgbClr val="1A1A1A"/>
                          </a:solidFill>
                          <a:latin typeface="Helvetica Neue"/>
                          <a:ea typeface="Helvetica Neue"/>
                          <a:cs typeface="Helvetica Neue"/>
                        </a:rPr>
                        <a:t>Problem</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Two BFS origins: speedup is ambiguous without an explicit baseline</a:t>
                      </a:r>
                    </a:p>
                  </a:txBody>
                  <a:tcPr marL="91440" marR="91440" marT="45720" marB="45720">
                    <a:solidFill>
                      <a:srgbClr val="FFFFFF"/>
                    </a:solidFill>
                  </a:tcPr>
                </a:tc>
              </a:tr>
              <a:tr h="635000">
                <a:tc>
                  <a:txBody>
                    <a:bodyPr/>
                    <a:lstStyle/>
                    <a:p>
                      <a:r>
                        <a:rPr sz="1725" b="0">
                          <a:solidFill>
                            <a:srgbClr val="1A1A1A"/>
                          </a:solidFill>
                          <a:latin typeface="Helvetica Neue"/>
                          <a:ea typeface="Helvetica Neue"/>
                          <a:cs typeface="Helvetica Neue"/>
                        </a:rPr>
                        <a:t>Solution</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One workflow: profile → propose → apply → check → measure → store</a:t>
                      </a:r>
                    </a:p>
                  </a:txBody>
                  <a:tcPr marL="91440" marR="91440" marT="45720" marB="45720">
                    <a:solidFill>
                      <a:srgbClr val="F4F4F4"/>
                    </a:solidFill>
                  </a:tcPr>
                </a:tc>
              </a:tr>
              <a:tr h="635000">
                <a:tc>
                  <a:txBody>
                    <a:bodyPr/>
                    <a:lstStyle/>
                    <a:p>
                      <a:r>
                        <a:rPr sz="1725" b="0">
                          <a:solidFill>
                            <a:srgbClr val="1A1A1A"/>
                          </a:solidFill>
                          <a:latin typeface="Helvetica Neue"/>
                          <a:ea typeface="Helvetica Neue"/>
                          <a:cs typeface="Helvetica Neue"/>
                        </a:rPr>
                        <a:t>Stand-in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Representative proposals until the live agents are ready</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57ECC05-9655-4EF5-ACB9-28AD50D9DC82}"/>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BD2203-8840-4772-90CE-F6C6B486FC54}"/>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Failures and regressions are kept too, not only wins.</a:t>
            </a:r>
          </a:p>
        </p:txBody>
      </p:sp>
    </p:spTree>
    <p:extLst>
      <p:ext uri="{BB962C8B-B14F-4D97-AF65-F5344CB8AC3E}">
        <p14:creationId xmlns:p14="http://schemas.microsoft.com/office/powerpoint/2010/main" val="5902507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7137C2-4E1A-4D01-BFB5-B7C94F08493B}"/>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2B1230-ED75-4688-94AE-C2BA678042A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8C1395-CBE2-40BA-A29C-F4CFD915404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workflow on one example</a:t>
            </a:r>
          </a:p>
        </p:txBody>
      </p:sp>
      <p:sp>
        <p:nvSpPr>
          <p:cNvPr id="4" name="">
            <a:extLst xmlns:a="http://schemas.openxmlformats.org/drawingml/2006/main">
              <a:ext uri="{FF2B5EF4-FFF2-40B4-BE49-F238E27FC236}">
                <a16:creationId xmlns:a16="http://schemas.microsoft.com/office/drawing/2014/main" id="{A5D45155-6EFA-4C82-A656-5D67AD918B9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DD159447-B851-4435-90AE-9569BC8AA09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163356BA-0C6C-4BBB-8341-FCBC24DAA9BB}"/>
              </a:ext>
            </a:extLst>
          </p:cNvPr>
          <p:cNvSpPr>
            <a:spLocks xmlns:a="http://schemas.openxmlformats.org/drawingml/2006/main" noGrp="1"/>
          </p:cNvSpPr>
          <p:nvPr/>
        </p:nvSpPr>
        <p:spPr>
          <a:xfrm xmlns:a="http://schemas.openxmlformats.org/drawingml/2006/main">
            <a:off x="381000" y="1428750"/>
            <a:ext cx="1571625" cy="7620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Profile</a:t>
            </a:r>
          </a:p>
        </p:txBody>
      </p:sp>
      <p:sp>
        <p:nvSpPr>
          <p:cNvPr id="7" name="">
            <a:extLst xmlns:a="http://schemas.openxmlformats.org/drawingml/2006/main">
              <a:ext uri="{FF2B5EF4-FFF2-40B4-BE49-F238E27FC236}">
                <a16:creationId xmlns:a16="http://schemas.microsoft.com/office/drawing/2014/main" id="{AE97C65C-850A-4FE2-AF93-110DAF5A42E6}"/>
              </a:ext>
            </a:extLst>
          </p:cNvPr>
          <p:cNvSpPr>
            <a:spLocks xmlns:a="http://schemas.openxmlformats.org/drawingml/2006/main" noGrp="1"/>
          </p:cNvSpPr>
          <p:nvPr/>
        </p:nvSpPr>
        <p:spPr>
          <a:xfrm xmlns:a="http://schemas.openxmlformats.org/drawingml/2006/main">
            <a:off x="2333625" y="1428750"/>
            <a:ext cx="1571625" cy="76200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Propose</a:t>
            </a:r>
          </a:p>
        </p:txBody>
      </p:sp>
      <p:sp>
        <p:nvSpPr>
          <p:cNvPr id="8" name="">
            <a:extLst xmlns:a="http://schemas.openxmlformats.org/drawingml/2006/main">
              <a:ext uri="{FF2B5EF4-FFF2-40B4-BE49-F238E27FC236}">
                <a16:creationId xmlns:a16="http://schemas.microsoft.com/office/drawing/2014/main" id="{E70BDD1B-852B-4FE4-9DA0-84D4C56916BC}"/>
              </a:ext>
            </a:extLst>
          </p:cNvPr>
          <p:cNvSpPr>
            <a:spLocks xmlns:a="http://schemas.openxmlformats.org/drawingml/2006/main" noGrp="1"/>
          </p:cNvSpPr>
          <p:nvPr/>
        </p:nvSpPr>
        <p:spPr>
          <a:xfrm xmlns:a="http://schemas.openxmlformats.org/drawingml/2006/main">
            <a:off x="4286250" y="1428750"/>
            <a:ext cx="1571625" cy="7620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Apply</a:t>
            </a:r>
          </a:p>
        </p:txBody>
      </p:sp>
      <p:sp>
        <p:nvSpPr>
          <p:cNvPr id="9" name="">
            <a:extLst xmlns:a="http://schemas.openxmlformats.org/drawingml/2006/main">
              <a:ext uri="{FF2B5EF4-FFF2-40B4-BE49-F238E27FC236}">
                <a16:creationId xmlns:a16="http://schemas.microsoft.com/office/drawing/2014/main" id="{F2D95B10-804C-4942-9494-79344C802930}"/>
              </a:ext>
            </a:extLst>
          </p:cNvPr>
          <p:cNvSpPr>
            <a:spLocks xmlns:a="http://schemas.openxmlformats.org/drawingml/2006/main" noGrp="1"/>
          </p:cNvSpPr>
          <p:nvPr/>
        </p:nvSpPr>
        <p:spPr>
          <a:xfrm xmlns:a="http://schemas.openxmlformats.org/drawingml/2006/main">
            <a:off x="6238875" y="1428750"/>
            <a:ext cx="1571625" cy="7620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Check</a:t>
            </a:r>
          </a:p>
        </p:txBody>
      </p:sp>
      <p:sp>
        <p:nvSpPr>
          <p:cNvPr id="10" name="">
            <a:extLst xmlns:a="http://schemas.openxmlformats.org/drawingml/2006/main">
              <a:ext uri="{FF2B5EF4-FFF2-40B4-BE49-F238E27FC236}">
                <a16:creationId xmlns:a16="http://schemas.microsoft.com/office/drawing/2014/main" id="{E4EB5465-BB2C-4965-B450-A338E5F934C7}"/>
              </a:ext>
            </a:extLst>
          </p:cNvPr>
          <p:cNvSpPr>
            <a:spLocks xmlns:a="http://schemas.openxmlformats.org/drawingml/2006/main" noGrp="1"/>
          </p:cNvSpPr>
          <p:nvPr/>
        </p:nvSpPr>
        <p:spPr>
          <a:xfrm xmlns:a="http://schemas.openxmlformats.org/drawingml/2006/main">
            <a:off x="8191500" y="1428750"/>
            <a:ext cx="1571625" cy="7620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Measure</a:t>
            </a:r>
          </a:p>
        </p:txBody>
      </p:sp>
      <p:sp>
        <p:nvSpPr>
          <p:cNvPr id="11" name="">
            <a:extLst xmlns:a="http://schemas.openxmlformats.org/drawingml/2006/main">
              <a:ext uri="{FF2B5EF4-FFF2-40B4-BE49-F238E27FC236}">
                <a16:creationId xmlns:a16="http://schemas.microsoft.com/office/drawing/2014/main" id="{50C6A090-E14D-4262-94C0-A622AEF7256C}"/>
              </a:ext>
            </a:extLst>
          </p:cNvPr>
          <p:cNvSpPr>
            <a:spLocks xmlns:a="http://schemas.openxmlformats.org/drawingml/2006/main" noGrp="1"/>
          </p:cNvSpPr>
          <p:nvPr/>
        </p:nvSpPr>
        <p:spPr>
          <a:xfrm xmlns:a="http://schemas.openxmlformats.org/drawingml/2006/main">
            <a:off x="10144125" y="1428750"/>
            <a:ext cx="1571625" cy="7620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Store</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1952625" y="1809750"/>
            <a:ext cx="3810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3905250" y="1809750"/>
            <a:ext cx="3810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5857875" y="1809750"/>
            <a:ext cx="3810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7810500" y="1809750"/>
            <a:ext cx="3810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a:off x="9763125" y="1809750"/>
            <a:ext cx="3810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sp>
        <p:nvSpPr>
          <p:cNvPr id="17" name="">
            <a:extLst xmlns:a="http://schemas.openxmlformats.org/drawingml/2006/main">
              <a:ext uri="{FF2B5EF4-FFF2-40B4-BE49-F238E27FC236}">
                <a16:creationId xmlns:a16="http://schemas.microsoft.com/office/drawing/2014/main" id="{A50AA9CF-49D5-4B68-AA3E-19B08F352801}"/>
              </a:ext>
            </a:extLst>
          </p:cNvPr>
          <p:cNvSpPr>
            <a:spLocks xmlns:a="http://schemas.openxmlformats.org/drawingml/2006/main" noGrp="1"/>
          </p:cNvSpPr>
          <p:nvPr/>
        </p:nvSpPr>
        <p:spPr>
          <a:xfrm xmlns:a="http://schemas.openxmlformats.org/drawingml/2006/main">
            <a:off x="381000" y="2381250"/>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Find hot loop</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 memory behavior</a:t>
            </a:r>
          </a:p>
        </p:txBody>
      </p:sp>
      <p:sp>
        <p:nvSpPr>
          <p:cNvPr id="18" name="">
            <a:extLst xmlns:a="http://schemas.openxmlformats.org/drawingml/2006/main">
              <a:ext uri="{FF2B5EF4-FFF2-40B4-BE49-F238E27FC236}">
                <a16:creationId xmlns:a16="http://schemas.microsoft.com/office/drawing/2014/main" id="{25770B4C-D35B-4252-A3FF-53B7C2E18A8E}"/>
              </a:ext>
            </a:extLst>
          </p:cNvPr>
          <p:cNvSpPr>
            <a:spLocks xmlns:a="http://schemas.openxmlformats.org/drawingml/2006/main" noGrp="1"/>
          </p:cNvSpPr>
          <p:nvPr/>
        </p:nvSpPr>
        <p:spPr>
          <a:xfrm xmlns:a="http://schemas.openxmlformats.org/drawingml/2006/main">
            <a:off x="2333625" y="2381250"/>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Patch: 64-vertex</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chunks, drop</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redundant store</a:t>
            </a:r>
          </a:p>
        </p:txBody>
      </p:sp>
      <p:sp>
        <p:nvSpPr>
          <p:cNvPr id="19" name="">
            <a:extLst xmlns:a="http://schemas.openxmlformats.org/drawingml/2006/main">
              <a:ext uri="{FF2B5EF4-FFF2-40B4-BE49-F238E27FC236}">
                <a16:creationId xmlns:a16="http://schemas.microsoft.com/office/drawing/2014/main" id="{CF5DDDCE-63A2-48CB-A704-7997962993C5}"/>
              </a:ext>
            </a:extLst>
          </p:cNvPr>
          <p:cNvSpPr>
            <a:spLocks xmlns:a="http://schemas.openxmlformats.org/drawingml/2006/main" noGrp="1"/>
          </p:cNvSpPr>
          <p:nvPr/>
        </p:nvSpPr>
        <p:spPr>
          <a:xfrm xmlns:a="http://schemas.openxmlformats.org/drawingml/2006/main">
            <a:off x="4286250" y="2381250"/>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Build candidate</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from exact source</a:t>
            </a:r>
          </a:p>
        </p:txBody>
      </p:sp>
      <p:sp>
        <p:nvSpPr>
          <p:cNvPr id="20" name="">
            <a:extLst xmlns:a="http://schemas.openxmlformats.org/drawingml/2006/main">
              <a:ext uri="{FF2B5EF4-FFF2-40B4-BE49-F238E27FC236}">
                <a16:creationId xmlns:a16="http://schemas.microsoft.com/office/drawing/2014/main" id="{E1940E7E-AEDD-4B6D-8A3F-20F29CF370A8}"/>
              </a:ext>
            </a:extLst>
          </p:cNvPr>
          <p:cNvSpPr>
            <a:spLocks xmlns:a="http://schemas.openxmlformats.org/drawingml/2006/main" noGrp="1"/>
          </p:cNvSpPr>
          <p:nvPr/>
        </p:nvSpPr>
        <p:spPr>
          <a:xfrm xmlns:a="http://schemas.openxmlformats.org/drawingml/2006/main">
            <a:off x="6238875" y="2381250"/>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BFS tree valid</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on every trial</a:t>
            </a:r>
          </a:p>
        </p:txBody>
      </p:sp>
      <p:sp>
        <p:nvSpPr>
          <p:cNvPr id="21" name="">
            <a:extLst xmlns:a="http://schemas.openxmlformats.org/drawingml/2006/main">
              <a:ext uri="{FF2B5EF4-FFF2-40B4-BE49-F238E27FC236}">
                <a16:creationId xmlns:a16="http://schemas.microsoft.com/office/drawing/2014/main" id="{391EA96D-6B9A-4734-A402-B42701858D7E}"/>
              </a:ext>
            </a:extLst>
          </p:cNvPr>
          <p:cNvSpPr>
            <a:spLocks xmlns:a="http://schemas.openxmlformats.org/drawingml/2006/main" noGrp="1"/>
          </p:cNvSpPr>
          <p:nvPr/>
        </p:nvSpPr>
        <p:spPr>
          <a:xfrm xmlns:a="http://schemas.openxmlformats.org/drawingml/2006/main">
            <a:off x="8191500" y="2381250"/>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Paired timing</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vs. baseline</a:t>
            </a:r>
          </a:p>
        </p:txBody>
      </p:sp>
      <p:sp>
        <p:nvSpPr>
          <p:cNvPr id="22" name="">
            <a:extLst xmlns:a="http://schemas.openxmlformats.org/drawingml/2006/main">
              <a:ext uri="{FF2B5EF4-FFF2-40B4-BE49-F238E27FC236}">
                <a16:creationId xmlns:a16="http://schemas.microsoft.com/office/drawing/2014/main" id="{7351E29B-D2D4-4C42-8E56-0999A1AE2AF9}"/>
              </a:ext>
            </a:extLst>
          </p:cNvPr>
          <p:cNvSpPr>
            <a:spLocks xmlns:a="http://schemas.openxmlformats.org/drawingml/2006/main" noGrp="1"/>
          </p:cNvSpPr>
          <p:nvPr/>
        </p:nvSpPr>
        <p:spPr>
          <a:xfrm xmlns:a="http://schemas.openxmlformats.org/drawingml/2006/main">
            <a:off x="10144125" y="2381250"/>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Result kept,</a:t>
            </a:r>
          </a:p>
          <a:p xmlns:a="http://schemas.openxmlformats.org/drawingml/2006/main">
            <a:pPr algn="ctr">
              <a:defRPr sz="1350" b="0">
                <a:solidFill>
                  <a:srgbClr val="1A1A1A"/>
                </a:solidFill>
                <a:latin typeface="Helvetica Neue"/>
                <a:ea typeface="Helvetica Neue"/>
                <a:cs typeface="Helvetica Neue"/>
              </a:defRPr>
            </a:pPr>
            <a:r>
              <a:rPr sz="1350" b="0">
                <a:solidFill>
                  <a:srgbClr val="1A1A1A"/>
                </a:solidFill>
                <a:latin typeface="Helvetica Neue"/>
                <a:ea typeface="Helvetica Neue"/>
                <a:cs typeface="Helvetica Neue"/>
              </a:rPr>
              <a:t>incl. failures</a:t>
            </a:r>
          </a:p>
        </p:txBody>
      </p:sp>
      <p:sp>
        <p:nvSpPr>
          <p:cNvPr id="23" name="">
            <a:extLst xmlns:a="http://schemas.openxmlformats.org/drawingml/2006/main">
              <a:ext uri="{FF2B5EF4-FFF2-40B4-BE49-F238E27FC236}">
                <a16:creationId xmlns:a16="http://schemas.microsoft.com/office/drawing/2014/main" id="{56A46752-A4EE-4BE4-9813-DC2497ED75B9}"/>
              </a:ext>
            </a:extLst>
          </p:cNvPr>
          <p:cNvSpPr>
            <a:spLocks xmlns:a="http://schemas.openxmlformats.org/drawingml/2006/main" noGrp="1"/>
          </p:cNvSpPr>
          <p:nvPr/>
        </p:nvSpPr>
        <p:spPr>
          <a:xfrm xmlns:a="http://schemas.openxmlformats.org/drawingml/2006/main">
            <a:off x="609600" y="40005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Two proposal forms</a:t>
            </a:r>
          </a:p>
        </p:txBody>
      </p:sp>
      <p:sp>
        <p:nvSpPr>
          <p:cNvPr id="24" name="">
            <a:extLst xmlns:a="http://schemas.openxmlformats.org/drawingml/2006/main">
              <a:ext uri="{FF2B5EF4-FFF2-40B4-BE49-F238E27FC236}">
                <a16:creationId xmlns:a16="http://schemas.microsoft.com/office/drawing/2014/main" id="{36E2A0BB-742C-4FFA-B54C-95E795693C10}"/>
              </a:ext>
            </a:extLst>
          </p:cNvPr>
          <p:cNvSpPr>
            <a:spLocks xmlns:a="http://schemas.openxmlformats.org/drawingml/2006/main" noGrp="1"/>
          </p:cNvSpPr>
          <p:nvPr/>
        </p:nvSpPr>
        <p:spPr>
          <a:xfrm xmlns:a="http://schemas.openxmlformats.org/drawingml/2006/main">
            <a:off x="609600" y="44767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A1A1A"/>
                </a:solidFill>
                <a:latin typeface="Helvetica Neue"/>
                <a:ea typeface="Helvetica Neue"/>
                <a:cs typeface="Helvetica Neue"/>
              </a:defRPr>
            </a:pPr>
            <a:r>
              <a:rPr sz="1725" b="0">
                <a:solidFill>
                  <a:srgbClr val="1A1A1A"/>
                </a:solidFill>
                <a:latin typeface="Helvetica Neue"/>
                <a:ea typeface="Helvetica Neue"/>
                <a:cs typeface="Helvetica Neue"/>
              </a:rPr>
              <a:t>Instructions: natural language or structured steps</a:t>
            </a:r>
          </a:p>
          <a:p xmlns:a="http://schemas.openxmlformats.org/drawingml/2006/main">
            <a:pPr>
              <a:defRPr sz="1725" b="0">
                <a:solidFill>
                  <a:srgbClr val="1A1A1A"/>
                </a:solidFill>
                <a:latin typeface="Helvetica Neue"/>
                <a:ea typeface="Helvetica Neue"/>
                <a:cs typeface="Helvetica Neue"/>
              </a:defRPr>
            </a:pPr>
            <a:r>
              <a:rPr sz="1725" b="0">
                <a:solidFill>
                  <a:srgbClr val="1A1A1A"/>
                </a:solidFill>
                <a:latin typeface="Helvetica Neue"/>
                <a:ea typeface="Helvetica Neue"/>
                <a:cs typeface="Helvetica Neue"/>
              </a:rPr>
              <a:t>Code: a patch or annotated source</a:t>
            </a:r>
          </a:p>
        </p:txBody>
      </p:sp>
      <p:sp>
        <p:nvSpPr>
          <p:cNvPr id="25" name="">
            <a:extLst xmlns:a="http://schemas.openxmlformats.org/drawingml/2006/main">
              <a:ext uri="{FF2B5EF4-FFF2-40B4-BE49-F238E27FC236}">
                <a16:creationId xmlns:a16="http://schemas.microsoft.com/office/drawing/2014/main" id="{602F1006-275F-4985-BB52-0CFE3642D577}"/>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F474146-CEF3-4064-8AF5-956078B1AEF5}"/>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The system never picks its own optimization; it evaluates the one proposed.</a:t>
            </a:r>
          </a:p>
        </p:txBody>
      </p:sp>
    </p:spTree>
    <p:extLst>
      <p:ext uri="{BB962C8B-B14F-4D97-AF65-F5344CB8AC3E}">
        <p14:creationId xmlns:p14="http://schemas.microsoft.com/office/powerpoint/2010/main" val="21156696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CABB5F-2905-4A1A-8811-91AF027F240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9FE9C4-E14F-49E1-9165-344D7AB71B8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42F43A-D22B-46E5-8680-1474F7E557E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What we have done this week</a:t>
            </a:r>
          </a:p>
        </p:txBody>
      </p:sp>
      <p:sp>
        <p:nvSpPr>
          <p:cNvPr id="4" name="">
            <a:extLst xmlns:a="http://schemas.openxmlformats.org/drawingml/2006/main">
              <a:ext uri="{FF2B5EF4-FFF2-40B4-BE49-F238E27FC236}">
                <a16:creationId xmlns:a16="http://schemas.microsoft.com/office/drawing/2014/main" id="{15811C4D-76D0-49B0-BB9E-475A6D0D65D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EB4BA2DF-4333-4C94-959D-334EEF19431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5</a:t>
            </a:r>
          </a:p>
        </p:txBody>
      </p:sp>
      <p:graphicFrame>
        <p:nvGraphicFramePr>
          <p:cNvPr id="15" name=""/>
          <p:cNvGraphicFramePr/>
          <p:nvPr/>
        </p:nvGraphicFramePr>
        <p:xfrm>
          <a:off xmlns:a="http://schemas.openxmlformats.org/drawingml/2006/main" x="533400" y="1333500"/>
          <a:ext xmlns:a="http://schemas.openxmlformats.org/drawingml/2006/main" cx="11125200" cy="3619500"/>
        </p:xfrm>
        <a:graphic xmlns:a="http://schemas.openxmlformats.org/drawingml/2006/main">
          <a:graphicData uri="http://schemas.openxmlformats.org/drawingml/2006/table">
            <a:tbl>
              <a:tblPr/>
              <a:tblGrid>
                <a:gridCol w="8572500"/>
                <a:gridCol w="2552700"/>
              </a:tblGrid>
              <a:tr h="603250">
                <a:tc>
                  <a:txBody>
                    <a:bodyPr/>
                    <a:lstStyle/>
                    <a:p>
                      <a:r>
                        <a:rPr sz="1650" b="1">
                          <a:solidFill>
                            <a:srgbClr val="FFFFFF"/>
                          </a:solidFill>
                          <a:latin typeface="Helvetica Neue"/>
                          <a:ea typeface="Helvetica Neue"/>
                          <a:cs typeface="Helvetica Neue"/>
                        </a:rPr>
                        <a:t>Area</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Status</a:t>
                      </a:r>
                    </a:p>
                  </a:txBody>
                  <a:tcPr marL="91440" marR="91440" marT="45720" marB="45720">
                    <a:solidFill>
                      <a:srgbClr val="00274C"/>
                    </a:solidFill>
                  </a:tcPr>
                </a:tc>
              </a:tr>
              <a:tr h="603250">
                <a:tc>
                  <a:txBody>
                    <a:bodyPr/>
                    <a:lstStyle/>
                    <a:p>
                      <a:r>
                        <a:rPr sz="1650" b="0">
                          <a:solidFill>
                            <a:srgbClr val="1A1A1A"/>
                          </a:solidFill>
                          <a:latin typeface="Helvetica Neue"/>
                          <a:ea typeface="Helvetica Neue"/>
                          <a:cs typeface="Helvetica Neue"/>
                        </a:rPr>
                        <a:t>Workflow interfaces (profile, apply, check, measure, store)</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Done</a:t>
                      </a:r>
                    </a:p>
                  </a:txBody>
                  <a:tcPr marL="91440" marR="91440" marT="45720" marB="45720">
                    <a:solidFill>
                      <a:srgbClr val="FFFFFF"/>
                    </a:solidFill>
                  </a:tcPr>
                </a:tc>
              </a:tr>
              <a:tr h="603250">
                <a:tc>
                  <a:txBody>
                    <a:bodyPr/>
                    <a:lstStyle/>
                    <a:p>
                      <a:r>
                        <a:rPr sz="1650" b="0">
                          <a:solidFill>
                            <a:srgbClr val="1A1A1A"/>
                          </a:solidFill>
                          <a:latin typeface="Helvetica Neue"/>
                          <a:ea typeface="Helvetica Neue"/>
                          <a:cs typeface="Helvetica Neue"/>
                        </a:rPr>
                        <a:t>DX100 build, correctness, profiling support</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Done</a:t>
                      </a:r>
                    </a:p>
                  </a:txBody>
                  <a:tcPr marL="91440" marR="91440" marT="45720" marB="45720">
                    <a:solidFill>
                      <a:srgbClr val="F4F4F4"/>
                    </a:solidFill>
                  </a:tcPr>
                </a:tc>
              </a:tr>
              <a:tr h="603250">
                <a:tc>
                  <a:txBody>
                    <a:bodyPr/>
                    <a:lstStyle/>
                    <a:p>
                      <a:r>
                        <a:rPr sz="1650" b="0">
                          <a:solidFill>
                            <a:srgbClr val="1A1A1A"/>
                          </a:solidFill>
                          <a:latin typeface="Helvetica Neue"/>
                          <a:ea typeface="Helvetica Neue"/>
                          <a:cs typeface="Helvetica Neue"/>
                        </a:rPr>
                        <a:t>Native runs: DX100 patch route, upstream instruction route</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Done</a:t>
                      </a:r>
                    </a:p>
                  </a:txBody>
                  <a:tcPr marL="91440" marR="91440" marT="45720" marB="45720">
                    <a:solidFill>
                      <a:srgbClr val="FFFFFF"/>
                    </a:solidFill>
                  </a:tcPr>
                </a:tc>
              </a:tr>
              <a:tr h="603250">
                <a:tc>
                  <a:txBody>
                    <a:bodyPr/>
                    <a:lstStyle/>
                    <a:p>
                      <a:r>
                        <a:rPr sz="1650" b="0">
                          <a:solidFill>
                            <a:srgbClr val="1A1A1A"/>
                          </a:solidFill>
                          <a:latin typeface="Helvetica Neue"/>
                          <a:ea typeface="Helvetica Neue"/>
                          <a:cs typeface="Helvetica Neue"/>
                        </a:rPr>
                        <a:t>Remaining routes and DX100 simulation runs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In progress</a:t>
                      </a:r>
                    </a:p>
                  </a:txBody>
                  <a:tcPr marL="91440" marR="91440" marT="45720" marB="45720">
                    <a:solidFill>
                      <a:srgbClr val="F4F4F4"/>
                    </a:solidFill>
                  </a:tcPr>
                </a:tc>
              </a:tr>
              <a:tr h="603250">
                <a:tc>
                  <a:txBody>
                    <a:bodyPr/>
                    <a:lstStyle/>
                    <a:p>
                      <a:r>
                        <a:rPr sz="1650" b="0">
                          <a:solidFill>
                            <a:srgbClr val="1A1A1A"/>
                          </a:solidFill>
                          <a:latin typeface="Helvetica Neue"/>
                          <a:ea typeface="Helvetica Neue"/>
                          <a:cs typeface="Helvetica Neue"/>
                        </a:rPr>
                        <a:t>Final coverage report and handoff</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In progress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18A0D36-31BE-4949-AB28-DCAE84BB0ECF}"/>
              </a:ext>
            </a:extLst>
          </p:cNvPr>
          <p:cNvSpPr>
            <a:spLocks xmlns:a="http://schemas.openxmlformats.org/drawingml/2006/main" noGrp="1"/>
          </p:cNvSpPr>
          <p:nvPr/>
        </p:nvSpPr>
        <p:spPr>
          <a:xfrm xmlns:a="http://schemas.openxmlformats.org/drawingml/2006/main">
            <a:off x="533400" y="50958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2 implementations × 2 proposal forms × 2 graph families = 8 cases</a:t>
            </a:r>
          </a:p>
        </p:txBody>
      </p:sp>
      <p:sp>
        <p:nvSpPr>
          <p:cNvPr id="8" name="">
            <a:extLst xmlns:a="http://schemas.openxmlformats.org/drawingml/2006/main">
              <a:ext uri="{FF2B5EF4-FFF2-40B4-BE49-F238E27FC236}">
                <a16:creationId xmlns:a16="http://schemas.microsoft.com/office/drawing/2014/main" id="{3269A638-A9E3-4150-B842-409F8F66EE3C}"/>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8B1572-A489-49F1-BBEE-1D5F5653796F}"/>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Acceptance: 11 of 20 criteria met. Test suite: 2,672 passed, 0 failed.</a:t>
            </a:r>
          </a:p>
        </p:txBody>
      </p:sp>
    </p:spTree>
    <p:extLst>
      <p:ext uri="{BB962C8B-B14F-4D97-AF65-F5344CB8AC3E}">
        <p14:creationId xmlns:p14="http://schemas.microsoft.com/office/powerpoint/2010/main" val="13681743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4693FB-3210-4F7B-B16A-F1C466721E8D}"/>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8A673F-3019-43CF-919B-EA51EA86842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80CDD9-94EF-4BC4-841D-727526DD3BF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First native results: no measurable change</a:t>
            </a:r>
          </a:p>
        </p:txBody>
      </p:sp>
      <p:sp>
        <p:nvSpPr>
          <p:cNvPr id="4" name="">
            <a:extLst xmlns:a="http://schemas.openxmlformats.org/drawingml/2006/main">
              <a:ext uri="{FF2B5EF4-FFF2-40B4-BE49-F238E27FC236}">
                <a16:creationId xmlns:a16="http://schemas.microsoft.com/office/drawing/2014/main" id="{9E798C51-8D4E-480F-88D0-253CCE7A3F7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8E574E8A-2CB2-44A2-8A82-33F45E46CEB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8A3FE636-B528-4496-B5C9-88FC3B1E3FF8}"/>
              </a:ext>
            </a:extLst>
          </p:cNvPr>
          <p:cNvSpPr>
            <a:spLocks xmlns:a="http://schemas.openxmlformats.org/drawingml/2006/main" noGrp="1"/>
          </p:cNvSpPr>
          <p:nvPr/>
        </p:nvSpPr>
        <p:spPr>
          <a:xfrm xmlns:a="http://schemas.openxmlformats.org/drawingml/2006/main">
            <a:off x="533400" y="11430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mbit10 Xeon Gold 6326, 1 thread, 10 paired repetitions, BFS region only</a:t>
            </a:r>
          </a:p>
        </p:txBody>
      </p:sp>
      <p:graphicFrame>
        <p:nvGraphicFramePr>
          <p:cNvPr id="17" name=""/>
          <p:cNvGraphicFramePr/>
          <p:nvPr/>
        </p:nvGraphicFramePr>
        <p:xfrm>
          <a:off xmlns:a="http://schemas.openxmlformats.org/drawingml/2006/main" x="533400" y="1600200"/>
          <a:ext xmlns:a="http://schemas.openxmlformats.org/drawingml/2006/main" cx="11125200" cy="2857500"/>
        </p:xfrm>
        <a:graphic xmlns:a="http://schemas.openxmlformats.org/drawingml/2006/main">
          <a:graphicData uri="http://schemas.openxmlformats.org/drawingml/2006/table">
            <a:tbl>
              <a:tblPr/>
              <a:tblGrid>
                <a:gridCol w="2857500"/>
                <a:gridCol w="1524000"/>
                <a:gridCol w="1714500"/>
                <a:gridCol w="1809750"/>
                <a:gridCol w="1333500"/>
                <a:gridCol w="1885950"/>
              </a:tblGrid>
              <a:tr h="571500">
                <a:tc>
                  <a:txBody>
                    <a:bodyPr/>
                    <a:lstStyle/>
                    <a:p>
                      <a:r>
                        <a:rPr sz="1575" b="1">
                          <a:solidFill>
                            <a:srgbClr val="FFFFFF"/>
                          </a:solidFill>
                          <a:latin typeface="Helvetica Neue"/>
                          <a:ea typeface="Helvetica Neue"/>
                          <a:cs typeface="Helvetica Neue"/>
                        </a:rPr>
                        <a:t>Proposal</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Graph</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Baseline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Candidate (ms)</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Speedup</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95% CI</a:t>
                      </a:r>
                    </a:p>
                  </a:txBody>
                  <a:tcPr marL="91440" marR="91440" marT="45720" marB="45720">
                    <a:solidFill>
                      <a:srgbClr val="00274C"/>
                    </a:solidFill>
                  </a:tcPr>
                </a:tc>
              </a:tr>
              <a:tr h="571500">
                <a:tc>
                  <a:txBody>
                    <a:bodyPr/>
                    <a:lstStyle/>
                    <a:p>
                      <a:r>
                        <a:rPr sz="1575" b="0">
                          <a:solidFill>
                            <a:srgbClr val="1A1A1A"/>
                          </a:solidFill>
                          <a:latin typeface="Helvetica Neue"/>
                          <a:ea typeface="Helvetica Neue"/>
                          <a:cs typeface="Helvetica Neue"/>
                        </a:rPr>
                        <a:t>DX100 BFS: 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46.03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45.96</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[0.998, 1.011]</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DX100 BFS: patch</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23.26</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23.23</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[0.996, 1.020]</a:t>
                      </a:r>
                    </a:p>
                  </a:txBody>
                  <a:tcPr marL="91440" marR="91440" marT="45720" marB="45720">
                    <a:solidFill>
                      <a:srgbClr val="F4F4F4"/>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Uniform</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7.33</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7.29</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1.002</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[0.999, 1.005]</a:t>
                      </a:r>
                    </a:p>
                  </a:txBody>
                  <a:tcPr marL="91440" marR="91440" marT="45720" marB="45720">
                    <a:solidFill>
                      <a:srgbClr val="FFFFFF"/>
                    </a:solidFill>
                  </a:tcPr>
                </a:tc>
              </a:tr>
              <a:tr h="571500">
                <a:tc>
                  <a:txBody>
                    <a:bodyPr/>
                    <a:lstStyle/>
                    <a:p>
                      <a:r>
                        <a:rPr sz="1575" b="0">
                          <a:solidFill>
                            <a:srgbClr val="1A1A1A"/>
                          </a:solidFill>
                          <a:latin typeface="Helvetica Neue"/>
                          <a:ea typeface="Helvetica Neue"/>
                          <a:cs typeface="Helvetica Neue"/>
                        </a:rPr>
                        <a:t>GAPBS BFS: instructions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Kronecker</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6.00</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5.99</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1.001</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[0.999, 1.030]</a:t>
                      </a:r>
                    </a:p>
                  </a:txBody>
                  <a:tcPr marL="91440" marR="91440" marT="45720" marB="45720">
                    <a:solidFill>
                      <a:srgbClr val="F4F4F4"/>
                    </a:solidFill>
                  </a:tcPr>
                </a:tc>
              </a:tr>
            </a:tbl>
          </a:graphicData>
        </a:graphic>
      </p:graphicFrame>
      <p:sp>
        <p:nvSpPr>
          <p:cNvPr id="8" name="">
            <a:extLst xmlns:a="http://schemas.openxmlformats.org/drawingml/2006/main">
              <a:ext uri="{FF2B5EF4-FFF2-40B4-BE49-F238E27FC236}">
                <a16:creationId xmlns:a16="http://schemas.microsoft.com/office/drawing/2014/main" id="{D7FDFCDC-1BCC-4584-9EE1-9D6D3EF6837D}"/>
              </a:ext>
            </a:extLst>
          </p:cNvPr>
          <p:cNvSpPr>
            <a:spLocks xmlns:a="http://schemas.openxmlformats.org/drawingml/2006/main" noGrp="1"/>
          </p:cNvSpPr>
          <p:nvPr/>
        </p:nvSpPr>
        <p:spPr>
          <a:xfrm xmlns:a="http://schemas.openxmlformats.org/drawingml/2006/main">
            <a:off x="533400" y="46672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A1A1A"/>
                </a:solidFill>
                <a:latin typeface="Helvetica Neue"/>
                <a:ea typeface="Helvetica Neue"/>
                <a:cs typeface="Helvetica Neue"/>
              </a:defRPr>
            </a:pPr>
            <a:r>
              <a:rPr sz="1650" b="0">
                <a:solidFill>
                  <a:srgbClr val="1A1A1A"/>
                </a:solidFill>
                <a:latin typeface="Helvetica Neue"/>
                <a:ea typeface="Helvetica Neue"/>
                <a:cs typeface="Helvetica Neue"/>
              </a:rPr>
              <a:t>Correct on all timed trials. Spread above the 10% limit, so the verdict is “inconclusive”.</a:t>
            </a:r>
          </a:p>
        </p:txBody>
      </p:sp>
      <p:sp>
        <p:nvSpPr>
          <p:cNvPr id="9" name="">
            <a:extLst xmlns:a="http://schemas.openxmlformats.org/drawingml/2006/main">
              <a:ext uri="{FF2B5EF4-FFF2-40B4-BE49-F238E27FC236}">
                <a16:creationId xmlns:a16="http://schemas.microsoft.com/office/drawing/2014/main" id="{16445769-16ED-4C9F-A801-A67532652CE2}"/>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7E32E9-61BD-4207-A8FB-E726C929EEF4}"/>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Small edits, no gain. The workflow refuses to report noise as a speedup.</a:t>
            </a:r>
          </a:p>
        </p:txBody>
      </p:sp>
    </p:spTree>
    <p:extLst>
      <p:ext uri="{BB962C8B-B14F-4D97-AF65-F5344CB8AC3E}">
        <p14:creationId xmlns:p14="http://schemas.microsoft.com/office/powerpoint/2010/main" val="20445164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F7D7A2-D220-4226-B7D5-1CE83E10F5A2}"/>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EF0666-8721-4238-969A-6AD2CDEE6953}"/>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2356A0-840B-4880-9102-9AA34F95097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Ongoing work and what we learned</a:t>
            </a:r>
          </a:p>
        </p:txBody>
      </p:sp>
      <p:sp>
        <p:nvSpPr>
          <p:cNvPr id="4" name="">
            <a:extLst xmlns:a="http://schemas.openxmlformats.org/drawingml/2006/main">
              <a:ext uri="{FF2B5EF4-FFF2-40B4-BE49-F238E27FC236}">
                <a16:creationId xmlns:a16="http://schemas.microsoft.com/office/drawing/2014/main" id="{38466BA3-D31F-47AE-9CDC-479FB6FDC67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BF7E486B-7DA3-4BCE-AFF9-9DA7E0BE366B}"/>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7</a:t>
            </a:r>
          </a:p>
        </p:txBody>
      </p:sp>
      <p:graphicFrame>
        <p:nvGraphicFramePr>
          <p:cNvPr id="14" name=""/>
          <p:cNvGraphicFramePr/>
          <p:nvPr/>
        </p:nvGraphicFramePr>
        <p:xfrm>
          <a:off xmlns:a="http://schemas.openxmlformats.org/drawingml/2006/main" x="533400" y="1333500"/>
          <a:ext xmlns:a="http://schemas.openxmlformats.org/drawingml/2006/main" cx="11125200" cy="3429000"/>
        </p:xfrm>
        <a:graphic xmlns:a="http://schemas.openxmlformats.org/drawingml/2006/main">
          <a:graphicData uri="http://schemas.openxmlformats.org/drawingml/2006/table">
            <a:tbl>
              <a:tblPr/>
              <a:tblGrid>
                <a:gridCol w="3810000"/>
                <a:gridCol w="4476750"/>
                <a:gridCol w="2838450"/>
              </a:tblGrid>
              <a:tr h="685800">
                <a:tc>
                  <a:txBody>
                    <a:bodyPr/>
                    <a:lstStyle/>
                    <a:p>
                      <a:r>
                        <a:rPr sz="1575" b="1">
                          <a:solidFill>
                            <a:srgbClr val="FFFFFF"/>
                          </a:solidFill>
                          <a:latin typeface="Helvetica Neue"/>
                          <a:ea typeface="Helvetica Neue"/>
                          <a:cs typeface="Helvetica Neue"/>
                        </a:rPr>
                        <a:t>Challenge</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What we did</a:t>
                      </a:r>
                    </a:p>
                  </a:txBody>
                  <a:tcPr marL="91440" marR="91440" marT="45720" marB="45720">
                    <a:solidFill>
                      <a:srgbClr val="00274C"/>
                    </a:solidFill>
                  </a:tcPr>
                </a:tc>
                <a:tc>
                  <a:txBody>
                    <a:bodyPr/>
                    <a:lstStyle/>
                    <a:p>
                      <a:r>
                        <a:rPr sz="1575" b="1">
                          <a:solidFill>
                            <a:srgbClr val="FFFFFF"/>
                          </a:solidFill>
                          <a:latin typeface="Helvetica Neue"/>
                          <a:ea typeface="Helvetica Neue"/>
                          <a:cs typeface="Helvetica Neue"/>
                        </a:rPr>
                        <a:t>Status</a:t>
                      </a:r>
                    </a:p>
                  </a:txBody>
                  <a:tcPr marL="91440" marR="91440" marT="45720" marB="45720">
                    <a:solidFill>
                      <a:srgbClr val="00274C"/>
                    </a:solidFill>
                  </a:tcPr>
                </a:tc>
              </a:tr>
              <a:tr h="685800">
                <a:tc>
                  <a:txBody>
                    <a:bodyPr/>
                    <a:lstStyle/>
                    <a:p>
                      <a:r>
                        <a:rPr sz="1575" b="0">
                          <a:solidFill>
                            <a:srgbClr val="1A1A1A"/>
                          </a:solidFill>
                          <a:latin typeface="Helvetica Neue"/>
                          <a:ea typeface="Helvetica Neue"/>
                          <a:cs typeface="Helvetica Neue"/>
                        </a:rPr>
                        <a:t>LLM proposals: timeouts, one bad patch</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Added whole-file edit format</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New candidate built next</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DX100 simulations take hours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Parallel runs within one socket</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Running</a:t>
                      </a:r>
                    </a:p>
                  </a:txBody>
                  <a:tcPr marL="91440" marR="91440" marT="45720" marB="45720">
                    <a:solidFill>
                      <a:srgbClr val="F4F4F4"/>
                    </a:solidFill>
                  </a:tcPr>
                </a:tc>
              </a:tr>
              <a:tr h="685800">
                <a:tc>
                  <a:txBody>
                    <a:bodyPr/>
                    <a:lstStyle/>
                    <a:p>
                      <a:r>
                        <a:rPr sz="1575" b="0">
                          <a:solidFill>
                            <a:srgbClr val="1A1A1A"/>
                          </a:solidFill>
                          <a:latin typeface="Helvetica Neue"/>
                          <a:ea typeface="Helvetica Neue"/>
                          <a:cs typeface="Helvetica Neue"/>
                        </a:rPr>
                        <a:t>Shared host: 2 jobs max</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Queue per socket lane</a:t>
                      </a:r>
                    </a:p>
                  </a:txBody>
                  <a:tcPr marL="91440" marR="91440" marT="45720" marB="45720">
                    <a:solidFill>
                      <a:srgbClr val="FFFFFF"/>
                    </a:solidFill>
                  </a:tcPr>
                </a:tc>
                <a:tc>
                  <a:txBody>
                    <a:bodyPr/>
                    <a:lstStyle/>
                    <a:p>
                      <a:r>
                        <a:rPr sz="1575" b="0">
                          <a:solidFill>
                            <a:srgbClr val="1A1A1A"/>
                          </a:solidFill>
                          <a:latin typeface="Helvetica Neue"/>
                          <a:ea typeface="Helvetica Neue"/>
                          <a:cs typeface="Helvetica Neue"/>
                        </a:rPr>
                        <a:t>Ongoing</a:t>
                      </a:r>
                    </a:p>
                  </a:txBody>
                  <a:tcPr marL="91440" marR="91440" marT="45720" marB="45720">
                    <a:solidFill>
                      <a:srgbClr val="FFFFFF"/>
                    </a:solidFill>
                  </a:tcPr>
                </a:tc>
              </a:tr>
              <a:tr h="685800">
                <a:tc>
                  <a:txBody>
                    <a:bodyPr/>
                    <a:lstStyle/>
                    <a:p>
                      <a:r>
                        <a:rPr sz="1575" b="0">
                          <a:solidFill>
                            <a:srgbClr val="1A1A1A"/>
                          </a:solidFill>
                          <a:latin typeface="Helvetica Neue"/>
                          <a:ea typeface="Helvetica Neue"/>
                          <a:cs typeface="Helvetica Neue"/>
                        </a:rPr>
                        <a:t>Harness overhead per trial</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Cached record parsing: 8.7 s → 1.0 s</a:t>
                      </a:r>
                    </a:p>
                  </a:txBody>
                  <a:tcPr marL="91440" marR="91440" marT="45720" marB="45720">
                    <a:solidFill>
                      <a:srgbClr val="F4F4F4"/>
                    </a:solidFill>
                  </a:tcPr>
                </a:tc>
                <a:tc>
                  <a:txBody>
                    <a:bodyPr/>
                    <a:lstStyle/>
                    <a:p>
                      <a:r>
                        <a:rPr sz="1575" b="0">
                          <a:solidFill>
                            <a:srgbClr val="1A1A1A"/>
                          </a:solidFill>
                          <a:latin typeface="Helvetica Neue"/>
                          <a:ea typeface="Helvetica Neue"/>
                          <a:cs typeface="Helvetica Neue"/>
                        </a:rPr>
                        <a:t>Fixed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7BDF9861-1EBF-4E83-ABA6-449E5D2B0D40}"/>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0790B9-20C0-4743-96BC-B2D14786C20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Lesson: most of the cost is around the experiment, not in it.</a:t>
            </a:r>
          </a:p>
        </p:txBody>
      </p:sp>
    </p:spTree>
    <p:extLst>
      <p:ext uri="{BB962C8B-B14F-4D97-AF65-F5344CB8AC3E}">
        <p14:creationId xmlns:p14="http://schemas.microsoft.com/office/powerpoint/2010/main" val="17554714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D765107-40DB-431B-827C-BD1398CCCD4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31CF13-80E3-4BF8-A74D-2C1E75994DB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CE3418-4798-4449-AAC8-81943105957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Plan for this week</a:t>
            </a:r>
          </a:p>
        </p:txBody>
      </p:sp>
      <p:sp>
        <p:nvSpPr>
          <p:cNvPr id="4" name="">
            <a:extLst xmlns:a="http://schemas.openxmlformats.org/drawingml/2006/main">
              <a:ext uri="{FF2B5EF4-FFF2-40B4-BE49-F238E27FC236}">
                <a16:creationId xmlns:a16="http://schemas.microsoft.com/office/drawing/2014/main" id="{86524457-17DC-416C-97F0-5602251E0E6C}"/>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a:t>
            </a:r>
          </a:p>
        </p:txBody>
      </p:sp>
      <p:sp>
        <p:nvSpPr>
          <p:cNvPr id="5" name="">
            <a:extLst xmlns:a="http://schemas.openxmlformats.org/drawingml/2006/main">
              <a:ext uri="{FF2B5EF4-FFF2-40B4-BE49-F238E27FC236}">
                <a16:creationId xmlns:a16="http://schemas.microsoft.com/office/drawing/2014/main" id="{E7F71EDB-F423-4FBE-8FBF-7C09AD09D04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10C791FE-3484-4836-8EDA-5007DE7D4F97}"/>
              </a:ext>
            </a:extLst>
          </p:cNvPr>
          <p:cNvSpPr>
            <a:spLocks xmlns:a="http://schemas.openxmlformats.org/drawingml/2006/main" noGrp="1"/>
          </p:cNvSpPr>
          <p:nvPr/>
        </p:nvSpPr>
        <p:spPr>
          <a:xfrm xmlns:a="http://schemas.openxmlformats.org/drawingml/2006/main">
            <a:off x="609600" y="14287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F72035ED-BC74-4836-BF65-620FC5EF3FFD}"/>
              </a:ext>
            </a:extLst>
          </p:cNvPr>
          <p:cNvSpPr>
            <a:spLocks xmlns:a="http://schemas.openxmlformats.org/drawingml/2006/main" noGrp="1"/>
          </p:cNvSpPr>
          <p:nvPr/>
        </p:nvSpPr>
        <p:spPr>
          <a:xfrm xmlns:a="http://schemas.openxmlformats.org/drawingml/2006/main">
            <a:off x="1524000" y="14478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Finish DX100 reference and control simulations</a:t>
            </a:r>
          </a:p>
        </p:txBody>
      </p:sp>
      <p:sp>
        <p:nvSpPr>
          <p:cNvPr id="8" name="">
            <a:extLst xmlns:a="http://schemas.openxmlformats.org/drawingml/2006/main">
              <a:ext uri="{FF2B5EF4-FFF2-40B4-BE49-F238E27FC236}">
                <a16:creationId xmlns:a16="http://schemas.microsoft.com/office/drawing/2014/main" id="{99E5B53B-851E-4E4A-ADCA-FF80126B1057}"/>
              </a:ext>
            </a:extLst>
          </p:cNvPr>
          <p:cNvSpPr>
            <a:spLocks xmlns:a="http://schemas.openxmlformats.org/drawingml/2006/main" noGrp="1"/>
          </p:cNvSpPr>
          <p:nvPr/>
        </p:nvSpPr>
        <p:spPr>
          <a:xfrm xmlns:a="http://schemas.openxmlformats.org/drawingml/2006/main">
            <a:off x="1524000" y="18669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Explicit baseline for accelerated results</a:t>
            </a:r>
          </a:p>
        </p:txBody>
      </p:sp>
      <p:sp>
        <p:nvSpPr>
          <p:cNvPr id="9" name="">
            <a:extLst xmlns:a="http://schemas.openxmlformats.org/drawingml/2006/main">
              <a:ext uri="{FF2B5EF4-FFF2-40B4-BE49-F238E27FC236}">
                <a16:creationId xmlns:a16="http://schemas.microsoft.com/office/drawing/2014/main" id="{9D7D93B4-A612-4475-BD41-4ACEB27938D6}"/>
              </a:ext>
            </a:extLst>
          </p:cNvPr>
          <p:cNvSpPr>
            <a:spLocks xmlns:a="http://schemas.openxmlformats.org/drawingml/2006/main" noGrp="1"/>
          </p:cNvSpPr>
          <p:nvPr/>
        </p:nvSpPr>
        <p:spPr>
          <a:xfrm xmlns:a="http://schemas.openxmlformats.org/drawingml/2006/main">
            <a:off x="609600" y="266700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87B50E8B-2809-4C53-8DC3-BF57F6E35CF3}"/>
              </a:ext>
            </a:extLst>
          </p:cNvPr>
          <p:cNvSpPr>
            <a:spLocks xmlns:a="http://schemas.openxmlformats.org/drawingml/2006/main" noGrp="1"/>
          </p:cNvSpPr>
          <p:nvPr/>
        </p:nvSpPr>
        <p:spPr>
          <a:xfrm xmlns:a="http://schemas.openxmlformats.org/drawingml/2006/main">
            <a:off x="1524000" y="26860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Evaluate remaining routes, incl. DX100 candidates</a:t>
            </a:r>
          </a:p>
        </p:txBody>
      </p:sp>
      <p:sp>
        <p:nvSpPr>
          <p:cNvPr id="11" name="">
            <a:extLst xmlns:a="http://schemas.openxmlformats.org/drawingml/2006/main">
              <a:ext uri="{FF2B5EF4-FFF2-40B4-BE49-F238E27FC236}">
                <a16:creationId xmlns:a16="http://schemas.microsoft.com/office/drawing/2014/main" id="{C06478FD-FAD4-486B-850E-02A990E2F3F8}"/>
              </a:ext>
            </a:extLst>
          </p:cNvPr>
          <p:cNvSpPr>
            <a:spLocks xmlns:a="http://schemas.openxmlformats.org/drawingml/2006/main" noGrp="1"/>
          </p:cNvSpPr>
          <p:nvPr/>
        </p:nvSpPr>
        <p:spPr>
          <a:xfrm xmlns:a="http://schemas.openxmlformats.org/drawingml/2006/main">
            <a:off x="1524000" y="31051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All 8 cases covered</a:t>
            </a:r>
          </a:p>
        </p:txBody>
      </p:sp>
      <p:sp>
        <p:nvSpPr>
          <p:cNvPr id="12" name="">
            <a:extLst xmlns:a="http://schemas.openxmlformats.org/drawingml/2006/main">
              <a:ext uri="{FF2B5EF4-FFF2-40B4-BE49-F238E27FC236}">
                <a16:creationId xmlns:a16="http://schemas.microsoft.com/office/drawing/2014/main" id="{72B06063-35DD-4179-A9C7-CCDFEB07B445}"/>
              </a:ext>
            </a:extLst>
          </p:cNvPr>
          <p:cNvSpPr>
            <a:spLocks xmlns:a="http://schemas.openxmlformats.org/drawingml/2006/main" noGrp="1"/>
          </p:cNvSpPr>
          <p:nvPr/>
        </p:nvSpPr>
        <p:spPr>
          <a:xfrm xmlns:a="http://schemas.openxmlformats.org/drawingml/2006/main">
            <a:off x="609600" y="3905250"/>
            <a:ext cx="666750" cy="6667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EB4AC944-E61A-4B6B-93CC-749889C726F2}"/>
              </a:ext>
            </a:extLst>
          </p:cNvPr>
          <p:cNvSpPr>
            <a:spLocks xmlns:a="http://schemas.openxmlformats.org/drawingml/2006/main" noGrp="1"/>
          </p:cNvSpPr>
          <p:nvPr/>
        </p:nvSpPr>
        <p:spPr>
          <a:xfrm xmlns:a="http://schemas.openxmlformats.org/drawingml/2006/main">
            <a:off x="1524000" y="39243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Coverage report + handoff to SW/HW ensembles</a:t>
            </a:r>
          </a:p>
        </p:txBody>
      </p:sp>
      <p:sp>
        <p:nvSpPr>
          <p:cNvPr id="14" name="">
            <a:extLst xmlns:a="http://schemas.openxmlformats.org/drawingml/2006/main">
              <a:ext uri="{FF2B5EF4-FFF2-40B4-BE49-F238E27FC236}">
                <a16:creationId xmlns:a16="http://schemas.microsoft.com/office/drawing/2014/main" id="{1C7B8D8E-2A10-4A32-B0C2-0442D43B8889}"/>
              </a:ext>
            </a:extLst>
          </p:cNvPr>
          <p:cNvSpPr>
            <a:spLocks xmlns:a="http://schemas.openxmlformats.org/drawingml/2006/main" noGrp="1"/>
          </p:cNvSpPr>
          <p:nvPr/>
        </p:nvSpPr>
        <p:spPr>
          <a:xfrm xmlns:a="http://schemas.openxmlformats.org/drawingml/2006/main">
            <a:off x="1524000" y="43434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5555"/>
                </a:solidFill>
                <a:latin typeface="Helvetica Neue"/>
                <a:ea typeface="Helvetica Neue"/>
                <a:cs typeface="Helvetica Neue"/>
              </a:defRPr>
            </a:pPr>
            <a:r>
              <a:rPr sz="1650" b="0">
                <a:solidFill>
                  <a:srgbClr val="555555"/>
                </a:solidFill>
                <a:latin typeface="Helvetica Neue"/>
                <a:ea typeface="Helvetica Neue"/>
                <a:cs typeface="Helvetica Neue"/>
              </a:rPr>
              <a:t>Agents use the workflow directly</a:t>
            </a:r>
          </a:p>
        </p:txBody>
      </p:sp>
      <p:sp>
        <p:nvSpPr>
          <p:cNvPr id="15" name="">
            <a:extLst xmlns:a="http://schemas.openxmlformats.org/drawingml/2006/main">
              <a:ext uri="{FF2B5EF4-FFF2-40B4-BE49-F238E27FC236}">
                <a16:creationId xmlns:a16="http://schemas.microsoft.com/office/drawing/2014/main" id="{9B494611-6032-438F-9A37-418BA2A69300}"/>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4614562-A7C3-4B17-84FC-528916A3675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74C"/>
                </a:solidFill>
                <a:latin typeface="Helvetica Neue"/>
                <a:ea typeface="Helvetica Neue"/>
                <a:cs typeface="Helvetica Neue"/>
              </a:defRPr>
            </a:pPr>
            <a:r>
              <a:rPr sz="1800" b="1">
                <a:solidFill>
                  <a:srgbClr val="00274C"/>
                </a:solidFill>
                <a:latin typeface="Helvetica Neue"/>
                <a:ea typeface="Helvetica Neue"/>
                <a:cs typeface="Helvetica Neue"/>
              </a:rPr>
              <a:t>Next question: do larger rewrites give measurable gains?</a:t>
            </a:r>
          </a:p>
        </p:txBody>
      </p:sp>
    </p:spTree>
    <p:extLst>
      <p:ext uri="{BB962C8B-B14F-4D97-AF65-F5344CB8AC3E}">
        <p14:creationId xmlns:p14="http://schemas.microsoft.com/office/powerpoint/2010/main" val="20181183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B22327-5E2B-402B-AFEA-828573F23742}"/>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EC01C6-FB06-4CE0-877C-39A15A03A89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50B956-5143-4B6E-8160-DAE0239B28FE}"/>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Backup: native measurement protocol</a:t>
            </a:r>
          </a:p>
        </p:txBody>
      </p:sp>
      <p:sp>
        <p:nvSpPr>
          <p:cNvPr id="4" name="">
            <a:extLst xmlns:a="http://schemas.openxmlformats.org/drawingml/2006/main">
              <a:ext uri="{FF2B5EF4-FFF2-40B4-BE49-F238E27FC236}">
                <a16:creationId xmlns:a16="http://schemas.microsoft.com/office/drawing/2014/main" id="{15351A0C-3B7B-418B-9213-FC092F248E12}"/>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EvolveSWDB    2026-09-30    Backup</a:t>
            </a:r>
          </a:p>
        </p:txBody>
      </p:sp>
      <p:sp>
        <p:nvSpPr>
          <p:cNvPr id="5" name="">
            <a:extLst xmlns:a="http://schemas.openxmlformats.org/drawingml/2006/main">
              <a:ext uri="{FF2B5EF4-FFF2-40B4-BE49-F238E27FC236}">
                <a16:creationId xmlns:a16="http://schemas.microsoft.com/office/drawing/2014/main" id="{EB52A5DE-B582-46B4-A1A5-089D72933D9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555"/>
                </a:solidFill>
                <a:latin typeface="Helvetica Neue"/>
                <a:ea typeface="Helvetica Neue"/>
                <a:cs typeface="Helvetica Neue"/>
              </a:defRPr>
            </a:pPr>
            <a:r>
              <a:rPr sz="1350" b="0">
                <a:solidFill>
                  <a:srgbClr val="555555"/>
                </a:solidFill>
                <a:latin typeface="Helvetica Neue"/>
                <a:ea typeface="Helvetica Neue"/>
                <a:cs typeface="Helvetica Neue"/>
              </a:rPr>
              <a:t>9</a:t>
            </a:r>
          </a:p>
        </p:txBody>
      </p:sp>
      <p:graphicFrame>
        <p:nvGraphicFramePr>
          <p:cNvPr id="12" name=""/>
          <p:cNvGraphicFramePr/>
          <p:nvPr/>
        </p:nvGraphicFramePr>
        <p:xfrm>
          <a:off xmlns:a="http://schemas.openxmlformats.org/drawingml/2006/main" x="533400" y="1333500"/>
          <a:ext xmlns:a="http://schemas.openxmlformats.org/drawingml/2006/main" cx="11125200" cy="4000500"/>
        </p:xfrm>
        <a:graphic xmlns:a="http://schemas.openxmlformats.org/drawingml/2006/main">
          <a:graphicData uri="http://schemas.openxmlformats.org/drawingml/2006/table">
            <a:tbl>
              <a:tblPr/>
              <a:tblGrid>
                <a:gridCol w="2857500"/>
                <a:gridCol w="8267700"/>
              </a:tblGrid>
              <a:tr h="571500">
                <a:tc>
                  <a:txBody>
                    <a:bodyPr/>
                    <a:lstStyle/>
                    <a:p>
                      <a:r>
                        <a:rPr sz="1650" b="1">
                          <a:solidFill>
                            <a:srgbClr val="FFFFFF"/>
                          </a:solidFill>
                          <a:latin typeface="Helvetica Neue"/>
                          <a:ea typeface="Helvetica Neue"/>
                          <a:cs typeface="Helvetica Neue"/>
                        </a:rPr>
                        <a:t>Setting</a:t>
                      </a:r>
                    </a:p>
                  </a:txBody>
                  <a:tcPr marL="91440" marR="91440" marT="45720" marB="45720">
                    <a:solidFill>
                      <a:srgbClr val="00274C"/>
                    </a:solidFill>
                  </a:tcPr>
                </a:tc>
                <a:tc>
                  <a:txBody>
                    <a:bodyPr/>
                    <a:lstStyle/>
                    <a:p>
                      <a:r>
                        <a:rPr sz="1650" b="1">
                          <a:solidFill>
                            <a:srgbClr val="FFFFFF"/>
                          </a:solidFill>
                          <a:latin typeface="Helvetica Neue"/>
                          <a:ea typeface="Helvetica Neue"/>
                          <a:cs typeface="Helvetica Neue"/>
                        </a:rPr>
                        <a:t>Value</a:t>
                      </a:r>
                    </a:p>
                  </a:txBody>
                  <a:tcPr marL="91440" marR="91440" marT="45720" marB="45720">
                    <a:solidFill>
                      <a:srgbClr val="00274C"/>
                    </a:solidFill>
                  </a:tcPr>
                </a:tc>
              </a:tr>
              <a:tr h="571500">
                <a:tc>
                  <a:txBody>
                    <a:bodyPr/>
                    <a:lstStyle/>
                    <a:p>
                      <a:r>
                        <a:rPr sz="1650" b="0">
                          <a:solidFill>
                            <a:srgbClr val="1A1A1A"/>
                          </a:solidFill>
                          <a:latin typeface="Helvetica Neue"/>
                          <a:ea typeface="Helvetica Neue"/>
                          <a:cs typeface="Helvetica Neue"/>
                        </a:rPr>
                        <a:t>Host</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mbit10, Intel Xeon Gold 6326, one socket lane</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Threads</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1</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Repetitions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10 paired (baseline / candidate alternating)</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Claim rule</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Speedup ≥ 1.05 and spread ≤ 10%</a:t>
                      </a:r>
                    </a:p>
                  </a:txBody>
                  <a:tcPr marL="91440" marR="91440" marT="45720" marB="45720">
                    <a:solidFill>
                      <a:srgbClr val="F4F4F4"/>
                    </a:solidFill>
                  </a:tcPr>
                </a:tc>
              </a:tr>
              <a:tr h="571500">
                <a:tc>
                  <a:txBody>
                    <a:bodyPr/>
                    <a:lstStyle/>
                    <a:p>
                      <a:r>
                        <a:rPr sz="165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650" b="0">
                          <a:solidFill>
                            <a:srgbClr val="1A1A1A"/>
                          </a:solidFill>
                          <a:latin typeface="Helvetica Neue"/>
                          <a:ea typeface="Helvetica Neue"/>
                          <a:cs typeface="Helvetica Neue"/>
                        </a:rPr>
                        <a:t>BFS tree checked on every timed trial</a:t>
                      </a:r>
                    </a:p>
                  </a:txBody>
                  <a:tcPr marL="91440" marR="91440" marT="45720" marB="45720">
                    <a:solidFill>
                      <a:srgbClr val="FFFFFF"/>
                    </a:solidFill>
                  </a:tcPr>
                </a:tc>
              </a:tr>
              <a:tr h="571500">
                <a:tc>
                  <a:txBody>
                    <a:bodyPr/>
                    <a:lstStyle/>
                    <a:p>
                      <a:r>
                        <a:rPr sz="1650" b="0">
                          <a:solidFill>
                            <a:srgbClr val="1A1A1A"/>
                          </a:solidFill>
                          <a:latin typeface="Helvetica Neue"/>
                          <a:ea typeface="Helvetica Neue"/>
                          <a:cs typeface="Helvetica Neue"/>
                        </a:rPr>
                        <a:t>Profiling</a:t>
                      </a:r>
                    </a:p>
                  </a:txBody>
                  <a:tcPr marL="91440" marR="91440" marT="45720" marB="45720">
                    <a:solidFill>
                      <a:srgbClr val="F4F4F4"/>
                    </a:solidFill>
                  </a:tcPr>
                </a:tc>
                <a:tc>
                  <a:txBody>
                    <a:bodyPr/>
                    <a:lstStyle/>
                    <a:p>
                      <a:r>
                        <a:rPr sz="1650" b="0">
                          <a:solidFill>
                            <a:srgbClr val="1A1A1A"/>
                          </a:solidFill>
                          <a:latin typeface="Helvetica Neue"/>
                          <a:ea typeface="Helvetica Neue"/>
                          <a:cs typeface="Helvetica Neue"/>
                        </a:rPr>
                        <a:t>Region timers + Callgrind (no HW counters)</a:t>
                      </a:r>
                    </a:p>
                  </a:txBody>
                  <a:tcPr marL="91440" marR="91440" marT="45720" marB="45720">
                    <a:solidFill>
                      <a:srgbClr val="F4F4F4"/>
                    </a:solidFill>
                  </a:tcPr>
                </a:tc>
              </a:tr>
            </a:tbl>
          </a:graphicData>
        </a:graphic>
      </p:graphicFrame>
    </p:spTree>
    <p:extLst>
      <p:ext uri="{BB962C8B-B14F-4D97-AF65-F5344CB8AC3E}">
        <p14:creationId xmlns:p14="http://schemas.microsoft.com/office/powerpoint/2010/main" val="15677367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2026-09-28T03:56:38.1900000Z</dcterms:created>
  <dcterms:modified xsi:type="dcterms:W3CDTF">2026-09-28T03:56:38.1900000Z</dcterms:modified>
</coreProperties>
</file>
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e6ba1be30624312" /><Relationship Type="http://schemas.openxmlformats.org/officeDocument/2006/relationships/extended-properties" Target="/docProps/app.xml" Id="R471d5a3045eb404b" /><Relationship Type="http://schemas.openxmlformats.org/officeDocument/2006/relationships/officeDocument" Target="/ppt/presentation.xml" Id="R1593fcca172247ea" /></Relationships>
</file>

<file path=ppt/presentation.xml><?xml version="1.0" encoding="utf-8"?>
<p:presentation xmlns:p="http://schemas.openxmlformats.org/presentationml/2006/main">
  <p:sldMasterIdLst>
    <p:sldMasterId xmlns:r="http://schemas.openxmlformats.org/officeDocument/2006/relationships" id="2147483648" r:id="Rc35661b918624edf"/>
  </p:sldMasterIdLst>
  <p:notesMasterIdLst>
    <p:notesMasterId xmlns:r="http://schemas.openxmlformats.org/officeDocument/2006/relationships" r:id="R14526d234b4b4d34"/>
  </p:notesMasterIdLst>
  <p:sldIdLst>
    <p:sldId xmlns:r="http://schemas.openxmlformats.org/officeDocument/2006/relationships" id="256" r:id="R994f6c0b6c254253"/>
    <p:sldId xmlns:r="http://schemas.openxmlformats.org/officeDocument/2006/relationships" id="257" r:id="Rb03aa93143e944f2"/>
    <p:sldId xmlns:r="http://schemas.openxmlformats.org/officeDocument/2006/relationships" id="258" r:id="Ra3ccf169edc74deb"/>
    <p:sldId xmlns:r="http://schemas.openxmlformats.org/officeDocument/2006/relationships" id="259" r:id="R031e9ff65429459a"/>
    <p:sldId xmlns:r="http://schemas.openxmlformats.org/officeDocument/2006/relationships" id="260" r:id="Rbadb29d08d89453a"/>
    <p:sldId xmlns:r="http://schemas.openxmlformats.org/officeDocument/2006/relationships" id="261" r:id="R369b693d782b48f2"/>
    <p:sldId xmlns:r="http://schemas.openxmlformats.org/officeDocument/2006/relationships" id="262" r:id="Rff3f3c4d857c4494"/>
    <p:sldId xmlns:r="http://schemas.openxmlformats.org/officeDocument/2006/relationships" id="263" r:id="R6487b9ca36b24a50"/>
    <p:sldId xmlns:r="http://schemas.openxmlformats.org/officeDocument/2006/relationships" id="264" r:id="R2896bade5f08415f"/>
    <p:sldId xmlns:r="http://schemas.openxmlformats.org/officeDocument/2006/relationships" id="265" r:id="R1c93f168636b4b4a"/>
    <p:sldId xmlns:r="http://schemas.openxmlformats.org/officeDocument/2006/relationships" id="266" r:id="R8826723f9125426a"/>
    <p:sldId xmlns:r="http://schemas.openxmlformats.org/officeDocument/2006/relationships" id="267" r:id="Rba8c8b5eef41402e"/>
    <p:sldId xmlns:r="http://schemas.openxmlformats.org/officeDocument/2006/relationships" id="268" r:id="Re9a846887e8740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e656fe5b2745b1" /><Relationship Type="http://schemas.openxmlformats.org/officeDocument/2006/relationships/slideMaster" Target="/ppt/slideMasters/slideMaster1.xml" Id="Rc35661b918624edf" /><Relationship Type="http://schemas.openxmlformats.org/officeDocument/2006/relationships/notesMaster" Target="/ppt/notesMasters/notesMaster1.xml" Id="R14526d234b4b4d34" /><Relationship Type="http://schemas.openxmlformats.org/officeDocument/2006/relationships/presProps" Target="/ppt/presProps.xml" Id="Rcc97f944c3ec4e08" /><Relationship Type="http://schemas.openxmlformats.org/officeDocument/2006/relationships/tableStyles" Target="/ppt/tableStyles.xml" Id="R8527a2185e6248de" /><Relationship Type="http://schemas.openxmlformats.org/officeDocument/2006/relationships/slide" Target="/ppt/slides/slide1.xml" Id="R994f6c0b6c254253" /><Relationship Type="http://schemas.openxmlformats.org/officeDocument/2006/relationships/slide" Target="/ppt/slides/slide2.xml" Id="Rb03aa93143e944f2" /><Relationship Type="http://schemas.openxmlformats.org/officeDocument/2006/relationships/slide" Target="/ppt/slides/slide3.xml" Id="Ra3ccf169edc74deb" /><Relationship Type="http://schemas.openxmlformats.org/officeDocument/2006/relationships/slide" Target="/ppt/slides/slide4.xml" Id="R031e9ff65429459a" /><Relationship Type="http://schemas.openxmlformats.org/officeDocument/2006/relationships/slide" Target="/ppt/slides/slide5.xml" Id="Rbadb29d08d89453a" /><Relationship Type="http://schemas.openxmlformats.org/officeDocument/2006/relationships/slide" Target="/ppt/slides/slide6.xml" Id="R369b693d782b48f2" /><Relationship Type="http://schemas.openxmlformats.org/officeDocument/2006/relationships/slide" Target="/ppt/slides/slide7.xml" Id="Rff3f3c4d857c4494" /><Relationship Type="http://schemas.openxmlformats.org/officeDocument/2006/relationships/slide" Target="/ppt/slides/slide8.xml" Id="R6487b9ca36b24a50" /><Relationship Type="http://schemas.openxmlformats.org/officeDocument/2006/relationships/slide" Target="/ppt/slides/slide9.xml" Id="R2896bade5f08415f" /><Relationship Type="http://schemas.openxmlformats.org/officeDocument/2006/relationships/slide" Target="/ppt/slides/slide10.xml" Id="R1c93f168636b4b4a" /><Relationship Type="http://schemas.openxmlformats.org/officeDocument/2006/relationships/slide" Target="/ppt/slides/slide11.xml" Id="R8826723f9125426a" /><Relationship Type="http://schemas.openxmlformats.org/officeDocument/2006/relationships/slide" Target="/ppt/slides/slide12.xml" Id="Rba8c8b5eef41402e" /><Relationship Type="http://schemas.openxmlformats.org/officeDocument/2006/relationships/slide" Target="/ppt/slides/slide13.xml" Id="Re9a846887e8740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943f4f490c42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c94c2593c74de4" /><Relationship Type="http://schemas.openxmlformats.org/officeDocument/2006/relationships/notesMaster" Target="/ppt/notesMasters/notesMaster1.xml" Id="R164a83c6568c4a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61966a144f45c6" /><Relationship Type="http://schemas.openxmlformats.org/officeDocument/2006/relationships/notesMaster" Target="/ppt/notesMasters/notesMaster1.xml" Id="R0a15ee311e7541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610bbe63724aa3" /><Relationship Type="http://schemas.openxmlformats.org/officeDocument/2006/relationships/notesMaster" Target="/ppt/notesMasters/notesMaster1.xml" Id="R9062c620505245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e5dcbe66554ef4" /><Relationship Type="http://schemas.openxmlformats.org/officeDocument/2006/relationships/notesMaster" Target="/ppt/notesMasters/notesMaster1.xml" Id="R3fc308aa652242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f5d561d4c6405f" /><Relationship Type="http://schemas.openxmlformats.org/officeDocument/2006/relationships/notesMaster" Target="/ppt/notesMasters/notesMaster1.xml" Id="R286bfa2f5c654c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c18e44f6a541a2" /><Relationship Type="http://schemas.openxmlformats.org/officeDocument/2006/relationships/notesMaster" Target="/ppt/notesMasters/notesMaster1.xml" Id="R69195e2ba89845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437309e616433c" /><Relationship Type="http://schemas.openxmlformats.org/officeDocument/2006/relationships/notesMaster" Target="/ppt/notesMasters/notesMaster1.xml" Id="R2ed96a7543f44e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bcc397126c4e09" /><Relationship Type="http://schemas.openxmlformats.org/officeDocument/2006/relationships/notesMaster" Target="/ppt/notesMasters/notesMaster1.xml" Id="R4bd3df859e9549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eec44eb56e4040" /><Relationship Type="http://schemas.openxmlformats.org/officeDocument/2006/relationships/notesMaster" Target="/ppt/notesMasters/notesMaster1.xml" Id="R7f6090f631424a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4ee3541df14871" /><Relationship Type="http://schemas.openxmlformats.org/officeDocument/2006/relationships/notesMaster" Target="/ppt/notesMasters/notesMaster1.xml" Id="R51ebb56554cb4d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b1902076d4421d" /><Relationship Type="http://schemas.openxmlformats.org/officeDocument/2006/relationships/notesMaster" Target="/ppt/notesMasters/notesMaster1.xml" Id="R32f251e556cb4ec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c164223f4e4c2a" /><Relationship Type="http://schemas.openxmlformats.org/officeDocument/2006/relationships/notesMaster" Target="/ppt/notesMasters/notesMaster1.xml" Id="Rd772e532dd9a40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76fd78dfe2444c" /><Relationship Type="http://schemas.openxmlformats.org/officeDocument/2006/relationships/notesMaster" Target="/ppt/notesMasters/notesMaster1.xml" Id="R0c0aeeaa271742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0:00–0:50 (50 seconds). The Software Database is the shared store of software knowledge in ArchEvolve. It connects actual application code to the facts the software and hardware agents need when they make decisions. Its purpose is to answer three questions: which implementations exist, how they touch memory, and what their measured behavior is under a particular input and machine. We also store reusable strategies for changing the code. Without this shared store, each request would start from an informal workload description and the agents would need to recover those facts again. We have implemented the records and the tools that validate, query, profile and export them. I will first show what a record contains and where the database connects to the other components.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/Users/yanrujhou/CLionProjects/EvolveSWDB/CONTEXT.md</a:t>
            </a:r>
          </a:p>
          <a:p xmlns:a="http://schemas.openxmlformats.org/drawingml/2006/main">
            <a:r>
              <a:t>/Users/yanrujhou/CLionProjects/EvolveSWDB/.scratch/evolveswdb-2026-09-22/spec.md</a:t>
            </a:r>
          </a:p>
          <a:p xmlns:a="http://schemas.openxmlformats.org/drawingml/2006/main">
            <a:r>
              <a:t>/Users/yanrujhou/CLionProjects/EvolveSWDB/swdb/cli.py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0:50–1:55 (65 seconds). The database has four groups of information. First, applications and kernels state the source, the computation and its correctness check. Second, implementations hold real code, loop structure, memory-access patterns and dependencies. PageRank has separate Gauss-Seidel and Jacobi implementation records. Third, inputs, machines and profiles tell us the context and observed behavior of that code. A timing is attached to one implementation, input and machine, so we do not confuse results from different conditions. Fourth, optimization strategies and intrinsics record ways to change the code and the conditions those changes require. For example, packing describes gathering values into contiguous storage. Each fact carries its evidence basis. These records are linked by stable IDs. YAML files in git are the source of truth, and the tool builds a SQLite database for queries.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/Users/yanrujhou/CLionProjects/EvolveSWDB/CONTEXT.md</a:t>
            </a:r>
          </a:p>
          <a:p xmlns:a="http://schemas.openxmlformats.org/drawingml/2006/main">
            <a:r>
              <a:t>/Users/yanrujhou/CLionProjects/EvolveSWDB/docs/adr/0001-kernel-identity-is-its-correctness-check.md</a:t>
            </a:r>
          </a:p>
          <a:p xmlns:a="http://schemas.openxmlformats.org/drawingml/2006/main">
            <a:r>
              <a:t>/Users/yanrujhou/CLionProjects/EvolveSWDB/docs/adr/0002-yaml-in-git-is-the-master-copy-sqlite-is-generated.md</a:t>
            </a:r>
          </a:p>
          <a:p xmlns:a="http://schemas.openxmlformats.org/drawingml/2006/main">
            <a:r>
              <a:t>/Users/yanrujhou/CLionProjects/EvolveSWDB/records/implementations/gapbs-pr-jacobi.yaml</a:t>
            </a:r>
          </a:p>
          <a:p xmlns:a="http://schemas.openxmlformats.org/drawingml/2006/main">
            <a:r>
              <a:t>/Users/yanrujhou/CLionProjects/EvolveSWDB/records/strategies/packing.yaml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1:55–3:05 (70 seconds). This is the architecture around the Software Database. The Controller coordinates the software and hardware work. The software agent queries the database for implementations, memory-access behavior and eligible strategies. It can submit new implementation or profile records through the validated write path. On the hardware side, the database generates a workload view. That view combines the implementation, input, machine and profile into the hardware agent’s expected format, including code, access patterns, array sizes, semantics and measurements. The hardware agent can reason about a hardware candidate and its software requirements using this view and its own hardware catalog. Those requirements return through the Controller for software adaptation. The database does not own the Controller or hardware search. The query, write and export interfaces exist today. The dashed coordination links show the intended architecture, not a claim that the full agent loop has run.</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/Users/yanrujhou/CLionProjects/EvolveSWDB/.scratch/evolveswdb-2026-09-22/spec.md</a:t>
            </a:r>
          </a:p>
          <a:p xmlns:a="http://schemas.openxmlformats.org/drawingml/2006/main">
            <a:r>
              <a:t>/Users/yanrujhou/CLionProjects/EvolveSWDB/archevolve/hw_ensemble/hardware-agent.md</a:t>
            </a:r>
          </a:p>
          <a:p xmlns:a="http://schemas.openxmlformats.org/drawingml/2006/main">
            <a:r>
              <a:t>/Users/yanrujhou/CLionProjects/EvolveSWDB/swdb/cli.py</a:t>
            </a:r>
          </a:p>
          <a:p xmlns:a="http://schemas.openxmlformats.org/drawingml/2006/main">
            <a:r>
              <a:t>/Users/yanrujhou/CLionProjects/EvolveSWDB/swdb/view.py</a:t>
            </a:r>
          </a:p>
          <a:p xmlns:a="http://schemas.openxmlformats.org/drawingml/2006/main">
            <a:r>
              <a:t>/Users/yanrujhou/CLionProjects/EvolveSWDB/swdb/writer.py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3:05–4:10 (65 seconds). Here is what those two consumers receive from the same stored implementation. Jacobi PageRank reads a neighbor identifier, then uses that identifier to read the neighbor’s contribution. We record that indirection explicitly along with the relevant dependency semantics. For the software agent, the strategy query reports that this gather passes packing’s encoded conditions. That is a candidate worth investigating, with manual checks still required for value stability and amortization. For the hardware agent, the workload view describes the indirect read and its semantics and supplies the array footprint and timing for the selected input and machine. Both sides refer to the same code and evidence. They receive different views for different decisions, without having to reconstruct the source facts independently.</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/Users/yanrujhou/CLionProjects/EvolveSWDB/records/implementations/gapbs-pr-jacobi.yaml</a:t>
            </a:r>
          </a:p>
          <a:p xmlns:a="http://schemas.openxmlformats.org/drawingml/2006/main">
            <a:r>
              <a:t>/Users/yanrujhou/CLionProjects/EvolveSWDB/records/strategies/packing.yaml</a:t>
            </a:r>
          </a:p>
          <a:p xmlns:a="http://schemas.openxmlformats.org/drawingml/2006/main">
            <a:r>
              <a:t>/Users/yanrujhou/CLionProjects/EvolveSWDB/swdb/strategy.py</a:t>
            </a:r>
          </a:p>
          <a:p xmlns:a="http://schemas.openxmlformats.org/drawingml/2006/main">
            <a:r>
              <a:t>/Users/yanrujhou/CLionProjects/EvolveSWDB/swdb/view.py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4:10–5:00 (50 seconds). The current database covers six kernels and eight implementations from GAPBS, with thirty-two profiles across four inputs. Thirty-one profiles are complete. The implemented interfaces validate and store records, answer queries and generate hardware workload views. We also have a catalog of five strategies and two intrinsics. These counts show that the structure is populated and exercised. They are not a claim of measured gains from applying those strategies. Our next proposed experiment is to select one eligible strategy, complete its manual checks, implement it as a derived implementation and measure the full cost against its baseline after checking correctness. That would close the loop between stored knowledge, a concrete code change and new evidence in the database.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a:t>
            </a:r>
          </a:p>
          <a:p xmlns:a="http://schemas.openxmlformats.org/drawingml/2006/main">
            <a:r>
              <a:t>/Users/yanrujhou/CLionProjects/EvolveSWDB/.scratch/evolveswdb-2026-09-22/map.md</a:t>
            </a:r>
          </a:p>
          <a:p xmlns:a="http://schemas.openxmlformats.org/drawingml/2006/main">
            <a:r>
              <a:t>/Users/yanrujhou/CLionProjects/EvolveSWDB/.scratch/optimization-strategies-2026-09-23/map.md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are recorded timings for the same Jacobi implementation on two Kronecker inputs. Both runs used the mbit10 Xeon Gold 6326, within one socket, and five trials at each thread count. The chart divides the one-thread median by each multi-thread median. The smaller input reaches about four times speedup and then flattens. The larger input reaches thirteen point three five times at sixteen threads. Their recorded footprints are eight point three three megabytes and five hundred eighty point three five megabytes, compared with a twenty-four mebibyte last-level cache per socket. For the small case, the code’s dynamic chunk size of sixteen thousand three hundred eighty-four gives only four chunks for roughly sixty-five thousand vertices. This helps explain the plateau. We retain measured timing separately from simulated cache misses and inferred bottleneck labels. The result motivates storing profiles per input. It does not by itself establish a memory-latency cause for the larger case.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/Users/yanrujhou/CLionProjects/EvolveSWDB/records/profiles/gapbs-pr-jacobi.kron-g16-k16.mbit10.20260922t212416z.yaml</a:t>
            </a:r>
          </a:p>
          <a:p xmlns:a="http://schemas.openxmlformats.org/drawingml/2006/main">
            <a:r>
              <a:t>/Users/yanrujhou/CLionProjects/EvolveSWDB/records/profiles/gapbs-pr-jacobi.kron-g22-k16.mbit10.20260922t215412z.yaml</a:t>
            </a:r>
          </a:p>
          <a:p xmlns:a="http://schemas.openxmlformats.org/drawingml/2006/main">
            <a:r>
              <a:t>/Users/yanrujhou/CLionProjects/EvolveSWDB/records/machines/mbit10.yaml</a:t>
            </a:r>
          </a:p>
          <a:p xmlns:a="http://schemas.openxmlformats.org/drawingml/2006/main">
            <a:r>
              <a:t>/Users/yanrujhou/CLionProjects/EvolveSWDB/apps/gapbs/src/pr_spmv.cc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Counts are from all YAML records at the stated checkout. The 59 records all retain draft status. Access patterns are nested within implementations, so their count is not added to the record total. All 21 tickets across the initial milestone and strategy extension are marked resolved. Ticket status does not establish research effectiveness.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a:t>
            </a:r>
          </a:p>
          <a:p xmlns:a="http://schemas.openxmlformats.org/drawingml/2006/main">
            <a:r>
              <a:t>/Users/yanrujhou/CLionProjects/EvolveSWDB/.scratch/evolveswdb-2026-09-22/map.md</a:t>
            </a:r>
          </a:p>
          <a:p xmlns:a="http://schemas.openxmlformats.org/drawingml/2006/main">
            <a:r>
              <a:t>/Users/yanrujhou/CLionProjects/EvolveSWDB/.scratch/optimization-strategies-2026-09-23/map.md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Every implementation has one profile for each of the four pilot inputs, for 32 profiles. Thirty-one are complete. Triangle counting on the larger Kronecker input timed out in its correctness verifier and remains incomplete. Its timing and simulation output must not be treated as correctness-verified performance. Existing implementations come from upstream GAPBS, including Jacobi.</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/Users/yanrujhou/CLionProjects/EvolveSWDB/records/kernels/</a:t>
            </a:r>
          </a:p>
          <a:p xmlns:a="http://schemas.openxmlformats.org/drawingml/2006/main">
            <a:r>
              <a:t>/Users/yanrujhou/CLionProjects/EvolveSWDB/records/implementations/</a:t>
            </a:r>
          </a:p>
          <a:p xmlns:a="http://schemas.openxmlformats.org/drawingml/2006/main">
            <a:r>
              <a:t>/Users/yanrujhou/CLionProjects/EvolveSWDB/records/inputs/</a:t>
            </a:r>
          </a:p>
          <a:p xmlns:a="http://schemas.openxmlformats.org/drawingml/2006/main">
            <a:r>
              <a:t>/Users/yanrujhou/CLionProjects/EvolveSWDB/records/profiles/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YAML is the source of truth and SQLite is a generated query cache. Validation covers schemas, vocabularies and cross-record rules. Adding a record validates it before storing it and rebuilding the cache. Agent-origin additions retain draft status and agent-run provenance. Queries cover access patterns, semantic conditions, implementations and strategies. A workload view adapts stored records to the hardware-side format, but completed integration with a running HW agent is not established here.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/Users/yanrujhou/CLionProjects/EvolveSWDB/swdb/cli.py</a:t>
            </a:r>
          </a:p>
          <a:p xmlns:a="http://schemas.openxmlformats.org/drawingml/2006/main">
            <a:r>
              <a:t>/Users/yanrujhou/CLionProjects/EvolveSWDB/swdb/db.py</a:t>
            </a:r>
          </a:p>
          <a:p xmlns:a="http://schemas.openxmlformats.org/drawingml/2006/main">
            <a:r>
              <a:t>/Users/yanrujhou/CLionProjects/EvolveSWDB/swdb/writer.py</a:t>
            </a:r>
          </a:p>
          <a:p xmlns:a="http://schemas.openxmlformats.org/drawingml/2006/main">
            <a:r>
              <a:t>/Users/yanrujhou/CLionProjects/EvolveSWDB/swdb/view.py</a:t>
            </a:r>
          </a:p>
          <a:p xmlns:a="http://schemas.openxmlformats.org/drawingml/2006/main">
            <a:r>
              <a:t>/Users/yanrujhou/CLionProjects/EvolveSWDB/docs/database.md</a:t>
            </a:r>
          </a:p>
          <a:p xmlns:a="http://schemas.openxmlformats.org/drawingml/2006/main">
            <a:r>
              <a:t>/Users/yanrujhou/CLionProjects/EvolveSWDB/docs/adr/0002-yaml-in-git-is-the-master-copy-sqlite-is-generated.md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profiling pipeline records build provenance, host conditions, correctness checks and stages. Timing uses the application’s trial timer and retains all repetitions, medians, minima, maxima and spreads. Footprints use sizes and formulas. Index-stream features characterize recorded indirect streams and are available in 12 profiles, not all 32. Cachegrind simulates cache behavior at one thread, with kernel-function filtering. Bottleneck labels are inferences from counter-free evidence. The profile stores which stage completed and why other stages did not.</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/Users/yanrujhou/CLionProjects/EvolveSWDB/swdb/profile.py</a:t>
            </a:r>
          </a:p>
          <a:p xmlns:a="http://schemas.openxmlformats.org/drawingml/2006/main">
            <a:r>
              <a:t>/Users/yanrujhou/CLionProjects/EvolveSWDB/tools/index_features/</a:t>
            </a:r>
          </a:p>
          <a:p xmlns:a="http://schemas.openxmlformats.org/drawingml/2006/main">
            <a:r>
              <a:t>/Users/yanrujhou/CLionProjects/EvolveSWDB/docs/mbit10-profiling.md</a:t>
            </a:r>
          </a:p>
          <a:p xmlns:a="http://schemas.openxmlformats.org/drawingml/2006/main">
            <a:r>
              <a:t>/Users/yanrujhou/CLionProjects/EvolveSWDB/records/profiles/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five strategy records identify changes by target and effect rather than name alone. Parameters such as distance or tile size do not create a new strategy identity. Preconditions return legal, illegal or undetermined, with unencoded obligations retained as manual checks. Benefits in strategy records are reported claims, not measured gains in this project. The intrinsic records cover the prefetch wrapper and an AVX-512 gather wrapper. Intrinsic use derives required ISA extensions for an implementation.</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/Users/yanrujhou/CLionProjects/EvolveSWDB/docs/adr/0004-optimization-strategy-is-a-record-identified-by-its-effect.md</a:t>
            </a:r>
          </a:p>
          <a:p xmlns:a="http://schemas.openxmlformats.org/drawingml/2006/main">
            <a:r>
              <a:t>/Users/yanrujhou/CLionProjects/EvolveSWDB/records/strategies/</a:t>
            </a:r>
          </a:p>
          <a:p xmlns:a="http://schemas.openxmlformats.org/drawingml/2006/main">
            <a:r>
              <a:t>/Users/yanrujhou/CLionProjects/EvolveSWDB/records/intrinsics/</a:t>
            </a:r>
          </a:p>
          <a:p xmlns:a="http://schemas.openxmlformats.org/drawingml/2006/main">
            <a:r>
              <a:t>/Users/yanrujhou/CLionProjects/EvolveSWDB/swdb/strategy.py</a:t>
            </a:r>
          </a:p>
          <a:p xmlns:a="http://schemas.openxmlformats.org/drawingml/2006/main">
            <a:r>
              <a:t>/Users/yanrujhou/CLionProjects/EvolveSWDB/swdb/isa.py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distinctions prevent a schema-valid record from being mistaken for a scientifically established result. The database checks references and evidence bases, preserves unknown semantics and enforces ISA requirements during profiling. Workload view generation exists, but this deck does not assert completed hardware-agent integration. The shared-host measurements are from committed profile records. This deck preparation did not rerun them or independently recheck the remote raw files.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/Users/yanrujhou/CLionProjects/EvolveSWDB/swdb/rules.py</a:t>
            </a:r>
          </a:p>
          <a:p xmlns:a="http://schemas.openxmlformats.org/drawingml/2006/main">
            <a:r>
              <a:t>/Users/yanrujhou/CLionProjects/EvolveSWDB/swdb/validate.py</a:t>
            </a:r>
          </a:p>
          <a:p xmlns:a="http://schemas.openxmlformats.org/drawingml/2006/main">
            <a:r>
              <a:t>/Users/yanrujhou/CLionProjects/EvolveSWDB/swdb/isa.py</a:t>
            </a:r>
          </a:p>
          <a:p xmlns:a="http://schemas.openxmlformats.org/drawingml/2006/main">
            <a:r>
              <a:t>/Users/yanrujhou/CLionProjects/EvolveSWDB/swdb/profile.py</a:t>
            </a:r>
          </a:p>
          <a:p xmlns:a="http://schemas.openxmlformats.org/drawingml/2006/main">
            <a:r>
              <a:t>/Users/yanrujhou/CLionProjects/EvolveSWDB/swdb/view.py</a:t>
            </a:r>
          </a:p>
          <a:p xmlns:a="http://schemas.openxmlformats.org/drawingml/2006/main">
            <a:r>
              <a:t>/Users/yanrujhou/CLionProjects/EvolveSWDB/.claude/rules/remote_server.md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are medians in milliseconds, rounded from the profile records. Speedup is the one-thread median divided by the 16-thread median. Each median uses five trials. The two experiments have different graph sizes, so absolute times should not be compared as a speedup. The footprint is recorded in decimal MB, and the cache is 24 MiB = 25,165,824 bytes. The labels parallelism_bound and memory_bound are stored inferences. The small-input implementation uses dynamic scheduling with a chunk size of 16,384. Timing is the application Trial Time, not end-to-end process wall time. Raw records identify build commits and raw-output paths. This deck does not independently revalidate remote files.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/Users/yanrujhou/CLionProjects/EvolveSWDB/records/profiles/gapbs-pr-jacobi.kron-g16-k16.mbit10.20260922t212416z.yaml</a:t>
            </a:r>
          </a:p>
          <a:p xmlns:a="http://schemas.openxmlformats.org/drawingml/2006/main">
            <a:r>
              <a:t>/Users/yanrujhou/CLionProjects/EvolveSWDB/records/profiles/gapbs-pr-jacobi.kron-g22-k16.mbit10.20260922t215412z.yaml</a:t>
            </a:r>
          </a:p>
          <a:p xmlns:a="http://schemas.openxmlformats.org/drawingml/2006/main">
            <a:r>
              <a:t>/Users/yanrujhou/CLionProjects/EvolveSWDB/apps/gapbs/src/pr_spmv.cc</a:t>
            </a:r>
          </a:p>
          <a:p xmlns:a="http://schemas.openxmlformats.org/drawingml/2006/main">
            <a:r>
              <a:t>/Users/yanrujhou/CLionProjects/EvolveSWDB/records/machines/mbit10.yaml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f4424d8c244b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87b1ef3e354396" /><Relationship Type="http://schemas.openxmlformats.org/officeDocument/2006/relationships/slideLayout" Target="/ppt/slideLayouts/slideLayout1.xml" Id="R1963ce17605f43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63ce17605f43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b11a834b184ef5" /><Relationship Type="http://schemas.openxmlformats.org/officeDocument/2006/relationships/notesSlide" Target="/ppt/notesSlides/notesSlide1.xml" Id="R12720b0585cd4e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617eb0f34d4608" /><Relationship Type="http://schemas.openxmlformats.org/officeDocument/2006/relationships/notesSlide" Target="/ppt/notesSlides/notesSlide2.xml" Id="Rf385d11085d44f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d08f844a2d4662" /><Relationship Type="http://schemas.openxmlformats.org/officeDocument/2006/relationships/notesSlide" Target="/ppt/notesSlides/notesSlide3.xml" Id="R3d11317798ea46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46b90d14ab4bd5" /><Relationship Type="http://schemas.openxmlformats.org/officeDocument/2006/relationships/notesSlide" Target="/ppt/notesSlides/notesSlide4.xml" Id="R68460c89054c4c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971d78ba224ffb" /><Relationship Type="http://schemas.openxmlformats.org/officeDocument/2006/relationships/notesSlide" Target="/ppt/notesSlides/notesSlide5.xml" Id="R3770e31e882146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43fb9479994979" /><Relationship Type="http://schemas.openxmlformats.org/officeDocument/2006/relationships/chart" Target="/ppt/slides/charts/chart1.xml" Id="R83a76e7487184d60" /><Relationship Type="http://schemas.openxmlformats.org/officeDocument/2006/relationships/notesSlide" Target="/ppt/notesSlides/notesSlide6.xml" Id="R5a9d9395c1e642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553ebb2b65a4694" /><Relationship Type="http://schemas.openxmlformats.org/officeDocument/2006/relationships/notesSlide" Target="/ppt/notesSlides/notesSlide7.xml" Id="Re24afc0fd96341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0520caef80409b" /><Relationship Type="http://schemas.openxmlformats.org/officeDocument/2006/relationships/notesSlide" Target="/ppt/notesSlides/notesSlide8.xml" Id="R8e52384e509546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dcdd0e4cb349d1" /><Relationship Type="http://schemas.openxmlformats.org/officeDocument/2006/relationships/notesSlide" Target="/ppt/notesSlides/notesSlide9.xml" Id="R1231b4c144c14e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cfffc17ed334311" /><Relationship Type="http://schemas.openxmlformats.org/officeDocument/2006/relationships/notesSlide" Target="/ppt/notesSlides/notesSlide10.xml" Id="R6ef477fc5a414c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b10ed7aac04de1" /><Relationship Type="http://schemas.openxmlformats.org/officeDocument/2006/relationships/notesSlide" Target="/ppt/notesSlides/notesSlide11.xml" Id="R3f30df3b325d4a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ac89b5a93d14678" /><Relationship Type="http://schemas.openxmlformats.org/officeDocument/2006/relationships/notesSlide" Target="/ppt/notesSlides/notesSlide12.xml" Id="R863f339201ea42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8b9ad53921749a7" /><Relationship Type="http://schemas.openxmlformats.org/officeDocument/2006/relationships/notesSlide" Target="/ppt/notesSlides/notesSlide13.xml" Id="R1c52e7622714401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Scale 16 (65K vertices)</c:v>
          </c:tx>
          <c:spPr>
            <a:ln xmlns:a="http://schemas.openxmlformats.org/drawingml/2006/main" w="38100">
              <a:solidFill>
                <a:srgbClr val="00274C"/>
              </a:solidFill>
            </a:ln>
          </c:spPr>
          <c:marker>
            <c:symbol val="circle"/>
            <c:size val="9"/>
            <c:spPr>
              <a:solidFill xmlns:a="http://schemas.openxmlformats.org/drawingml/2006/main">
                <a:srgbClr val="00274C"/>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c:formatCode>
                <c:ptCount val="5"/>
                <c:pt idx="0">
                  <c:v>1</c:v>
                </c:pt>
                <c:pt idx="1">
                  <c:v>1.99</c:v>
                </c:pt>
                <c:pt idx="2">
                  <c:v>3.87</c:v>
                </c:pt>
                <c:pt idx="3">
                  <c:v>3.95</c:v>
                </c:pt>
                <c:pt idx="4">
                  <c:v>3.93</c:v>
                </c:pt>
              </c:numCache>
            </c:numRef>
          </c:val>
          <c:smooth val="0"/>
        </c:ser>
        <c:ser>
          <c:idx val="1"/>
          <c:order val="1"/>
          <c:tx>
            <c:v>Scale 22 (4.19M vertices)</c:v>
          </c:tx>
          <c:spPr>
            <a:ln xmlns:a="http://schemas.openxmlformats.org/drawingml/2006/main" w="38100">
              <a:solidFill>
                <a:srgbClr val="4A6FA5"/>
              </a:solidFill>
            </a:ln>
          </c:spPr>
          <c:marker>
            <c:symbol val="square"/>
            <c:size val="9"/>
            <c:spPr>
              <a:solidFill xmlns:a="http://schemas.openxmlformats.org/drawingml/2006/main">
                <a:srgbClr val="4A6FA5"/>
              </a:solidFill>
            </c:spPr>
          </c:marker>
          <c:cat>
            <c:numRef>
              <c:f>'Chart Data'!$C$2:$C$6</c:f>
              <c:numCache>
                <c:formatCode>General</c:formatCode>
                <c:ptCount val="5"/>
                <c:pt idx="0">
                  <c:v>1</c:v>
                </c:pt>
                <c:pt idx="1">
                  <c:v>2</c:v>
                </c:pt>
                <c:pt idx="2">
                  <c:v>4</c:v>
                </c:pt>
                <c:pt idx="3">
                  <c:v>8</c:v>
                </c:pt>
                <c:pt idx="4">
                  <c:v>16</c:v>
                </c:pt>
              </c:numCache>
            </c:numRef>
          </c:cat>
          <c:val>
            <c:numRef>
              <c:f>'Chart Data'!$D$2:$D$6</c:f>
              <c:numCache>
                <c:formatCode>0"×"</c:formatCode>
                <c:ptCount val="5"/>
                <c:pt idx="0">
                  <c:v>1</c:v>
                </c:pt>
                <c:pt idx="1">
                  <c:v>1.98</c:v>
                </c:pt>
                <c:pt idx="2">
                  <c:v>3.93</c:v>
                </c:pt>
                <c:pt idx="3">
                  <c:v>7.56</c:v>
                </c:pt>
                <c:pt idx="4">
                  <c:v>13.35</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Threads</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6"/>
          <c:min val="0"/>
        </c:scaling>
        <c:delete val="0"/>
        <c:axPos val="l"/>
        <c:majorGridlines>
          <c:spPr>
            <a:ln xmlns:a="http://schemas.openxmlformats.org/drawingml/2006/main" w="9525">
              <a:solidFill>
                <a:srgbClr val="D9E1E8"/>
              </a:solidFill>
            </a:ln>
          </c:spPr>
        </c:majorGridlines>
        <c:title>
          <c:tx>
            <c:rich>
              <a:bodyPr xmlns:a="http://schemas.openxmlformats.org/drawingml/2006/main"/>
              <a:lstStyle xmlns:a="http://schemas.openxmlformats.org/drawingml/2006/main"/>
              <a:p xmlns:a="http://schemas.openxmlformats.org/drawingml/2006/main">
                <a:r>
                  <a:rPr sz="1650">
                    <a:latin typeface="Helvetica Neue"/>
                    <a:ea typeface="Helvetica Neue"/>
                    <a:cs typeface="Helvetica Neue"/>
                  </a:rPr>
                  <a:t>Speedup vs. 1 thread</a:t>
                </a:r>
              </a:p>
            </c:rich>
          </c:tx>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title>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1302C3-C247-4302-89A8-2EFB6DE5F2CC}"/>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D1197D-D944-4CF6-B954-77D79CC645CB}"/>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91D9B4D-218B-43D0-A186-B193F8F9F21C}"/>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What is the SW database?</a:t>
            </a:r>
          </a:p>
        </p:txBody>
      </p:sp>
      <p:sp>
        <p:nvSpPr>
          <p:cNvPr id="4" name="">
            <a:extLst xmlns:a="http://schemas.openxmlformats.org/drawingml/2006/main">
              <a:ext uri="{FF2B5EF4-FFF2-40B4-BE49-F238E27FC236}">
                <a16:creationId xmlns:a16="http://schemas.microsoft.com/office/drawing/2014/main" id="{1344A6B3-3226-48D9-8C10-197CEC0CC905}"/>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DB554F60-67CB-4350-A9C6-0C3CFC7EC624}"/>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8F5D8B33-16E3-4B52-AD3D-216B3EA80351}"/>
              </a:ext>
            </a:extLst>
          </p:cNvPr>
          <p:cNvSpPr>
            <a:spLocks xmlns:a="http://schemas.openxmlformats.org/drawingml/2006/main" noGrp="1"/>
          </p:cNvSpPr>
          <p:nvPr/>
        </p:nvSpPr>
        <p:spPr>
          <a:xfrm xmlns:a="http://schemas.openxmlformats.org/drawingml/2006/main">
            <a:off x="609600" y="14763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274C"/>
                </a:solidFill>
                <a:latin typeface="Helvetica Neue"/>
                <a:ea typeface="Helvetica Neue"/>
                <a:cs typeface="Helvetica Neue"/>
              </a:defRPr>
            </a:pPr>
            <a:r>
              <a:rPr sz="2700" b="1">
                <a:solidFill>
                  <a:srgbClr val="00274C"/>
                </a:solidFill>
                <a:latin typeface="Helvetica Neue"/>
                <a:ea typeface="Helvetica Neue"/>
                <a:cs typeface="Helvetica Neue"/>
              </a:rPr>
              <a:t>ArchEvolve’s shared store of software knowledge</a:t>
            </a:r>
          </a:p>
        </p:txBody>
      </p:sp>
      <p:sp>
        <p:nvSpPr>
          <p:cNvPr id="7" name="">
            <a:extLst xmlns:a="http://schemas.openxmlformats.org/drawingml/2006/main">
              <a:ext uri="{FF2B5EF4-FFF2-40B4-BE49-F238E27FC236}">
                <a16:creationId xmlns:a16="http://schemas.microsoft.com/office/drawing/2014/main" id="{3B85C1C1-F176-4208-8897-909D3B863F23}"/>
              </a:ext>
            </a:extLst>
          </p:cNvPr>
          <p:cNvSpPr>
            <a:spLocks xmlns:a="http://schemas.openxmlformats.org/drawingml/2006/main" noGrp="1"/>
          </p:cNvSpPr>
          <p:nvPr/>
        </p:nvSpPr>
        <p:spPr>
          <a:xfrm xmlns:a="http://schemas.openxmlformats.org/drawingml/2006/main">
            <a:off x="609600" y="21812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Actual code, its memory behavior, and the evidence behind it</a:t>
            </a:r>
          </a:p>
        </p:txBody>
      </p:sp>
      <p:sp>
        <p:nvSpPr>
          <p:cNvPr id="8" name="">
            <a:extLst xmlns:a="http://schemas.openxmlformats.org/drawingml/2006/main">
              <a:ext uri="{FF2B5EF4-FFF2-40B4-BE49-F238E27FC236}">
                <a16:creationId xmlns:a16="http://schemas.microsoft.com/office/drawing/2014/main" id="{871C4E3D-A9D2-4CDB-AD60-1B4430E7EFC3}"/>
              </a:ext>
            </a:extLst>
          </p:cNvPr>
          <p:cNvSpPr>
            <a:spLocks xmlns:a="http://schemas.openxmlformats.org/drawingml/2006/main" noGrp="1"/>
          </p:cNvSpPr>
          <p:nvPr/>
        </p:nvSpPr>
        <p:spPr>
          <a:xfrm xmlns:a="http://schemas.openxmlformats.org/drawingml/2006/main">
            <a:off x="857250" y="331470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A1A1A"/>
                </a:solidFill>
                <a:latin typeface="Helvetica Neue"/>
                <a:ea typeface="Helvetica Neue"/>
                <a:cs typeface="Helvetica Neue"/>
              </a:defRPr>
            </a:pPr>
            <a:r>
              <a:rPr sz="2400" b="0">
                <a:solidFill>
                  <a:srgbClr val="1A1A1A"/>
                </a:solidFill>
                <a:latin typeface="Helvetica Neue"/>
                <a:ea typeface="Helvetica Neue"/>
                <a:cs typeface="Helvetica Neue"/>
              </a:rPr>
              <a:t>Which implementations exist?</a:t>
            </a:r>
          </a:p>
        </p:txBody>
      </p:sp>
      <p:sp>
        <p:nvSpPr>
          <p:cNvPr id="9" name="">
            <a:extLst xmlns:a="http://schemas.openxmlformats.org/drawingml/2006/main">
              <a:ext uri="{FF2B5EF4-FFF2-40B4-BE49-F238E27FC236}">
                <a16:creationId xmlns:a16="http://schemas.microsoft.com/office/drawing/2014/main" id="{77DD6DFC-71D5-40D4-A347-D714367BF572}"/>
              </a:ext>
            </a:extLst>
          </p:cNvPr>
          <p:cNvSpPr>
            <a:spLocks xmlns:a="http://schemas.openxmlformats.org/drawingml/2006/main" noGrp="1"/>
          </p:cNvSpPr>
          <p:nvPr/>
        </p:nvSpPr>
        <p:spPr>
          <a:xfrm xmlns:a="http://schemas.openxmlformats.org/drawingml/2006/main">
            <a:off x="857250" y="407670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A1A1A"/>
                </a:solidFill>
                <a:latin typeface="Helvetica Neue"/>
                <a:ea typeface="Helvetica Neue"/>
                <a:cs typeface="Helvetica Neue"/>
              </a:defRPr>
            </a:pPr>
            <a:r>
              <a:rPr sz="2400" b="0">
                <a:solidFill>
                  <a:srgbClr val="1A1A1A"/>
                </a:solidFill>
                <a:latin typeface="Helvetica Neue"/>
                <a:ea typeface="Helvetica Neue"/>
                <a:cs typeface="Helvetica Neue"/>
              </a:rPr>
              <a:t>How do they access memory?</a:t>
            </a:r>
          </a:p>
        </p:txBody>
      </p:sp>
      <p:sp>
        <p:nvSpPr>
          <p:cNvPr id="10" name="">
            <a:extLst xmlns:a="http://schemas.openxmlformats.org/drawingml/2006/main">
              <a:ext uri="{FF2B5EF4-FFF2-40B4-BE49-F238E27FC236}">
                <a16:creationId xmlns:a16="http://schemas.microsoft.com/office/drawing/2014/main" id="{A09B24B5-F4B4-45EC-BCA6-43DD46537DB5}"/>
              </a:ext>
            </a:extLst>
          </p:cNvPr>
          <p:cNvSpPr>
            <a:spLocks xmlns:a="http://schemas.openxmlformats.org/drawingml/2006/main" noGrp="1"/>
          </p:cNvSpPr>
          <p:nvPr/>
        </p:nvSpPr>
        <p:spPr>
          <a:xfrm xmlns:a="http://schemas.openxmlformats.org/drawingml/2006/main">
            <a:off x="857250" y="483870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A1A1A"/>
                </a:solidFill>
                <a:latin typeface="Helvetica Neue"/>
                <a:ea typeface="Helvetica Neue"/>
                <a:cs typeface="Helvetica Neue"/>
              </a:defRPr>
            </a:pPr>
            <a:r>
              <a:rPr sz="2400" b="0">
                <a:solidFill>
                  <a:srgbClr val="1A1A1A"/>
                </a:solidFill>
                <a:latin typeface="Helvetica Neue"/>
                <a:ea typeface="Helvetica Neue"/>
                <a:cs typeface="Helvetica Neue"/>
              </a:rPr>
              <a:t>What happens on a given input and machine?</a:t>
            </a:r>
          </a:p>
        </p:txBody>
      </p:sp>
    </p:spTree>
    <p:extLst>
      <p:ext uri="{BB962C8B-B14F-4D97-AF65-F5344CB8AC3E}">
        <p14:creationId xmlns:p14="http://schemas.microsoft.com/office/powerpoint/2010/main" val="9260348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3A894C-22E7-4093-BEAE-EF7BFD04C957}"/>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D57E69-8703-4156-B259-38F64998251D}"/>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D994F8C-B5F0-4E73-A25B-A80EB4499D8C}"/>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What does it store?</a:t>
            </a:r>
          </a:p>
        </p:txBody>
      </p:sp>
      <p:sp>
        <p:nvSpPr>
          <p:cNvPr id="4" name="">
            <a:extLst xmlns:a="http://schemas.openxmlformats.org/drawingml/2006/main">
              <a:ext uri="{FF2B5EF4-FFF2-40B4-BE49-F238E27FC236}">
                <a16:creationId xmlns:a16="http://schemas.microsoft.com/office/drawing/2014/main" id="{E7D71EDE-A9ED-44EC-9682-0AD4A87F1F38}"/>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C48FD193-ECBA-468E-9F00-FFCD7EF9BAF2}"/>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2</a:t>
            </a:r>
          </a:p>
        </p:txBody>
      </p:sp>
      <p:graphicFrame>
        <p:nvGraphicFramePr>
          <p:cNvPr id="13" name=""/>
          <p:cNvGraphicFramePr/>
          <p:nvPr/>
        </p:nvGraphicFramePr>
        <p:xfrm>
          <a:off xmlns:a="http://schemas.openxmlformats.org/drawingml/2006/main" x="533400" y="1476375"/>
          <a:ext xmlns:a="http://schemas.openxmlformats.org/drawingml/2006/main" cx="11125200" cy="3524250"/>
        </p:xfrm>
        <a:graphic xmlns:a="http://schemas.openxmlformats.org/drawingml/2006/main">
          <a:graphicData uri="http://schemas.openxmlformats.org/drawingml/2006/table">
            <a:tbl>
              <a:tblPr/>
              <a:tblGrid>
                <a:gridCol w="4610100"/>
                <a:gridCol w="6515100"/>
              </a:tblGrid>
              <a:tr h="704850">
                <a:tc>
                  <a:txBody>
                    <a:bodyPr/>
                    <a:lstStyle/>
                    <a:p>
                      <a:r>
                        <a:rPr sz="2250" b="1">
                          <a:solidFill>
                            <a:srgbClr val="FFFFFF"/>
                          </a:solidFill>
                          <a:latin typeface="Helvetica Neue"/>
                          <a:ea typeface="Helvetica Neue"/>
                          <a:cs typeface="Helvetica Neue"/>
                        </a:rPr>
                        <a:t>Stored knowledge</a:t>
                      </a:r>
                    </a:p>
                  </a:txBody>
                  <a:tcPr marL="91440" marR="91440" marT="45720" marB="45720">
                    <a:solidFill>
                      <a:srgbClr val="00274C"/>
                    </a:solidFill>
                  </a:tcPr>
                </a:tc>
                <a:tc>
                  <a:txBody>
                    <a:bodyPr/>
                    <a:lstStyle/>
                    <a:p>
                      <a:r>
                        <a:rPr sz="2250" b="1">
                          <a:solidFill>
                            <a:srgbClr val="FFFFFF"/>
                          </a:solidFill>
                          <a:latin typeface="Helvetica Neue"/>
                          <a:ea typeface="Helvetica Neue"/>
                          <a:cs typeface="Helvetica Neue"/>
                        </a:rPr>
                        <a:t>PageRank example</a:t>
                      </a:r>
                    </a:p>
                  </a:txBody>
                  <a:tcPr marL="91440" marR="91440" marT="45720" marB="45720">
                    <a:solidFill>
                      <a:srgbClr val="00274C"/>
                    </a:solidFill>
                  </a:tcPr>
                </a:tc>
              </a:tr>
              <a:tr h="704850">
                <a:tc>
                  <a:txBody>
                    <a:bodyPr/>
                    <a:lstStyle/>
                    <a:p>
                      <a:r>
                        <a:rPr sz="2250" b="0">
                          <a:solidFill>
                            <a:srgbClr val="1A1A1A"/>
                          </a:solidFill>
                          <a:latin typeface="Helvetica Neue"/>
                          <a:ea typeface="Helvetica Neue"/>
                          <a:cs typeface="Helvetica Neue"/>
                        </a:rPr>
                        <a:t>Application + kernel</a:t>
                      </a:r>
                    </a:p>
                  </a:txBody>
                  <a:tcPr marL="91440" marR="91440" marT="45720" marB="45720">
                    <a:solidFill>
                      <a:srgbClr val="FFFFFF"/>
                    </a:solidFill>
                  </a:tcPr>
                </a:tc>
                <a:tc>
                  <a:txBody>
                    <a:bodyPr/>
                    <a:lstStyle/>
                    <a:p>
                      <a:r>
                        <a:rPr sz="2250" b="0">
                          <a:solidFill>
                            <a:srgbClr val="1A1A1A"/>
                          </a:solidFill>
                          <a:latin typeface="Helvetica Neue"/>
                          <a:ea typeface="Helvetica Neue"/>
                          <a:cs typeface="Helvetica Neue"/>
                        </a:rPr>
                        <a:t>GAPBS, PageRank, correctness check</a:t>
                      </a:r>
                    </a:p>
                  </a:txBody>
                  <a:tcPr marL="91440" marR="91440" marT="45720" marB="45720">
                    <a:solidFill>
                      <a:srgbClr val="FFFFFF"/>
                    </a:solidFill>
                  </a:tcPr>
                </a:tc>
              </a:tr>
              <a:tr h="704850">
                <a:tc>
                  <a:txBody>
                    <a:bodyPr/>
                    <a:lstStyle/>
                    <a:p>
                      <a:r>
                        <a:rPr sz="2250" b="0">
                          <a:solidFill>
                            <a:srgbClr val="1A1A1A"/>
                          </a:solidFill>
                          <a:latin typeface="Helvetica Neue"/>
                          <a:ea typeface="Helvetica Neue"/>
                          <a:cs typeface="Helvetica Neue"/>
                        </a:rPr>
                        <a:t>Implementation</a:t>
                      </a:r>
                    </a:p>
                  </a:txBody>
                  <a:tcPr marL="91440" marR="91440" marT="45720" marB="45720">
                    <a:solidFill>
                      <a:srgbClr val="F4F4F4"/>
                    </a:solidFill>
                  </a:tcPr>
                </a:tc>
                <a:tc>
                  <a:txBody>
                    <a:bodyPr/>
                    <a:lstStyle/>
                    <a:p>
                      <a:r>
                        <a:rPr sz="2250" b="0">
                          <a:solidFill>
                            <a:srgbClr val="1A1A1A"/>
                          </a:solidFill>
                          <a:latin typeface="Helvetica Neue"/>
                          <a:ea typeface="Helvetica Neue"/>
                          <a:cs typeface="Helvetica Neue"/>
                        </a:rPr>
                        <a:t>Code, access patterns, dependencies</a:t>
                      </a:r>
                    </a:p>
                  </a:txBody>
                  <a:tcPr marL="91440" marR="91440" marT="45720" marB="45720">
                    <a:solidFill>
                      <a:srgbClr val="F4F4F4"/>
                    </a:solidFill>
                  </a:tcPr>
                </a:tc>
              </a:tr>
              <a:tr h="704850">
                <a:tc>
                  <a:txBody>
                    <a:bodyPr/>
                    <a:lstStyle/>
                    <a:p>
                      <a:r>
                        <a:rPr sz="2250" b="0">
                          <a:solidFill>
                            <a:srgbClr val="1A1A1A"/>
                          </a:solidFill>
                          <a:latin typeface="Helvetica Neue"/>
                          <a:ea typeface="Helvetica Neue"/>
                          <a:cs typeface="Helvetica Neue"/>
                        </a:rPr>
                        <a:t>Input + machine + profile</a:t>
                      </a:r>
                    </a:p>
                  </a:txBody>
                  <a:tcPr marL="91440" marR="91440" marT="45720" marB="45720">
                    <a:solidFill>
                      <a:srgbClr val="FFFFFF"/>
                    </a:solidFill>
                  </a:tcPr>
                </a:tc>
                <a:tc>
                  <a:txBody>
                    <a:bodyPr/>
                    <a:lstStyle/>
                    <a:p>
                      <a:r>
                        <a:rPr sz="2250" b="0">
                          <a:solidFill>
                            <a:srgbClr val="1A1A1A"/>
                          </a:solidFill>
                          <a:latin typeface="Helvetica Neue"/>
                          <a:ea typeface="Helvetica Neue"/>
                          <a:cs typeface="Helvetica Neue"/>
                        </a:rPr>
                        <a:t>Graph, CPU, timing, footprint</a:t>
                      </a:r>
                    </a:p>
                  </a:txBody>
                  <a:tcPr marL="91440" marR="91440" marT="45720" marB="45720">
                    <a:solidFill>
                      <a:srgbClr val="FFFFFF"/>
                    </a:solidFill>
                  </a:tcPr>
                </a:tc>
              </a:tr>
              <a:tr h="704850">
                <a:tc>
                  <a:txBody>
                    <a:bodyPr/>
                    <a:lstStyle/>
                    <a:p>
                      <a:r>
                        <a:rPr sz="2250" b="0">
                          <a:solidFill>
                            <a:srgbClr val="1A1A1A"/>
                          </a:solidFill>
                          <a:latin typeface="Helvetica Neue"/>
                          <a:ea typeface="Helvetica Neue"/>
                          <a:cs typeface="Helvetica Neue"/>
                        </a:rPr>
                        <a:t>Strategy + intrinsic</a:t>
                      </a:r>
                    </a:p>
                  </a:txBody>
                  <a:tcPr marL="91440" marR="91440" marT="45720" marB="45720">
                    <a:solidFill>
                      <a:srgbClr val="F4F4F4"/>
                    </a:solidFill>
                  </a:tcPr>
                </a:tc>
                <a:tc>
                  <a:txBody>
                    <a:bodyPr/>
                    <a:lstStyle/>
                    <a:p>
                      <a:r>
                        <a:rPr sz="2250" b="0">
                          <a:solidFill>
                            <a:srgbClr val="1A1A1A"/>
                          </a:solidFill>
                          <a:latin typeface="Helvetica Neue"/>
                          <a:ea typeface="Helvetica Neue"/>
                          <a:cs typeface="Helvetica Neue"/>
                        </a:rPr>
                        <a:t>Packing, prefetch, SIMD gather</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8521F49D-3EC2-4E59-96E5-C406F7DE69E7}"/>
              </a:ext>
            </a:extLst>
          </p:cNvPr>
          <p:cNvSpPr>
            <a:spLocks xmlns:a="http://schemas.openxmlformats.org/drawingml/2006/main" noGrp="1"/>
          </p:cNvSpPr>
          <p:nvPr/>
        </p:nvSpPr>
        <p:spPr>
          <a:xfrm xmlns:a="http://schemas.openxmlformats.org/drawingml/2006/main">
            <a:off x="609600" y="5476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Linked records. Every fact keeps its source.</a:t>
            </a:r>
          </a:p>
        </p:txBody>
      </p:sp>
    </p:spTree>
    <p:extLst>
      <p:ext uri="{BB962C8B-B14F-4D97-AF65-F5344CB8AC3E}">
        <p14:creationId xmlns:p14="http://schemas.microsoft.com/office/powerpoint/2010/main" val="8896478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262BE40-D66D-4365-940C-CCBBD9322D1A}"/>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02367E-3B96-4C0A-8349-CF8D33E5755B}"/>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1268D1E-10D0-4D79-B25E-15225F2DA49C}"/>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How does it connect to ArchEvolve?</a:t>
            </a:r>
          </a:p>
        </p:txBody>
      </p:sp>
      <p:sp>
        <p:nvSpPr>
          <p:cNvPr id="4" name="">
            <a:extLst xmlns:a="http://schemas.openxmlformats.org/drawingml/2006/main">
              <a:ext uri="{FF2B5EF4-FFF2-40B4-BE49-F238E27FC236}">
                <a16:creationId xmlns:a16="http://schemas.microsoft.com/office/drawing/2014/main" id="{5F811ADB-A2BA-417C-8D44-AADD3E80425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4EB7E7AB-54CA-4D4F-8515-9A44CFFA0C5F}"/>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36E6976E-C441-48FC-B693-F649D8BF7F56}"/>
              </a:ext>
            </a:extLst>
          </p:cNvPr>
          <p:cNvSpPr>
            <a:spLocks xmlns:a="http://schemas.openxmlformats.org/drawingml/2006/main" noGrp="1"/>
          </p:cNvSpPr>
          <p:nvPr/>
        </p:nvSpPr>
        <p:spPr>
          <a:xfrm xmlns:a="http://schemas.openxmlformats.org/drawingml/2006/main">
            <a:off x="4667250" y="1409700"/>
            <a:ext cx="2857500" cy="68580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Controller</a:t>
            </a:r>
          </a:p>
        </p:txBody>
      </p:sp>
      <p:sp>
        <p:nvSpPr>
          <p:cNvPr id="7" name="">
            <a:extLst xmlns:a="http://schemas.openxmlformats.org/drawingml/2006/main">
              <a:ext uri="{FF2B5EF4-FFF2-40B4-BE49-F238E27FC236}">
                <a16:creationId xmlns:a16="http://schemas.microsoft.com/office/drawing/2014/main" id="{F5DDFF3F-50FB-4D48-8518-C5C26F8B7407}"/>
              </a:ext>
            </a:extLst>
          </p:cNvPr>
          <p:cNvSpPr>
            <a:spLocks xmlns:a="http://schemas.openxmlformats.org/drawingml/2006/main" noGrp="1"/>
          </p:cNvSpPr>
          <p:nvPr/>
        </p:nvSpPr>
        <p:spPr>
          <a:xfrm xmlns:a="http://schemas.openxmlformats.org/drawingml/2006/main">
            <a:off x="571500" y="3524250"/>
            <a:ext cx="2381250" cy="11239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SW Ensemble</a:t>
            </a:r>
          </a:p>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Agent</a:t>
            </a:r>
          </a:p>
        </p:txBody>
      </p:sp>
      <p:sp>
        <p:nvSpPr>
          <p:cNvPr id="8" name="">
            <a:extLst xmlns:a="http://schemas.openxmlformats.org/drawingml/2006/main">
              <a:ext uri="{FF2B5EF4-FFF2-40B4-BE49-F238E27FC236}">
                <a16:creationId xmlns:a16="http://schemas.microsoft.com/office/drawing/2014/main" id="{618366FD-31BB-4F89-B2E0-5D3F15752669}"/>
              </a:ext>
            </a:extLst>
          </p:cNvPr>
          <p:cNvSpPr>
            <a:spLocks xmlns:a="http://schemas.openxmlformats.org/drawingml/2006/main" noGrp="1"/>
          </p:cNvSpPr>
          <p:nvPr/>
        </p:nvSpPr>
        <p:spPr>
          <a:xfrm xmlns:a="http://schemas.openxmlformats.org/drawingml/2006/main">
            <a:off x="4667250" y="3524250"/>
            <a:ext cx="2857500" cy="1123950"/>
          </a:xfrm>
          <a:prstGeom xmlns:a="http://schemas.openxmlformats.org/drawingml/2006/main" prst="rect">
            <a:avLst/>
          </a:prstGeom>
          <a:solidFill xmlns:a="http://schemas.openxmlformats.org/drawingml/2006/main">
            <a:srgbClr val="00274C"/>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SW database</a:t>
            </a:r>
          </a:p>
        </p:txBody>
      </p:sp>
      <p:sp>
        <p:nvSpPr>
          <p:cNvPr id="9" name="">
            <a:extLst xmlns:a="http://schemas.openxmlformats.org/drawingml/2006/main">
              <a:ext uri="{FF2B5EF4-FFF2-40B4-BE49-F238E27FC236}">
                <a16:creationId xmlns:a16="http://schemas.microsoft.com/office/drawing/2014/main" id="{3456D568-2F30-4B55-AEF9-7D49902ED638}"/>
              </a:ext>
            </a:extLst>
          </p:cNvPr>
          <p:cNvSpPr>
            <a:spLocks xmlns:a="http://schemas.openxmlformats.org/drawingml/2006/main" noGrp="1"/>
          </p:cNvSpPr>
          <p:nvPr/>
        </p:nvSpPr>
        <p:spPr>
          <a:xfrm xmlns:a="http://schemas.openxmlformats.org/drawingml/2006/main">
            <a:off x="9239250" y="3524250"/>
            <a:ext cx="2381250" cy="1123950"/>
          </a:xfrm>
          <a:prstGeom xmlns:a="http://schemas.openxmlformats.org/drawingml/2006/main" prst="rect">
            <a:avLst/>
          </a:prstGeom>
          <a:solidFill xmlns:a="http://schemas.openxmlformats.org/drawingml/2006/main">
            <a:srgbClr val="E8F0F9"/>
          </a:solidFill>
          <a:ln xmlns:a="http://schemas.openxmlformats.org/drawingml/2006/main" w="19050">
            <a:solidFill>
              <a:srgbClr val="00274C"/>
            </a:solid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HW Ensemble</a:t>
            </a:r>
          </a:p>
          <a:p xmlns:a="http://schemas.openxmlformats.org/drawingml/2006/main">
            <a:pPr algn="ct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Agent</a:t>
            </a:r>
          </a:p>
        </p:txBody>
      </p:sp>
      <p:cxnSp>
        <p:nvCxnSpPr>
          <p:cNvPr id="29" name=""/>
          <p:cNvCxnSpPr>
            <a:stCxn xmlns:a="http://schemas.openxmlformats.org/drawingml/2006/main" id="6" idx="1"/>
            <a:endCxn xmlns:a="http://schemas.openxmlformats.org/drawingml/2006/main" id="7" idx="0"/>
          </p:cNvCxnSpPr>
          <p:nvPr/>
        </p:nvCxnSpPr>
        <p:spPr>
          <a:xfrm xmlns:a="http://schemas.openxmlformats.org/drawingml/2006/main" flipH="1">
            <a:off x="1762125" y="1752600"/>
            <a:ext cx="2905125" cy="1771650"/>
          </a:xfrm>
          <a:prstGeom xmlns:a="http://schemas.openxmlformats.org/drawingml/2006/main" prst="bentConnector2">
            <a:avLst/>
          </a:prstGeom>
          <a:ln xmlns:a="http://schemas.openxmlformats.org/drawingml/2006/main" w="28575">
            <a:solidFill>
              <a:srgbClr val="4A6FA5"/>
            </a:solidFill>
            <a:prstDash val="dash"/>
            <a:headEnd type="arrow" w="med" len="med"/>
            <a:tailEnd type="arrow" w="med" len="med"/>
          </a:ln>
        </p:spPr>
      </p:cxnSp>
      <p:cxnSp>
        <p:nvCxnSpPr>
          <p:cNvPr id="30" name=""/>
          <p:cNvCxnSpPr>
            <a:stCxn xmlns:a="http://schemas.openxmlformats.org/drawingml/2006/main" id="6" idx="3"/>
            <a:endCxn xmlns:a="http://schemas.openxmlformats.org/drawingml/2006/main" id="9" idx="0"/>
          </p:cNvCxnSpPr>
          <p:nvPr/>
        </p:nvCxnSpPr>
        <p:spPr>
          <a:xfrm xmlns:a="http://schemas.openxmlformats.org/drawingml/2006/main">
            <a:off x="7524750" y="1752600"/>
            <a:ext cx="2905125" cy="1771650"/>
          </a:xfrm>
          <a:prstGeom xmlns:a="http://schemas.openxmlformats.org/drawingml/2006/main" prst="bentConnector2">
            <a:avLst/>
          </a:prstGeom>
          <a:ln xmlns:a="http://schemas.openxmlformats.org/drawingml/2006/main" w="28575">
            <a:solidFill>
              <a:srgbClr val="4A6FA5"/>
            </a:solidFill>
            <a:prstDash val="dash"/>
            <a:headEnd type="arrow" w="med" len="med"/>
            <a:tailEnd type="arrow" w="med" len="med"/>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2952750" y="4086225"/>
            <a:ext cx="1714500" cy="0"/>
          </a:xfrm>
          <a:prstGeom xmlns:a="http://schemas.openxmlformats.org/drawingml/2006/main" prst="straightConnector1">
            <a:avLst/>
          </a:prstGeom>
          <a:ln xmlns:a="http://schemas.openxmlformats.org/drawingml/2006/main" w="28575">
            <a:solidFill>
              <a:srgbClr val="00274C"/>
            </a:solidFill>
            <a:prstDash val="solid"/>
            <a:headEnd type="arrow" w="med" len="med"/>
            <a:tailEnd type="arrow" w="med" len="med"/>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7524750" y="4086225"/>
            <a:ext cx="1714500" cy="0"/>
          </a:xfrm>
          <a:prstGeom xmlns:a="http://schemas.openxmlformats.org/drawingml/2006/main" prst="straightConnector1">
            <a:avLst/>
          </a:prstGeom>
          <a:ln xmlns:a="http://schemas.openxmlformats.org/drawingml/2006/main" w="28575">
            <a:solidFill>
              <a:srgbClr val="00274C"/>
            </a:solidFill>
            <a:prstDash val="solid"/>
            <a:tailEnd type="arrow" w="med" len="med"/>
          </a:ln>
        </p:spPr>
      </p:cxnSp>
      <p:sp>
        <p:nvSpPr>
          <p:cNvPr id="14" name="">
            <a:extLst xmlns:a="http://schemas.openxmlformats.org/drawingml/2006/main">
              <a:ext uri="{FF2B5EF4-FFF2-40B4-BE49-F238E27FC236}">
                <a16:creationId xmlns:a16="http://schemas.microsoft.com/office/drawing/2014/main" id="{AABD54AE-15BA-4ABB-8F90-8DBE9E11B88A}"/>
              </a:ext>
            </a:extLst>
          </p:cNvPr>
          <p:cNvSpPr>
            <a:spLocks xmlns:a="http://schemas.openxmlformats.org/drawingml/2006/main" noGrp="1"/>
          </p:cNvSpPr>
          <p:nvPr/>
        </p:nvSpPr>
        <p:spPr>
          <a:xfrm xmlns:a="http://schemas.openxmlformats.org/drawingml/2006/main">
            <a:off x="4457700" y="2257425"/>
            <a:ext cx="3905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Coordinates exploration</a:t>
            </a:r>
          </a:p>
        </p:txBody>
      </p:sp>
      <p:sp>
        <p:nvSpPr>
          <p:cNvPr id="15" name="">
            <a:extLst xmlns:a="http://schemas.openxmlformats.org/drawingml/2006/main">
              <a:ext uri="{FF2B5EF4-FFF2-40B4-BE49-F238E27FC236}">
                <a16:creationId xmlns:a16="http://schemas.microsoft.com/office/drawing/2014/main" id="{11BDAE1B-EFB1-49AE-A4C2-2BB0F4620A4F}"/>
              </a:ext>
            </a:extLst>
          </p:cNvPr>
          <p:cNvSpPr>
            <a:spLocks xmlns:a="http://schemas.openxmlformats.org/drawingml/2006/main" noGrp="1"/>
          </p:cNvSpPr>
          <p:nvPr/>
        </p:nvSpPr>
        <p:spPr>
          <a:xfrm xmlns:a="http://schemas.openxmlformats.org/drawingml/2006/main">
            <a:off x="3095625" y="3267075"/>
            <a:ext cx="1476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Code +</a:t>
            </a:r>
          </a:p>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strategies</a:t>
            </a:r>
          </a:p>
        </p:txBody>
      </p:sp>
      <p:sp>
        <p:nvSpPr>
          <p:cNvPr id="16" name="">
            <a:extLst xmlns:a="http://schemas.openxmlformats.org/drawingml/2006/main">
              <a:ext uri="{FF2B5EF4-FFF2-40B4-BE49-F238E27FC236}">
                <a16:creationId xmlns:a16="http://schemas.microsoft.com/office/drawing/2014/main" id="{D981C2E9-760A-47DA-9ED9-7EA9C8F38FC7}"/>
              </a:ext>
            </a:extLst>
          </p:cNvPr>
          <p:cNvSpPr>
            <a:spLocks xmlns:a="http://schemas.openxmlformats.org/drawingml/2006/main" noGrp="1"/>
          </p:cNvSpPr>
          <p:nvPr/>
        </p:nvSpPr>
        <p:spPr>
          <a:xfrm xmlns:a="http://schemas.openxmlformats.org/drawingml/2006/main">
            <a:off x="3095625" y="433387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New records</a:t>
            </a:r>
          </a:p>
        </p:txBody>
      </p:sp>
      <p:sp>
        <p:nvSpPr>
          <p:cNvPr id="17" name="">
            <a:extLst xmlns:a="http://schemas.openxmlformats.org/drawingml/2006/main">
              <a:ext uri="{FF2B5EF4-FFF2-40B4-BE49-F238E27FC236}">
                <a16:creationId xmlns:a16="http://schemas.microsoft.com/office/drawing/2014/main" id="{67C38A37-B699-46A4-849F-EF2CDFB5C10A}"/>
              </a:ext>
            </a:extLst>
          </p:cNvPr>
          <p:cNvSpPr>
            <a:spLocks xmlns:a="http://schemas.openxmlformats.org/drawingml/2006/main" noGrp="1"/>
          </p:cNvSpPr>
          <p:nvPr/>
        </p:nvSpPr>
        <p:spPr>
          <a:xfrm xmlns:a="http://schemas.openxmlformats.org/drawingml/2006/main">
            <a:off x="7715250" y="3267075"/>
            <a:ext cx="1476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Workload</a:t>
            </a:r>
          </a:p>
          <a:p xmlns:a="http://schemas.openxmlformats.org/drawingml/2006/main">
            <a:pPr>
              <a:defRPr sz="1800" b="0">
                <a:solidFill>
                  <a:srgbClr val="00274C"/>
                </a:solidFill>
                <a:latin typeface="Helvetica Neue"/>
                <a:ea typeface="Helvetica Neue"/>
                <a:cs typeface="Helvetica Neue"/>
              </a:defRPr>
            </a:pPr>
            <a:r>
              <a:rPr sz="1800" b="0">
                <a:solidFill>
                  <a:srgbClr val="00274C"/>
                </a:solidFill>
                <a:latin typeface="Helvetica Neue"/>
                <a:ea typeface="Helvetica Neue"/>
                <a:cs typeface="Helvetica Neue"/>
              </a:rPr>
              <a:t>view</a:t>
            </a:r>
          </a:p>
        </p:txBody>
      </p:sp>
      <p:sp>
        <p:nvSpPr>
          <p:cNvPr id="18" name="">
            <a:extLst xmlns:a="http://schemas.openxmlformats.org/drawingml/2006/main">
              <a:ext uri="{FF2B5EF4-FFF2-40B4-BE49-F238E27FC236}">
                <a16:creationId xmlns:a16="http://schemas.microsoft.com/office/drawing/2014/main" id="{67A2F145-42C5-48AF-89ED-72703106D1B1}"/>
              </a:ext>
            </a:extLst>
          </p:cNvPr>
          <p:cNvSpPr>
            <a:spLocks xmlns:a="http://schemas.openxmlformats.org/drawingml/2006/main" noGrp="1"/>
          </p:cNvSpPr>
          <p:nvPr/>
        </p:nvSpPr>
        <p:spPr>
          <a:xfrm xmlns:a="http://schemas.openxmlformats.org/drawingml/2006/main">
            <a:off x="619125" y="52387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274C"/>
                </a:solidFill>
                <a:latin typeface="Helvetica Neue"/>
                <a:ea typeface="Helvetica Neue"/>
                <a:cs typeface="Helvetica Neue"/>
              </a:defRPr>
            </a:pPr>
            <a:r>
              <a:rPr sz="2175" b="1">
                <a:solidFill>
                  <a:srgbClr val="00274C"/>
                </a:solidFill>
                <a:latin typeface="Helvetica Neue"/>
                <a:ea typeface="Helvetica Neue"/>
                <a:cs typeface="Helvetica Neue"/>
              </a:rPr>
              <a:t>Implemented: queries, record writes, workload export</a:t>
            </a:r>
          </a:p>
        </p:txBody>
      </p:sp>
      <p:sp>
        <p:nvSpPr>
          <p:cNvPr id="19" name="">
            <a:extLst xmlns:a="http://schemas.openxmlformats.org/drawingml/2006/main">
              <a:ext uri="{FF2B5EF4-FFF2-40B4-BE49-F238E27FC236}">
                <a16:creationId xmlns:a16="http://schemas.microsoft.com/office/drawing/2014/main" id="{9F2B3045-7941-4D33-8DF5-227A275C1FE6}"/>
              </a:ext>
            </a:extLst>
          </p:cNvPr>
          <p:cNvSpPr>
            <a:spLocks xmlns:a="http://schemas.openxmlformats.org/drawingml/2006/main" noGrp="1"/>
          </p:cNvSpPr>
          <p:nvPr/>
        </p:nvSpPr>
        <p:spPr>
          <a:xfrm xmlns:a="http://schemas.openxmlformats.org/drawingml/2006/main">
            <a:off x="619125" y="57245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5555"/>
                </a:solidFill>
                <a:latin typeface="Helvetica Neue"/>
                <a:ea typeface="Helvetica Neue"/>
                <a:cs typeface="Helvetica Neue"/>
              </a:defRPr>
            </a:pPr>
            <a:r>
              <a:rPr sz="1725" b="0">
                <a:solidFill>
                  <a:srgbClr val="555555"/>
                </a:solidFill>
                <a:latin typeface="Helvetica Neue"/>
                <a:ea typeface="Helvetica Neue"/>
                <a:cs typeface="Helvetica Neue"/>
              </a:rPr>
              <a:t>Dashed links: proposed coordination. Full agent integration remains to test.</a:t>
            </a:r>
          </a:p>
        </p:txBody>
      </p:sp>
    </p:spTree>
    <p:extLst>
      <p:ext uri="{BB962C8B-B14F-4D97-AF65-F5344CB8AC3E}">
        <p14:creationId xmlns:p14="http://schemas.microsoft.com/office/powerpoint/2010/main" val="8920991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E2F9466-A076-4F80-8126-B4379D5A2ED3}"/>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112A5C-1E50-48C6-B9DD-272A66B6C6CC}"/>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A5984DD-1818-40E4-90E7-ABCF0189C6E0}"/>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One example: PageRank’s contribution gather</a:t>
            </a:r>
          </a:p>
        </p:txBody>
      </p:sp>
      <p:sp>
        <p:nvSpPr>
          <p:cNvPr id="4" name="">
            <a:extLst xmlns:a="http://schemas.openxmlformats.org/drawingml/2006/main">
              <a:ext uri="{FF2B5EF4-FFF2-40B4-BE49-F238E27FC236}">
                <a16:creationId xmlns:a16="http://schemas.microsoft.com/office/drawing/2014/main" id="{E6C07793-FCC8-4AEB-8803-4158D8A2863B}"/>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6C46C76B-ECF5-4803-947B-92909D040F35}"/>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F8B1EB8E-F4D6-494E-AC1D-CDF43BB187D4}"/>
              </a:ext>
            </a:extLst>
          </p:cNvPr>
          <p:cNvSpPr>
            <a:spLocks xmlns:a="http://schemas.openxmlformats.org/drawingml/2006/main" noGrp="1"/>
          </p:cNvSpPr>
          <p:nvPr/>
        </p:nvSpPr>
        <p:spPr>
          <a:xfrm xmlns:a="http://schemas.openxmlformats.org/drawingml/2006/main">
            <a:off x="533400" y="1390650"/>
            <a:ext cx="11125200" cy="866775"/>
          </a:xfrm>
          <a:prstGeom xmlns:a="http://schemas.openxmlformats.org/drawingml/2006/main" prst="rect">
            <a:avLst/>
          </a:prstGeom>
          <a:solidFill xmlns:a="http://schemas.openxmlformats.org/drawingml/2006/main">
            <a:srgbClr val="F4F4F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82BB178-D626-4667-BDF2-A35192D1C4A8}"/>
              </a:ext>
            </a:extLst>
          </p:cNvPr>
          <p:cNvSpPr>
            <a:spLocks xmlns:a="http://schemas.openxmlformats.org/drawingml/2006/main" noGrp="1"/>
          </p:cNvSpPr>
          <p:nvPr/>
        </p:nvSpPr>
        <p:spPr>
          <a:xfrm xmlns:a="http://schemas.openxmlformats.org/drawingml/2006/main">
            <a:off x="742950" y="15906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274C"/>
                </a:solidFill>
                <a:latin typeface="Helvetica Neue"/>
                <a:ea typeface="Helvetica Neue"/>
                <a:cs typeface="Helvetica Neue"/>
              </a:defRPr>
            </a:pPr>
            <a:r>
              <a:rPr sz="2475" b="1">
                <a:solidFill>
                  <a:srgbClr val="00274C"/>
                </a:solidFill>
                <a:latin typeface="Helvetica Neue"/>
                <a:ea typeface="Helvetica Neue"/>
                <a:cs typeface="Helvetica Neue"/>
              </a:rPr>
              <a:t>Jacobi: contribution[neighbor_index[e]]</a:t>
            </a:r>
          </a:p>
        </p:txBody>
      </p:sp>
      <p:sp>
        <p:nvSpPr>
          <p:cNvPr id="8" name="">
            <a:extLst xmlns:a="http://schemas.openxmlformats.org/drawingml/2006/main">
              <a:ext uri="{FF2B5EF4-FFF2-40B4-BE49-F238E27FC236}">
                <a16:creationId xmlns:a16="http://schemas.microsoft.com/office/drawing/2014/main" id="{254F732E-4D94-4020-A691-89F35412A61D}"/>
              </a:ext>
            </a:extLst>
          </p:cNvPr>
          <p:cNvSpPr>
            <a:spLocks xmlns:a="http://schemas.openxmlformats.org/drawingml/2006/main" noGrp="1"/>
          </p:cNvSpPr>
          <p:nvPr/>
        </p:nvSpPr>
        <p:spPr>
          <a:xfrm xmlns:a="http://schemas.openxmlformats.org/drawingml/2006/main">
            <a:off x="609600" y="2876550"/>
            <a:ext cx="5000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SW agent asks</a:t>
            </a:r>
          </a:p>
        </p:txBody>
      </p:sp>
      <p:sp>
        <p:nvSpPr>
          <p:cNvPr id="9" name="">
            <a:extLst xmlns:a="http://schemas.openxmlformats.org/drawingml/2006/main">
              <a:ext uri="{FF2B5EF4-FFF2-40B4-BE49-F238E27FC236}">
                <a16:creationId xmlns:a16="http://schemas.microsoft.com/office/drawing/2014/main" id="{F20C3279-A4CF-420F-9C2B-AAD6D75E3C62}"/>
              </a:ext>
            </a:extLst>
          </p:cNvPr>
          <p:cNvSpPr>
            <a:spLocks xmlns:a="http://schemas.openxmlformats.org/drawingml/2006/main" noGrp="1"/>
          </p:cNvSpPr>
          <p:nvPr/>
        </p:nvSpPr>
        <p:spPr>
          <a:xfrm xmlns:a="http://schemas.openxmlformats.org/drawingml/2006/main">
            <a:off x="609600" y="347662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A1A1A"/>
                </a:solidFill>
                <a:latin typeface="Helvetica Neue"/>
                <a:ea typeface="Helvetica Neue"/>
                <a:cs typeface="Helvetica Neue"/>
              </a:defRPr>
            </a:pPr>
            <a:r>
              <a:rPr sz="2250" b="0">
                <a:solidFill>
                  <a:srgbClr val="1A1A1A"/>
                </a:solidFill>
                <a:latin typeface="Helvetica Neue"/>
                <a:ea typeface="Helvetica Neue"/>
                <a:cs typeface="Helvetica Neue"/>
              </a:rPr>
              <a:t>“Which strategies fit this code?”</a:t>
            </a:r>
          </a:p>
        </p:txBody>
      </p:sp>
      <p:sp>
        <p:nvSpPr>
          <p:cNvPr id="10" name="">
            <a:extLst xmlns:a="http://schemas.openxmlformats.org/drawingml/2006/main">
              <a:ext uri="{FF2B5EF4-FFF2-40B4-BE49-F238E27FC236}">
                <a16:creationId xmlns:a16="http://schemas.microsoft.com/office/drawing/2014/main" id="{109D1653-63C0-4086-BF15-85697D21D2D8}"/>
              </a:ext>
            </a:extLst>
          </p:cNvPr>
          <p:cNvSpPr>
            <a:spLocks xmlns:a="http://schemas.openxmlformats.org/drawingml/2006/main" noGrp="1"/>
          </p:cNvSpPr>
          <p:nvPr/>
        </p:nvSpPr>
        <p:spPr>
          <a:xfrm xmlns:a="http://schemas.openxmlformats.org/drawingml/2006/main">
            <a:off x="609600" y="4543425"/>
            <a:ext cx="5143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Packing passes recorded conditions.</a:t>
            </a:r>
          </a:p>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Manual checks remain.</a:t>
            </a:r>
          </a:p>
        </p:txBody>
      </p:sp>
      <p:sp>
        <p:nvSpPr>
          <p:cNvPr id="11" name="">
            <a:extLst xmlns:a="http://schemas.openxmlformats.org/drawingml/2006/main">
              <a:ext uri="{FF2B5EF4-FFF2-40B4-BE49-F238E27FC236}">
                <a16:creationId xmlns:a16="http://schemas.microsoft.com/office/drawing/2014/main" id="{ECF62F80-67E8-4674-9984-2678958D6640}"/>
              </a:ext>
            </a:extLst>
          </p:cNvPr>
          <p:cNvSpPr>
            <a:spLocks xmlns:a="http://schemas.openxmlformats.org/drawingml/2006/main" noGrp="1"/>
          </p:cNvSpPr>
          <p:nvPr/>
        </p:nvSpPr>
        <p:spPr>
          <a:xfrm xmlns:a="http://schemas.openxmlformats.org/drawingml/2006/main">
            <a:off x="6496050" y="28765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HW agent asks</a:t>
            </a:r>
          </a:p>
        </p:txBody>
      </p:sp>
      <p:sp>
        <p:nvSpPr>
          <p:cNvPr id="12" name="">
            <a:extLst xmlns:a="http://schemas.openxmlformats.org/drawingml/2006/main">
              <a:ext uri="{FF2B5EF4-FFF2-40B4-BE49-F238E27FC236}">
                <a16:creationId xmlns:a16="http://schemas.microsoft.com/office/drawing/2014/main" id="{07C82BCC-0134-403B-9F3A-08A699E76359}"/>
              </a:ext>
            </a:extLst>
          </p:cNvPr>
          <p:cNvSpPr>
            <a:spLocks xmlns:a="http://schemas.openxmlformats.org/drawingml/2006/main" noGrp="1"/>
          </p:cNvSpPr>
          <p:nvPr/>
        </p:nvSpPr>
        <p:spPr>
          <a:xfrm xmlns:a="http://schemas.openxmlformats.org/drawingml/2006/main">
            <a:off x="6496050" y="347662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A1A1A"/>
                </a:solidFill>
                <a:latin typeface="Helvetica Neue"/>
                <a:ea typeface="Helvetica Neue"/>
                <a:cs typeface="Helvetica Neue"/>
              </a:defRPr>
            </a:pPr>
            <a:r>
              <a:rPr sz="2250" b="0">
                <a:solidFill>
                  <a:srgbClr val="1A1A1A"/>
                </a:solidFill>
                <a:latin typeface="Helvetica Neue"/>
                <a:ea typeface="Helvetica Neue"/>
                <a:cs typeface="Helvetica Neue"/>
              </a:rPr>
              <a:t>“What must the hardware support?”</a:t>
            </a:r>
          </a:p>
        </p:txBody>
      </p:sp>
      <p:sp>
        <p:nvSpPr>
          <p:cNvPr id="13" name="">
            <a:extLst xmlns:a="http://schemas.openxmlformats.org/drawingml/2006/main">
              <a:ext uri="{FF2B5EF4-FFF2-40B4-BE49-F238E27FC236}">
                <a16:creationId xmlns:a16="http://schemas.microsoft.com/office/drawing/2014/main" id="{154CBB1E-29D8-458D-A87C-526F05A7C199}"/>
              </a:ext>
            </a:extLst>
          </p:cNvPr>
          <p:cNvSpPr>
            <a:spLocks xmlns:a="http://schemas.openxmlformats.org/drawingml/2006/main" noGrp="1"/>
          </p:cNvSpPr>
          <p:nvPr/>
        </p:nvSpPr>
        <p:spPr>
          <a:xfrm xmlns:a="http://schemas.openxmlformats.org/drawingml/2006/main">
            <a:off x="6496050" y="4543425"/>
            <a:ext cx="5143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Indirect reads and dependencies.</a:t>
            </a:r>
          </a:p>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Input-specific footprint and timing.</a:t>
            </a:r>
          </a:p>
        </p:txBody>
      </p:sp>
    </p:spTree>
    <p:extLst>
      <p:ext uri="{BB962C8B-B14F-4D97-AF65-F5344CB8AC3E}">
        <p14:creationId xmlns:p14="http://schemas.microsoft.com/office/powerpoint/2010/main" val="14013024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85038B-8FA3-4393-A962-05EB49442440}"/>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500085-9CBC-4DF5-A99B-F1A87D5DEC3A}"/>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4F4A4C-388D-4F9E-9BE3-5C317572D252}"/>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What works today, and what comes next</a:t>
            </a:r>
          </a:p>
        </p:txBody>
      </p:sp>
      <p:sp>
        <p:nvSpPr>
          <p:cNvPr id="4" name="">
            <a:extLst xmlns:a="http://schemas.openxmlformats.org/drawingml/2006/main">
              <a:ext uri="{FF2B5EF4-FFF2-40B4-BE49-F238E27FC236}">
                <a16:creationId xmlns:a16="http://schemas.microsoft.com/office/drawing/2014/main" id="{B5854AE3-F9E8-4F50-B27D-0989E1E9791E}"/>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D6231326-D75A-4622-973F-A4502B454178}"/>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E79E1434-A3E1-4A35-8DDC-DEF5578C558D}"/>
              </a:ext>
            </a:extLst>
          </p:cNvPr>
          <p:cNvSpPr>
            <a:spLocks xmlns:a="http://schemas.openxmlformats.org/drawingml/2006/main" noGrp="1"/>
          </p:cNvSpPr>
          <p:nvPr/>
        </p:nvSpPr>
        <p:spPr>
          <a:xfrm xmlns:a="http://schemas.openxmlformats.org/drawingml/2006/main">
            <a:off x="609600" y="15430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274C"/>
                </a:solidFill>
                <a:latin typeface="Helvetica Neue"/>
                <a:ea typeface="Helvetica Neue"/>
                <a:cs typeface="Helvetica Neue"/>
              </a:defRPr>
            </a:pPr>
            <a:r>
              <a:rPr sz="2625" b="1">
                <a:solidFill>
                  <a:srgbClr val="00274C"/>
                </a:solidFill>
                <a:latin typeface="Helvetica Neue"/>
                <a:ea typeface="Helvetica Neue"/>
                <a:cs typeface="Helvetica Neue"/>
              </a:rPr>
              <a:t>6 kernels     8 implementations     32 profiles</a:t>
            </a:r>
          </a:p>
        </p:txBody>
      </p:sp>
      <p:sp>
        <p:nvSpPr>
          <p:cNvPr id="7" name="">
            <a:extLst xmlns:a="http://schemas.openxmlformats.org/drawingml/2006/main">
              <a:ext uri="{FF2B5EF4-FFF2-40B4-BE49-F238E27FC236}">
                <a16:creationId xmlns:a16="http://schemas.microsoft.com/office/drawing/2014/main" id="{19F79C03-A94B-41DC-90CA-116980F710D8}"/>
              </a:ext>
            </a:extLst>
          </p:cNvPr>
          <p:cNvSpPr>
            <a:spLocks xmlns:a="http://schemas.openxmlformats.org/drawingml/2006/main" noGrp="1"/>
          </p:cNvSpPr>
          <p:nvPr/>
        </p:nvSpPr>
        <p:spPr>
          <a:xfrm xmlns:a="http://schemas.openxmlformats.org/drawingml/2006/main">
            <a:off x="609600" y="22574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55555"/>
                </a:solidFill>
                <a:latin typeface="Helvetica Neue"/>
                <a:ea typeface="Helvetica Neue"/>
                <a:cs typeface="Helvetica Neue"/>
              </a:defRPr>
            </a:pPr>
            <a:r>
              <a:rPr sz="2100" b="0">
                <a:solidFill>
                  <a:srgbClr val="555555"/>
                </a:solidFill>
                <a:latin typeface="Helvetica Neue"/>
                <a:ea typeface="Helvetica Neue"/>
                <a:cs typeface="Helvetica Neue"/>
              </a:rPr>
              <a:t>31 complete profiles across 4 inputs</a:t>
            </a:r>
          </a:p>
        </p:txBody>
      </p:sp>
      <p:sp>
        <p:nvSpPr>
          <p:cNvPr id="8" name="">
            <a:extLst xmlns:a="http://schemas.openxmlformats.org/drawingml/2006/main">
              <a:ext uri="{FF2B5EF4-FFF2-40B4-BE49-F238E27FC236}">
                <a16:creationId xmlns:a16="http://schemas.microsoft.com/office/drawing/2014/main" id="{4ED11C19-89C8-469C-98F6-E7EC95DAE226}"/>
              </a:ext>
            </a:extLst>
          </p:cNvPr>
          <p:cNvSpPr>
            <a:spLocks xmlns:a="http://schemas.openxmlformats.org/drawingml/2006/main" noGrp="1"/>
          </p:cNvSpPr>
          <p:nvPr/>
        </p:nvSpPr>
        <p:spPr>
          <a:xfrm xmlns:a="http://schemas.openxmlformats.org/drawingml/2006/main">
            <a:off x="609600" y="3343275"/>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74C"/>
                </a:solidFill>
                <a:latin typeface="Helvetica Neue"/>
                <a:ea typeface="Helvetica Neue"/>
                <a:cs typeface="Helvetica Neue"/>
              </a:defRPr>
            </a:pPr>
            <a:r>
              <a:rPr sz="2325" b="1">
                <a:solidFill>
                  <a:srgbClr val="00274C"/>
                </a:solidFill>
                <a:latin typeface="Helvetica Neue"/>
                <a:ea typeface="Helvetica Neue"/>
                <a:cs typeface="Helvetica Neue"/>
              </a:rPr>
              <a:t>Working interfaces</a:t>
            </a:r>
          </a:p>
        </p:txBody>
      </p:sp>
      <p:sp>
        <p:nvSpPr>
          <p:cNvPr id="9" name="">
            <a:extLst xmlns:a="http://schemas.openxmlformats.org/drawingml/2006/main">
              <a:ext uri="{FF2B5EF4-FFF2-40B4-BE49-F238E27FC236}">
                <a16:creationId xmlns:a16="http://schemas.microsoft.com/office/drawing/2014/main" id="{82365B70-9185-451F-BE97-6A07673701B0}"/>
              </a:ext>
            </a:extLst>
          </p:cNvPr>
          <p:cNvSpPr>
            <a:spLocks xmlns:a="http://schemas.openxmlformats.org/drawingml/2006/main" noGrp="1"/>
          </p:cNvSpPr>
          <p:nvPr/>
        </p:nvSpPr>
        <p:spPr>
          <a:xfrm xmlns:a="http://schemas.openxmlformats.org/drawingml/2006/main">
            <a:off x="609600" y="3990975"/>
            <a:ext cx="52863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Validate and write records</a:t>
            </a:r>
          </a:p>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Query code and strategies</a:t>
            </a:r>
          </a:p>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Export HW workload views</a:t>
            </a:r>
          </a:p>
        </p:txBody>
      </p:sp>
      <p:sp>
        <p:nvSpPr>
          <p:cNvPr id="10" name="">
            <a:extLst xmlns:a="http://schemas.openxmlformats.org/drawingml/2006/main">
              <a:ext uri="{FF2B5EF4-FFF2-40B4-BE49-F238E27FC236}">
                <a16:creationId xmlns:a16="http://schemas.microsoft.com/office/drawing/2014/main" id="{9042A6E6-4528-4A26-AC47-7041A789E734}"/>
              </a:ext>
            </a:extLst>
          </p:cNvPr>
          <p:cNvSpPr>
            <a:spLocks xmlns:a="http://schemas.openxmlformats.org/drawingml/2006/main" noGrp="1"/>
          </p:cNvSpPr>
          <p:nvPr/>
        </p:nvSpPr>
        <p:spPr>
          <a:xfrm xmlns:a="http://schemas.openxmlformats.org/drawingml/2006/main">
            <a:off x="6819900" y="3343275"/>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74C"/>
                </a:solidFill>
                <a:latin typeface="Helvetica Neue"/>
                <a:ea typeface="Helvetica Neue"/>
                <a:cs typeface="Helvetica Neue"/>
              </a:defRPr>
            </a:pPr>
            <a:r>
              <a:rPr sz="2325" b="1">
                <a:solidFill>
                  <a:srgbClr val="00274C"/>
                </a:solidFill>
                <a:latin typeface="Helvetica Neue"/>
                <a:ea typeface="Helvetica Neue"/>
                <a:cs typeface="Helvetica Neue"/>
              </a:rPr>
              <a:t>Next experiment</a:t>
            </a:r>
          </a:p>
        </p:txBody>
      </p:sp>
      <p:sp>
        <p:nvSpPr>
          <p:cNvPr id="11" name="">
            <a:extLst xmlns:a="http://schemas.openxmlformats.org/drawingml/2006/main">
              <a:ext uri="{FF2B5EF4-FFF2-40B4-BE49-F238E27FC236}">
                <a16:creationId xmlns:a16="http://schemas.microsoft.com/office/drawing/2014/main" id="{E35D9A96-55DC-4A13-A737-D2C3374C95B6}"/>
              </a:ext>
            </a:extLst>
          </p:cNvPr>
          <p:cNvSpPr>
            <a:spLocks xmlns:a="http://schemas.openxmlformats.org/drawingml/2006/main" noGrp="1"/>
          </p:cNvSpPr>
          <p:nvPr/>
        </p:nvSpPr>
        <p:spPr>
          <a:xfrm xmlns:a="http://schemas.openxmlformats.org/drawingml/2006/main">
            <a:off x="6819900" y="3990975"/>
            <a:ext cx="49053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Apply one strategy.</a:t>
            </a:r>
          </a:p>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Check correctness.</a:t>
            </a:r>
          </a:p>
          <a:p xmlns:a="http://schemas.openxmlformats.org/drawingml/2006/main">
            <a:pPr>
              <a:defRPr sz="2175" b="0">
                <a:solidFill>
                  <a:srgbClr val="1A1A1A"/>
                </a:solidFill>
                <a:latin typeface="Helvetica Neue"/>
                <a:ea typeface="Helvetica Neue"/>
                <a:cs typeface="Helvetica Neue"/>
              </a:defRPr>
            </a:pPr>
            <a:r>
              <a:rPr sz="2175" b="0">
                <a:solidFill>
                  <a:srgbClr val="1A1A1A"/>
                </a:solidFill>
                <a:latin typeface="Helvetica Neue"/>
                <a:ea typeface="Helvetica Neue"/>
                <a:cs typeface="Helvetica Neue"/>
              </a:rPr>
              <a:t>Measure against its baseline.</a:t>
            </a:r>
          </a:p>
        </p:txBody>
      </p:sp>
    </p:spTree>
    <p:extLst>
      <p:ext uri="{BB962C8B-B14F-4D97-AF65-F5344CB8AC3E}">
        <p14:creationId xmlns:p14="http://schemas.microsoft.com/office/powerpoint/2010/main" val="19292825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23AB624-701C-42D5-AE5A-F07E061BCEAF}"/>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E6B22D-CA45-4A3C-8324-D1B8F9D82B16}"/>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F2438F-A459-4B87-B3FC-C8CC31F2D073}"/>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PageRank scaling changes with input size</a:t>
            </a:r>
          </a:p>
        </p:txBody>
      </p:sp>
      <p:sp>
        <p:nvSpPr>
          <p:cNvPr id="4" name="">
            <a:extLst xmlns:a="http://schemas.openxmlformats.org/drawingml/2006/main">
              <a:ext uri="{FF2B5EF4-FFF2-40B4-BE49-F238E27FC236}">
                <a16:creationId xmlns:a16="http://schemas.microsoft.com/office/drawing/2014/main" id="{A576549E-2562-48C2-9BDB-D2CE97CFA4CA}"/>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7A5BF57D-E6B9-44FA-AA06-7BD51EC14C72}"/>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C0864F11-8ED0-4291-B3FD-4FBFCB19AA87}"/>
              </a:ext>
            </a:extLst>
          </p:cNvPr>
          <p:cNvSpPr>
            <a:spLocks xmlns:a="http://schemas.openxmlformats.org/drawingml/2006/main" noGrp="1"/>
          </p:cNvSpPr>
          <p:nvPr/>
        </p:nvSpPr>
        <p:spPr>
          <a:xfrm xmlns:a="http://schemas.openxmlformats.org/drawingml/2006/main">
            <a:off x="457200" y="121920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Jacobi PageRank on mbit10: median of 5 trials per thread count</a:t>
            </a:r>
          </a:p>
        </p:txBody>
      </p:sp>
      <p:graphicFrame>
        <p:nvGraphicFramePr>
          <p:cNvPr id="19" name="Chart"/>
          <p:cNvGraphicFramePr/>
          <p:nvPr/>
        </p:nvGraphicFramePr>
        <p:xfrm>
          <a:off xmlns:a="http://schemas.openxmlformats.org/drawingml/2006/main" x="381000" y="1752600"/>
          <a:ext xmlns:a="http://schemas.openxmlformats.org/drawingml/2006/main" cx="7477125" cy="3581400"/>
        </p:xfrm>
        <a:graphic xmlns:a="http://schemas.openxmlformats.org/drawingml/2006/main">
          <a:graphicData uri="http://schemas.openxmlformats.org/drawingml/2006/chart">
            <c:chart xmlns:r="http://schemas.openxmlformats.org/officeDocument/2006/relationships" xmlns:c="http://schemas.openxmlformats.org/drawingml/2006/chart" r:id="R83a76e7487184d60"/>
          </a:graphicData>
        </a:graphic>
      </p:graphicFrame>
      <p:sp>
        <p:nvSpPr>
          <p:cNvPr id="8" name="">
            <a:extLst xmlns:a="http://schemas.openxmlformats.org/drawingml/2006/main">
              <a:ext uri="{FF2B5EF4-FFF2-40B4-BE49-F238E27FC236}">
                <a16:creationId xmlns:a16="http://schemas.microsoft.com/office/drawing/2014/main" id="{3F899CF5-87D0-4D43-A865-0D7F17583E24}"/>
              </a:ext>
            </a:extLst>
          </p:cNvPr>
          <p:cNvSpPr>
            <a:spLocks xmlns:a="http://schemas.openxmlformats.org/drawingml/2006/main" noGrp="1"/>
          </p:cNvSpPr>
          <p:nvPr/>
        </p:nvSpPr>
        <p:spPr>
          <a:xfrm xmlns:a="http://schemas.openxmlformats.org/drawingml/2006/main">
            <a:off x="8248650" y="1962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274C"/>
                </a:solidFill>
                <a:latin typeface="Helvetica Neue"/>
                <a:ea typeface="Helvetica Neue"/>
                <a:cs typeface="Helvetica Neue"/>
              </a:defRPr>
            </a:pPr>
            <a:r>
              <a:rPr sz="2100" b="1">
                <a:solidFill>
                  <a:srgbClr val="00274C"/>
                </a:solidFill>
                <a:latin typeface="Helvetica Neue"/>
                <a:ea typeface="Helvetica Neue"/>
                <a:cs typeface="Helvetica Neue"/>
              </a:rPr>
              <a:t>At 16 threads</a:t>
            </a:r>
          </a:p>
        </p:txBody>
      </p:sp>
      <p:sp>
        <p:nvSpPr>
          <p:cNvPr id="9" name="">
            <a:extLst xmlns:a="http://schemas.openxmlformats.org/drawingml/2006/main">
              <a:ext uri="{FF2B5EF4-FFF2-40B4-BE49-F238E27FC236}">
                <a16:creationId xmlns:a16="http://schemas.microsoft.com/office/drawing/2014/main" id="{D496A86C-9ADA-4DC2-8C54-5CFC3C429DC8}"/>
              </a:ext>
            </a:extLst>
          </p:cNvPr>
          <p:cNvSpPr>
            <a:spLocks xmlns:a="http://schemas.openxmlformats.org/drawingml/2006/main" noGrp="1"/>
          </p:cNvSpPr>
          <p:nvPr/>
        </p:nvSpPr>
        <p:spPr>
          <a:xfrm xmlns:a="http://schemas.openxmlformats.org/drawingml/2006/main">
            <a:off x="8248650" y="250507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A1A1A"/>
                </a:solidFill>
                <a:latin typeface="Helvetica Neue"/>
                <a:ea typeface="Helvetica Neue"/>
                <a:cs typeface="Helvetica Neue"/>
              </a:defRPr>
            </a:pPr>
            <a:r>
              <a:rPr sz="2100" b="1">
                <a:solidFill>
                  <a:srgbClr val="1A1A1A"/>
                </a:solidFill>
                <a:latin typeface="Helvetica Neue"/>
                <a:ea typeface="Helvetica Neue"/>
                <a:cs typeface="Helvetica Neue"/>
              </a:rPr>
              <a:t>Scale 16: 3.93×</a:t>
            </a:r>
          </a:p>
          <a:p xmlns:a="http://schemas.openxmlformats.org/drawingml/2006/main">
            <a:pPr>
              <a:defRPr sz="2100" b="1">
                <a:solidFill>
                  <a:srgbClr val="1A1A1A"/>
                </a:solidFill>
                <a:latin typeface="Helvetica Neue"/>
                <a:ea typeface="Helvetica Neue"/>
                <a:cs typeface="Helvetica Neue"/>
              </a:defRPr>
            </a:pPr>
            <a:r>
              <a:rPr sz="2100" b="1">
                <a:solidFill>
                  <a:srgbClr val="1A1A1A"/>
                </a:solidFill>
                <a:latin typeface="Helvetica Neue"/>
                <a:ea typeface="Helvetica Neue"/>
                <a:cs typeface="Helvetica Neue"/>
              </a:rPr>
              <a:t>Scale 22: 13.35×</a:t>
            </a:r>
          </a:p>
        </p:txBody>
      </p:sp>
      <p:sp>
        <p:nvSpPr>
          <p:cNvPr id="10" name="">
            <a:extLst xmlns:a="http://schemas.openxmlformats.org/drawingml/2006/main">
              <a:ext uri="{FF2B5EF4-FFF2-40B4-BE49-F238E27FC236}">
                <a16:creationId xmlns:a16="http://schemas.microsoft.com/office/drawing/2014/main" id="{B50C242F-C67C-4B00-B4B9-CD91D0749ACA}"/>
              </a:ext>
            </a:extLst>
          </p:cNvPr>
          <p:cNvSpPr>
            <a:spLocks xmlns:a="http://schemas.openxmlformats.org/drawingml/2006/main" noGrp="1"/>
          </p:cNvSpPr>
          <p:nvPr/>
        </p:nvSpPr>
        <p:spPr>
          <a:xfrm xmlns:a="http://schemas.openxmlformats.org/drawingml/2006/main">
            <a:off x="8248650" y="3638550"/>
            <a:ext cx="33813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Footprint / socket L3</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16: 0.33×</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22: 23.06×</a:t>
            </a:r>
          </a:p>
        </p:txBody>
      </p:sp>
      <p:sp>
        <p:nvSpPr>
          <p:cNvPr id="11" name="">
            <a:extLst xmlns:a="http://schemas.openxmlformats.org/drawingml/2006/main">
              <a:ext uri="{FF2B5EF4-FFF2-40B4-BE49-F238E27FC236}">
                <a16:creationId xmlns:a16="http://schemas.microsoft.com/office/drawing/2014/main" id="{9085570C-684D-474F-9136-D89EF922D5B4}"/>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2716C45-5172-4962-A824-ACBE1327915F}"/>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Same implementation, different scaling. Profiles must retain input and machine context.</a:t>
            </a:r>
          </a:p>
        </p:txBody>
      </p:sp>
    </p:spTree>
    <p:extLst>
      <p:ext uri="{BB962C8B-B14F-4D97-AF65-F5344CB8AC3E}">
        <p14:creationId xmlns:p14="http://schemas.microsoft.com/office/powerpoint/2010/main" val="6767426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FCCF2F-D0E8-47FB-89C4-412396B745A7}"/>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C9F42C-5087-4B0C-9BA9-5EE090B89159}"/>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E3A3AF-4946-4284-8271-8A65BEAE4AD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complete record inventory</a:t>
            </a:r>
          </a:p>
        </p:txBody>
      </p:sp>
      <p:sp>
        <p:nvSpPr>
          <p:cNvPr id="4" name="">
            <a:extLst xmlns:a="http://schemas.openxmlformats.org/drawingml/2006/main">
              <a:ext uri="{FF2B5EF4-FFF2-40B4-BE49-F238E27FC236}">
                <a16:creationId xmlns:a16="http://schemas.microsoft.com/office/drawing/2014/main" id="{660AFF65-3E67-4038-A37F-72E11D004E2B}"/>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6AAB3F90-DDDA-4AE8-BB67-13FA66555BF8}"/>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7</a:t>
            </a:r>
          </a:p>
        </p:txBody>
      </p:sp>
      <p:graphicFrame>
        <p:nvGraphicFramePr>
          <p:cNvPr id="14" name=""/>
          <p:cNvGraphicFramePr/>
          <p:nvPr/>
        </p:nvGraphicFramePr>
        <p:xfrm>
          <a:off xmlns:a="http://schemas.openxmlformats.org/drawingml/2006/main" x="457200" y="1285875"/>
          <a:ext xmlns:a="http://schemas.openxmlformats.org/drawingml/2006/main" cx="11277600" cy="4029075"/>
        </p:xfrm>
        <a:graphic xmlns:a="http://schemas.openxmlformats.org/drawingml/2006/main">
          <a:graphicData uri="http://schemas.openxmlformats.org/drawingml/2006/table">
            <a:tbl>
              <a:tblPr/>
              <a:tblGrid>
                <a:gridCol w="2476500"/>
                <a:gridCol w="1143000"/>
                <a:gridCol w="7658100"/>
              </a:tblGrid>
              <a:tr h="447675">
                <a:tc>
                  <a:txBody>
                    <a:bodyPr/>
                    <a:lstStyle/>
                    <a:p>
                      <a:r>
                        <a:rPr sz="1725" b="1">
                          <a:solidFill>
                            <a:srgbClr val="FFFFFF"/>
                          </a:solidFill>
                          <a:latin typeface="Helvetica Neue"/>
                          <a:ea typeface="Helvetica Neue"/>
                          <a:cs typeface="Helvetica Neue"/>
                        </a:rPr>
                        <a:t>Record kind</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Count</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What it stores</a:t>
                      </a:r>
                    </a:p>
                  </a:txBody>
                  <a:tcPr marL="91440" marR="91440" marT="45720" marB="45720">
                    <a:solidFill>
                      <a:srgbClr val="00274C"/>
                    </a:solidFill>
                  </a:tcPr>
                </a:tc>
              </a:tr>
              <a:tr h="447675">
                <a:tc>
                  <a:txBody>
                    <a:bodyPr/>
                    <a:lstStyle/>
                    <a:p>
                      <a:r>
                        <a:rPr sz="1725" b="0">
                          <a:solidFill>
                            <a:srgbClr val="1A1A1A"/>
                          </a:solidFill>
                          <a:latin typeface="Helvetica Neue"/>
                          <a:ea typeface="Helvetica Neue"/>
                          <a:cs typeface="Helvetica Neue"/>
                        </a:rPr>
                        <a:t>Application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GAPBS source and version</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Kernel</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6</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Computation and correctness check</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Implementation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8</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Code, loops, and 77 access patterns</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Input</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4</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Kronecker / uniform, scales 16 / 22</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Machine</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mbit10 hardware and CPU flags</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Profile</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32</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Measurements for an implementation/input/machine</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Strategy</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5</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Target, effects, conditions, reported benefit</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Intrinsic</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2</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Instruction wrapper and required ISA</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536D6408-F341-429C-9F76-3F99FD110122}"/>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EF12AC-07A6-4E49-B97F-DF51CDE8D40D}"/>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59 records validate. All are draft. 14 initial tickets and 7 extension tickets are resolved.</a:t>
            </a:r>
          </a:p>
        </p:txBody>
      </p:sp>
    </p:spTree>
    <p:extLst>
      <p:ext uri="{BB962C8B-B14F-4D97-AF65-F5344CB8AC3E}">
        <p14:creationId xmlns:p14="http://schemas.microsoft.com/office/powerpoint/2010/main" val="14373030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8513E2-0E12-4B22-820A-40D7604D55D5}"/>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BF5653-5546-4FF3-8807-CA134A9FB3B5}"/>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6D5E6C8-21FF-4841-B376-C70312C84B47}"/>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application and profile coverage</a:t>
            </a:r>
          </a:p>
        </p:txBody>
      </p:sp>
      <p:sp>
        <p:nvSpPr>
          <p:cNvPr id="4" name="">
            <a:extLst xmlns:a="http://schemas.openxmlformats.org/drawingml/2006/main">
              <a:ext uri="{FF2B5EF4-FFF2-40B4-BE49-F238E27FC236}">
                <a16:creationId xmlns:a16="http://schemas.microsoft.com/office/drawing/2014/main" id="{ABC2C6B0-67F9-4486-9D10-372CC2FBA634}"/>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33D961B0-F0AA-4737-8271-BD1277DC2FB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8</a:t>
            </a:r>
          </a:p>
        </p:txBody>
      </p:sp>
      <p:graphicFrame>
        <p:nvGraphicFramePr>
          <p:cNvPr id="13" name=""/>
          <p:cNvGraphicFramePr/>
          <p:nvPr/>
        </p:nvGraphicFramePr>
        <p:xfrm>
          <a:off xmlns:a="http://schemas.openxmlformats.org/drawingml/2006/main" x="457200" y="1343025"/>
          <a:ext xmlns:a="http://schemas.openxmlformats.org/drawingml/2006/main" cx="11277600" cy="3524250"/>
        </p:xfrm>
        <a:graphic xmlns:a="http://schemas.openxmlformats.org/drawingml/2006/main">
          <a:graphicData uri="http://schemas.openxmlformats.org/drawingml/2006/table">
            <a:tbl>
              <a:tblPr/>
              <a:tblGrid>
                <a:gridCol w="3714750"/>
                <a:gridCol w="4857750"/>
                <a:gridCol w="2705100"/>
              </a:tblGrid>
              <a:tr h="503464">
                <a:tc>
                  <a:txBody>
                    <a:bodyPr/>
                    <a:lstStyle/>
                    <a:p>
                      <a:r>
                        <a:rPr sz="1875" b="1">
                          <a:solidFill>
                            <a:srgbClr val="FFFFFF"/>
                          </a:solidFill>
                          <a:latin typeface="Helvetica Neue"/>
                          <a:ea typeface="Helvetica Neue"/>
                          <a:cs typeface="Helvetica Neue"/>
                        </a:rPr>
                        <a:t>Kernel</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Recorded implementations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Profiles</a:t>
                      </a:r>
                    </a:p>
                  </a:txBody>
                  <a:tcPr marL="91440" marR="91440" marT="45720" marB="45720">
                    <a:solidFill>
                      <a:srgbClr val="00274C"/>
                    </a:solidFill>
                  </a:tcPr>
                </a:tc>
              </a:tr>
              <a:tr h="503464">
                <a:tc>
                  <a:txBody>
                    <a:bodyPr/>
                    <a:lstStyle/>
                    <a:p>
                      <a:r>
                        <a:rPr sz="1875" b="0">
                          <a:solidFill>
                            <a:srgbClr val="1A1A1A"/>
                          </a:solidFill>
                          <a:latin typeface="Helvetica Neue"/>
                          <a:ea typeface="Helvetica Neue"/>
                          <a:cs typeface="Helvetica Neue"/>
                        </a:rPr>
                        <a:t>PageRank</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Gauss–Seidel, Jacobi</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8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Breadth-first search</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Direction-optimizing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4F4F4"/>
                    </a:solidFill>
                  </a:tcPr>
                </a:tc>
              </a:tr>
              <a:tr h="503464">
                <a:tc>
                  <a:txBody>
                    <a:bodyPr/>
                    <a:lstStyle/>
                    <a:p>
                      <a:r>
                        <a:rPr sz="1875" b="0">
                          <a:solidFill>
                            <a:srgbClr val="1A1A1A"/>
                          </a:solidFill>
                          <a:latin typeface="Helvetica Neue"/>
                          <a:ea typeface="Helvetica Neue"/>
                          <a:cs typeface="Helvetica Neue"/>
                        </a:rPr>
                        <a:t>Betweenness centrality</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Brandes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Single-source shortest paths</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Delta-stepping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4F4F4"/>
                    </a:solidFill>
                  </a:tcPr>
                </a:tc>
              </a:tr>
              <a:tr h="503464">
                <a:tc>
                  <a:txBody>
                    <a:bodyPr/>
                    <a:lstStyle/>
                    <a:p>
                      <a:r>
                        <a:rPr sz="1875" b="0">
                          <a:solidFill>
                            <a:srgbClr val="1A1A1A"/>
                          </a:solidFill>
                          <a:latin typeface="Helvetica Neue"/>
                          <a:ea typeface="Helvetica Neue"/>
                          <a:cs typeface="Helvetica Neue"/>
                        </a:rPr>
                        <a:t>Connected components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Afforest, Shiloach–Vishkin</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8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Triangle counting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Ordered</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3 complete, 1 incomplete</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A0CE8425-0A7F-4D00-9EC2-C3A60853878B}"/>
              </a:ext>
            </a:extLst>
          </p:cNvPr>
          <p:cNvSpPr>
            <a:spLocks xmlns:a="http://schemas.openxmlformats.org/drawingml/2006/main" noGrp="1"/>
          </p:cNvSpPr>
          <p:nvPr/>
        </p:nvSpPr>
        <p:spPr>
          <a:xfrm xmlns:a="http://schemas.openxmlformats.org/drawingml/2006/main">
            <a:off x="457200" y="5153025"/>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Each implementation uses 4 inputs: Kronecker and uniform random graphs,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each at scales 16 and 22 with generator parameter k = 16.</a:t>
            </a:r>
          </a:p>
        </p:txBody>
      </p:sp>
    </p:spTree>
    <p:extLst>
      <p:ext uri="{BB962C8B-B14F-4D97-AF65-F5344CB8AC3E}">
        <p14:creationId xmlns:p14="http://schemas.microsoft.com/office/powerpoint/2010/main" val="11693100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C7EB17-BE6D-4EA1-8402-907A218CBDEF}"/>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F72682-7DBB-4BD6-950B-009BE85E619F}"/>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C91BEC-F99A-430F-A0B3-85F9C2E6F35A}"/>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implemented database operations</a:t>
            </a:r>
          </a:p>
        </p:txBody>
      </p:sp>
      <p:sp>
        <p:nvSpPr>
          <p:cNvPr id="4" name="">
            <a:extLst xmlns:a="http://schemas.openxmlformats.org/drawingml/2006/main">
              <a:ext uri="{FF2B5EF4-FFF2-40B4-BE49-F238E27FC236}">
                <a16:creationId xmlns:a16="http://schemas.microsoft.com/office/drawing/2014/main" id="{BF287885-766B-42FF-9028-5933206015DF}"/>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EFC8AF0C-F723-4069-9A03-E4BA1E7EDAB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9</a:t>
            </a:r>
          </a:p>
        </p:txBody>
      </p:sp>
      <p:graphicFrame>
        <p:nvGraphicFramePr>
          <p:cNvPr id="14" name=""/>
          <p:cNvGraphicFramePr/>
          <p:nvPr/>
        </p:nvGraphicFramePr>
        <p:xfrm>
          <a:off xmlns:a="http://schemas.openxmlformats.org/drawingml/2006/main" x="457200" y="1352550"/>
          <a:ext xmlns:a="http://schemas.openxmlformats.org/drawingml/2006/main" cx="11277600" cy="4010025"/>
        </p:xfrm>
        <a:graphic xmlns:a="http://schemas.openxmlformats.org/drawingml/2006/main">
          <a:graphicData uri="http://schemas.openxmlformats.org/drawingml/2006/table">
            <a:tbl>
              <a:tblPr/>
              <a:tblGrid>
                <a:gridCol w="5286375"/>
                <a:gridCol w="5991225"/>
              </a:tblGrid>
              <a:tr h="501253">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Implemented interface</a:t>
                      </a:r>
                    </a:p>
                  </a:txBody>
                  <a:tcPr marL="91440" marR="91440" marT="45720" marB="45720">
                    <a:solidFill>
                      <a:srgbClr val="00274C"/>
                    </a:solidFill>
                  </a:tcPr>
                </a:tc>
              </a:tr>
              <a:tr h="501253">
                <a:tc>
                  <a:txBody>
                    <a:bodyPr/>
                    <a:lstStyle/>
                    <a:p>
                      <a:r>
                        <a:rPr sz="1800" b="0">
                          <a:solidFill>
                            <a:srgbClr val="1A1A1A"/>
                          </a:solidFill>
                          <a:latin typeface="Helvetica Neue"/>
                          <a:ea typeface="Helvetica Neue"/>
                          <a:cs typeface="Helvetica Neue"/>
                        </a:rPr>
                        <a:t>Validate and store records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validate, add, build</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Search access patterns and semantic facts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find, sql</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Compare implementations of a kernel</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implementations, including --applies</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Screen strategy targets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strategies --pattern / --loop / --input</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Export a workload view</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view implementation input machine</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Capture and profile the machine</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capture-machine, profile</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Refresh simulated cache metrics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recompute-cachegrind</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CD108BF-9CA0-4AA2-BFCA-BE6923F316F5}"/>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4F70E03-ECD6-4F3A-A98A-CF2C0CB16C46}"/>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Versioned YAML is the master copy. SQLite is generated for queries.</a:t>
            </a:r>
          </a:p>
        </p:txBody>
      </p:sp>
    </p:spTree>
    <p:extLst>
      <p:ext uri="{BB962C8B-B14F-4D97-AF65-F5344CB8AC3E}">
        <p14:creationId xmlns:p14="http://schemas.microsoft.com/office/powerpoint/2010/main" val="7104948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DABBB2-16BE-456A-B4AB-531E3C6ED858}"/>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1AA6EF-BEF1-4977-8C04-9D33C6C22E7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92FEC8-6FE5-4783-BCC0-D4C21B4ED325}"/>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profiling and evidence types</a:t>
            </a:r>
          </a:p>
        </p:txBody>
      </p:sp>
      <p:sp>
        <p:nvSpPr>
          <p:cNvPr id="4" name="">
            <a:extLst xmlns:a="http://schemas.openxmlformats.org/drawingml/2006/main">
              <a:ext uri="{FF2B5EF4-FFF2-40B4-BE49-F238E27FC236}">
                <a16:creationId xmlns:a16="http://schemas.microsoft.com/office/drawing/2014/main" id="{047862E6-B8F7-4649-AD29-1B30165E0E7F}"/>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BACA60A5-A974-498E-A8E1-4B726594AE85}"/>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10</a:t>
            </a:r>
          </a:p>
        </p:txBody>
      </p:sp>
      <p:graphicFrame>
        <p:nvGraphicFramePr>
          <p:cNvPr id="13" name=""/>
          <p:cNvGraphicFramePr/>
          <p:nvPr/>
        </p:nvGraphicFramePr>
        <p:xfrm>
          <a:off xmlns:a="http://schemas.openxmlformats.org/drawingml/2006/main" x="457200" y="1409700"/>
          <a:ext xmlns:a="http://schemas.openxmlformats.org/drawingml/2006/main" cx="11277600" cy="3600450"/>
        </p:xfrm>
        <a:graphic xmlns:a="http://schemas.openxmlformats.org/drawingml/2006/main">
          <a:graphicData uri="http://schemas.openxmlformats.org/drawingml/2006/table">
            <a:tbl>
              <a:tblPr/>
              <a:tblGrid>
                <a:gridCol w="2381250"/>
                <a:gridCol w="5124450"/>
                <a:gridCol w="3771900"/>
              </a:tblGrid>
              <a:tr h="514350">
                <a:tc>
                  <a:txBody>
                    <a:bodyPr/>
                    <a:lstStyle/>
                    <a:p>
                      <a:r>
                        <a:rPr sz="1800" b="1">
                          <a:solidFill>
                            <a:srgbClr val="FFFFFF"/>
                          </a:solidFill>
                          <a:latin typeface="Helvetica Neue"/>
                          <a:ea typeface="Helvetica Neue"/>
                          <a:cs typeface="Helvetica Neue"/>
                        </a:rPr>
                        <a:t>Evidence</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Recorded content</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Interpretation</a:t>
                      </a:r>
                    </a:p>
                  </a:txBody>
                  <a:tcPr marL="91440" marR="91440" marT="45720" marB="45720">
                    <a:solidFill>
                      <a:srgbClr val="00274C"/>
                    </a:solidFill>
                  </a:tcPr>
                </a:tc>
              </a:tr>
              <a:tr h="514350">
                <a:tc>
                  <a:txBody>
                    <a:bodyPr/>
                    <a:lstStyle/>
                    <a:p>
                      <a:r>
                        <a:rPr sz="1800" b="0">
                          <a:solidFill>
                            <a:srgbClr val="1A1A1A"/>
                          </a:solidFill>
                          <a:latin typeface="Helvetica Neue"/>
                          <a:ea typeface="Helvetica Neue"/>
                          <a:cs typeface="Helvetica Neue"/>
                        </a:rPr>
                        <a:t>Correctness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Verifier outcome and timeout</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31 complete profiles</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Timing</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1, 2, 4, 8, 16 threads, 5 trials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Measured application trial time</a:t>
                      </a:r>
                    </a:p>
                  </a:txBody>
                  <a:tcPr marL="91440" marR="91440" marT="45720" marB="45720">
                    <a:solidFill>
                      <a:srgbClr val="F4F4F4"/>
                    </a:solidFill>
                  </a:tcPr>
                </a:tc>
              </a:tr>
              <a:tr h="514350">
                <a:tc>
                  <a:txBody>
                    <a:bodyPr/>
                    <a:lstStyle/>
                    <a:p>
                      <a:r>
                        <a:rPr sz="1800" b="0">
                          <a:solidFill>
                            <a:srgbClr val="1A1A1A"/>
                          </a:solidFill>
                          <a:latin typeface="Helvetica Neue"/>
                          <a:ea typeface="Helvetica Neue"/>
                          <a:cs typeface="Helvetica Neue"/>
                        </a:rPr>
                        <a:t>Memory footprint</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Array sizes and footprint/L3</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Recorded sizes and formulas</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Index stream</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Reuse, sequentiality, degree skew</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Features in 12 profiles</a:t>
                      </a:r>
                    </a:p>
                  </a:txBody>
                  <a:tcPr marL="91440" marR="91440" marT="45720" marB="45720">
                    <a:solidFill>
                      <a:srgbClr val="F4F4F4"/>
                    </a:solidFill>
                  </a:tcPr>
                </a:tc>
              </a:tr>
              <a:tr h="514350">
                <a:tc>
                  <a:txBody>
                    <a:bodyPr/>
                    <a:lstStyle/>
                    <a:p>
                      <a:r>
                        <a:rPr sz="1800" b="0">
                          <a:solidFill>
                            <a:srgbClr val="1A1A1A"/>
                          </a:solidFill>
                          <a:latin typeface="Helvetica Neue"/>
                          <a:ea typeface="Helvetica Neue"/>
                          <a:cs typeface="Helvetica Neue"/>
                        </a:rPr>
                        <a:t>Cachegrind</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Kernel-function cache references/misses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Simulated, single-threaded</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Bottleneck</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Classification with its basis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Inferred, not a counter measurement</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99029F53-9FD0-42DC-A8ED-3F95C47CFE5B}"/>
              </a:ext>
            </a:extLst>
          </p:cNvPr>
          <p:cNvSpPr>
            <a:spLocks xmlns:a="http://schemas.openxmlformats.org/drawingml/2006/main" noGrp="1"/>
          </p:cNvSpPr>
          <p:nvPr/>
        </p:nvSpPr>
        <p:spPr>
          <a:xfrm xmlns:a="http://schemas.openxmlformats.org/drawingml/2006/main">
            <a:off x="457200" y="5314950"/>
            <a:ext cx="1123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Profiles retain source/build identity, commands, raw-output locations,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host load, thread binding, stage outcomes, and evidence references.</a:t>
            </a:r>
          </a:p>
        </p:txBody>
      </p:sp>
    </p:spTree>
    <p:extLst>
      <p:ext uri="{BB962C8B-B14F-4D97-AF65-F5344CB8AC3E}">
        <p14:creationId xmlns:p14="http://schemas.microsoft.com/office/powerpoint/2010/main" val="5286425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6DEB76-DC4C-4A0C-AE4F-D19F1FB70B92}"/>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D7B754-FC0A-4B11-9507-2A55F0B8D84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DB45F39-EA9A-4803-B458-E424E4391D25}"/>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optimization strategies and intrinsics</a:t>
            </a:r>
          </a:p>
        </p:txBody>
      </p:sp>
      <p:sp>
        <p:nvSpPr>
          <p:cNvPr id="4" name="">
            <a:extLst xmlns:a="http://schemas.openxmlformats.org/drawingml/2006/main">
              <a:ext uri="{FF2B5EF4-FFF2-40B4-BE49-F238E27FC236}">
                <a16:creationId xmlns:a16="http://schemas.microsoft.com/office/drawing/2014/main" id="{BF2B504B-5597-46F8-A99B-5A18CDD95F34}"/>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5383BE1B-47BA-425C-81C3-1D45D4CEF981}"/>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11</a:t>
            </a:r>
          </a:p>
        </p:txBody>
      </p:sp>
      <p:graphicFrame>
        <p:nvGraphicFramePr>
          <p:cNvPr id="13" name=""/>
          <p:cNvGraphicFramePr/>
          <p:nvPr/>
        </p:nvGraphicFramePr>
        <p:xfrm>
          <a:off xmlns:a="http://schemas.openxmlformats.org/drawingml/2006/main" x="457200" y="1343025"/>
          <a:ext xmlns:a="http://schemas.openxmlformats.org/drawingml/2006/main" cx="11277600" cy="3200400"/>
        </p:xfrm>
        <a:graphic xmlns:a="http://schemas.openxmlformats.org/drawingml/2006/main">
          <a:graphicData uri="http://schemas.openxmlformats.org/drawingml/2006/table">
            <a:tbl>
              <a:tblPr/>
              <a:tblGrid>
                <a:gridCol w="3143250"/>
                <a:gridCol w="2476500"/>
                <a:gridCol w="5657850"/>
              </a:tblGrid>
              <a:tr h="533400">
                <a:tc>
                  <a:txBody>
                    <a:bodyPr/>
                    <a:lstStyle/>
                    <a:p>
                      <a:r>
                        <a:rPr sz="1800" b="1">
                          <a:solidFill>
                            <a:srgbClr val="FFFFFF"/>
                          </a:solidFill>
                          <a:latin typeface="Helvetica Neue"/>
                          <a:ea typeface="Helvetica Neue"/>
                          <a:cs typeface="Helvetica Neue"/>
                        </a:rPr>
                        <a:t>Strategy</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Target</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Recorded effect</a:t>
                      </a:r>
                    </a:p>
                  </a:txBody>
                  <a:tcPr marL="91440" marR="91440" marT="45720" marB="45720">
                    <a:solidFill>
                      <a:srgbClr val="00274C"/>
                    </a:solidFill>
                  </a:tcPr>
                </a:tc>
              </a:tr>
              <a:tr h="533400">
                <a:tc>
                  <a:txBody>
                    <a:bodyPr/>
                    <a:lstStyle/>
                    <a:p>
                      <a:r>
                        <a:rPr sz="1800" b="0">
                          <a:solidFill>
                            <a:srgbClr val="1A1A1A"/>
                          </a:solidFill>
                          <a:latin typeface="Helvetica Neue"/>
                          <a:ea typeface="Helvetica Neue"/>
                          <a:cs typeface="Helvetica Neue"/>
                        </a:rPr>
                        <a:t>Packing</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Indirect read becomes a stream, plus a packing pass</a:t>
                      </a:r>
                    </a:p>
                  </a:txBody>
                  <a:tcPr marL="91440" marR="91440" marT="45720" marB="45720">
                    <a:solidFill>
                      <a:srgbClr val="FFFFFF"/>
                    </a:solidFill>
                  </a:tcPr>
                </a:tc>
              </a:tr>
              <a:tr h="533400">
                <a:tc>
                  <a:txBody>
                    <a:bodyPr/>
                    <a:lstStyle/>
                    <a:p>
                      <a:r>
                        <a:rPr sz="1800" b="0">
                          <a:solidFill>
                            <a:srgbClr val="1A1A1A"/>
                          </a:solidFill>
                          <a:latin typeface="Helvetica Neue"/>
                          <a:ea typeface="Helvetica Neue"/>
                          <a:cs typeface="Helvetica Neue"/>
                        </a:rPr>
                        <a:t>Software prefetch</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Add a non-binding early access</a:t>
                      </a:r>
                    </a:p>
                  </a:txBody>
                  <a:tcPr marL="91440" marR="91440" marT="45720" marB="45720">
                    <a:solidFill>
                      <a:srgbClr val="F4F4F4"/>
                    </a:solidFill>
                  </a:tcPr>
                </a:tc>
              </a:tr>
              <a:tr h="533400">
                <a:tc>
                  <a:txBody>
                    <a:bodyPr/>
                    <a:lstStyle/>
                    <a:p>
                      <a:r>
                        <a:rPr sz="1800" b="0">
                          <a:solidFill>
                            <a:srgbClr val="1A1A1A"/>
                          </a:solidFill>
                          <a:latin typeface="Helvetica Neue"/>
                          <a:ea typeface="Helvetica Neue"/>
                          <a:cs typeface="Helvetica Neue"/>
                        </a:rPr>
                        <a:t>SIMD gather</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Widen lanes per access</a:t>
                      </a:r>
                    </a:p>
                  </a:txBody>
                  <a:tcPr marL="91440" marR="91440" marT="45720" marB="45720">
                    <a:solidFill>
                      <a:srgbClr val="FFFFFF"/>
                    </a:solidFill>
                  </a:tcPr>
                </a:tc>
              </a:tr>
              <a:tr h="533400">
                <a:tc>
                  <a:txBody>
                    <a:bodyPr/>
                    <a:lstStyle/>
                    <a:p>
                      <a:r>
                        <a:rPr sz="1800" b="0">
                          <a:solidFill>
                            <a:srgbClr val="1A1A1A"/>
                          </a:solidFill>
                          <a:latin typeface="Helvetica Neue"/>
                          <a:ea typeface="Helvetica Neue"/>
                          <a:cs typeface="Helvetica Neue"/>
                        </a:rPr>
                        <a:t>Vertex reordering</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Input</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Reorder indices</a:t>
                      </a:r>
                    </a:p>
                  </a:txBody>
                  <a:tcPr marL="91440" marR="91440" marT="45720" marB="45720">
                    <a:solidFill>
                      <a:srgbClr val="F4F4F4"/>
                    </a:solidFill>
                  </a:tcPr>
                </a:tc>
              </a:tr>
              <a:tr h="533400">
                <a:tc>
                  <a:txBody>
                    <a:bodyPr/>
                    <a:lstStyle/>
                    <a:p>
                      <a:r>
                        <a:rPr sz="1800" b="0">
                          <a:solidFill>
                            <a:srgbClr val="1A1A1A"/>
                          </a:solidFill>
                          <a:latin typeface="Helvetica Neue"/>
                          <a:ea typeface="Helvetica Neue"/>
                          <a:cs typeface="Helvetica Neue"/>
                        </a:rPr>
                        <a:t>Loop tiling</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Loop</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Restructure the loop</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BEAC1BE-0C95-4571-8198-5D9740AF50AE}"/>
              </a:ext>
            </a:extLst>
          </p:cNvPr>
          <p:cNvSpPr>
            <a:spLocks xmlns:a="http://schemas.openxmlformats.org/drawingml/2006/main" noGrp="1"/>
          </p:cNvSpPr>
          <p:nvPr/>
        </p:nvSpPr>
        <p:spPr>
          <a:xfrm xmlns:a="http://schemas.openxmlformats.org/drawingml/2006/main">
            <a:off x="457200" y="4905375"/>
            <a:ext cx="11239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Intrinsic records: _mm_prefetch and _mm512_i32gather_ps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Strategy application links and derived ISA checks are implemented.</a:t>
            </a:r>
          </a:p>
        </p:txBody>
      </p:sp>
    </p:spTree>
    <p:extLst>
      <p:ext uri="{BB962C8B-B14F-4D97-AF65-F5344CB8AC3E}">
        <p14:creationId xmlns:p14="http://schemas.microsoft.com/office/powerpoint/2010/main" val="15871589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849B05-BEF2-4D91-9E3E-34D7438D3724}"/>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10B829-0062-447A-8F33-D62D6AD8CC9E}"/>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6FC7C8C-531C-414B-B7AF-DAB2F14A7AD5}"/>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safeguards and remaining boundaries</a:t>
            </a:r>
          </a:p>
        </p:txBody>
      </p:sp>
      <p:sp>
        <p:nvSpPr>
          <p:cNvPr id="4" name="">
            <a:extLst xmlns:a="http://schemas.openxmlformats.org/drawingml/2006/main">
              <a:ext uri="{FF2B5EF4-FFF2-40B4-BE49-F238E27FC236}">
                <a16:creationId xmlns:a16="http://schemas.microsoft.com/office/drawing/2014/main" id="{66386CB5-7A6A-4DD8-B71F-21129700E45F}"/>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CC96B308-7324-49E0-8AFE-9429CFB3D8CB}"/>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12</a:t>
            </a:r>
          </a:p>
        </p:txBody>
      </p:sp>
      <p:graphicFrame>
        <p:nvGraphicFramePr>
          <p:cNvPr id="13" name=""/>
          <p:cNvGraphicFramePr/>
          <p:nvPr/>
        </p:nvGraphicFramePr>
        <p:xfrm>
          <a:off xmlns:a="http://schemas.openxmlformats.org/drawingml/2006/main" x="457200" y="1352550"/>
          <a:ext xmlns:a="http://schemas.openxmlformats.org/drawingml/2006/main" cx="11277600" cy="3714750"/>
        </p:xfrm>
        <a:graphic xmlns:a="http://schemas.openxmlformats.org/drawingml/2006/main">
          <a:graphicData uri="http://schemas.openxmlformats.org/drawingml/2006/table">
            <a:tbl>
              <a:tblPr/>
              <a:tblGrid>
                <a:gridCol w="5410200"/>
                <a:gridCol w="5867400"/>
              </a:tblGrid>
              <a:tr h="530679">
                <a:tc>
                  <a:txBody>
                    <a:bodyPr/>
                    <a:lstStyle/>
                    <a:p>
                      <a:r>
                        <a:rPr sz="1800" b="1">
                          <a:solidFill>
                            <a:srgbClr val="FFFFFF"/>
                          </a:solidFill>
                          <a:latin typeface="Helvetica Neue"/>
                          <a:ea typeface="Helvetica Neue"/>
                          <a:cs typeface="Helvetica Neue"/>
                        </a:rPr>
                        <a:t>Implemented safeguard</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Remaining boundary</a:t>
                      </a:r>
                    </a:p>
                  </a:txBody>
                  <a:tcPr marL="91440" marR="91440" marT="45720" marB="45720">
                    <a:solidFill>
                      <a:srgbClr val="00274C"/>
                    </a:solidFill>
                  </a:tcPr>
                </a:tc>
              </a:tr>
              <a:tr h="530679">
                <a:tc>
                  <a:txBody>
                    <a:bodyPr/>
                    <a:lstStyle/>
                    <a:p>
                      <a:r>
                        <a:rPr sz="1800" b="0">
                          <a:solidFill>
                            <a:srgbClr val="1A1A1A"/>
                          </a:solidFill>
                          <a:latin typeface="Helvetica Neue"/>
                          <a:ea typeface="Helvetica Neue"/>
                          <a:cs typeface="Helvetica Neue"/>
                        </a:rPr>
                        <a:t>Schema, vocabulary, cross-record checks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Valid structure does not establish a research claim</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Unknown semantics remain unknown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Strategy screening is not a full correctness proof</a:t>
                      </a:r>
                    </a:p>
                  </a:txBody>
                  <a:tcPr marL="91440" marR="91440" marT="45720" marB="45720">
                    <a:solidFill>
                      <a:srgbClr val="F4F4F4"/>
                    </a:solidFill>
                  </a:tcPr>
                </a:tc>
              </a:tr>
              <a:tr h="530679">
                <a:tc>
                  <a:txBody>
                    <a:bodyPr/>
                    <a:lstStyle/>
                    <a:p>
                      <a:r>
                        <a:rPr sz="1800" b="0">
                          <a:solidFill>
                            <a:srgbClr val="1A1A1A"/>
                          </a:solidFill>
                          <a:latin typeface="Helvetica Neue"/>
                          <a:ea typeface="Helvetica Neue"/>
                          <a:cs typeface="Helvetica Neue"/>
                        </a:rPr>
                        <a:t>Derived ISA and compiler/machine checks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No strategy-applied implementation measured yet</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Correctness status and incomplete profiles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Triangle counting / large Kronecker is incomplete</a:t>
                      </a:r>
                    </a:p>
                  </a:txBody>
                  <a:tcPr marL="91440" marR="91440" marT="45720" marB="45720">
                    <a:solidFill>
                      <a:srgbClr val="F4F4F4"/>
                    </a:solidFill>
                  </a:tcPr>
                </a:tc>
              </a:tr>
              <a:tr h="530679">
                <a:tc>
                  <a:txBody>
                    <a:bodyPr/>
                    <a:lstStyle/>
                    <a:p>
                      <a:r>
                        <a:rPr sz="1800" b="0">
                          <a:solidFill>
                            <a:srgbClr val="1A1A1A"/>
                          </a:solidFill>
                          <a:latin typeface="Helvetica Neue"/>
                          <a:ea typeface="Helvetica Neue"/>
                          <a:cs typeface="Helvetica Neue"/>
                        </a:rPr>
                        <a:t>Evidence basis and raw-output references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Simulated cache misses and inferred bottlenecks</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Workload-view generation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Live HW-agent integration not demonstrated</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B7850A5D-D32D-4D4A-B8D4-DA833EA37E63}"/>
              </a:ext>
            </a:extLst>
          </p:cNvPr>
          <p:cNvSpPr>
            <a:spLocks xmlns:a="http://schemas.openxmlformats.org/drawingml/2006/main" noGrp="1"/>
          </p:cNvSpPr>
          <p:nvPr/>
        </p:nvSpPr>
        <p:spPr>
          <a:xfrm xmlns:a="http://schemas.openxmlformats.org/drawingml/2006/main">
            <a:off x="457200" y="5276850"/>
            <a:ext cx="11239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Measurement context: shared mbit10 host, one socket per run.</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This update uses committed profile records, not a new measurement campaign.</a:t>
            </a:r>
          </a:p>
        </p:txBody>
      </p:sp>
    </p:spTree>
    <p:extLst>
      <p:ext uri="{BB962C8B-B14F-4D97-AF65-F5344CB8AC3E}">
        <p14:creationId xmlns:p14="http://schemas.microsoft.com/office/powerpoint/2010/main" val="15182785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D114C7-5D2E-4FB9-AF2A-F91D5D8037A0}"/>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DA0F96-E30B-4B2D-8BBC-A7D0E63681BA}"/>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3A3839-A466-49BC-B638-48B143AB6A41}"/>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PageRank timing and setup</a:t>
            </a:r>
          </a:p>
        </p:txBody>
      </p:sp>
      <p:sp>
        <p:nvSpPr>
          <p:cNvPr id="4" name="">
            <a:extLst xmlns:a="http://schemas.openxmlformats.org/drawingml/2006/main">
              <a:ext uri="{FF2B5EF4-FFF2-40B4-BE49-F238E27FC236}">
                <a16:creationId xmlns:a16="http://schemas.microsoft.com/office/drawing/2014/main" id="{A0DFC208-C2F1-439A-8506-934EC4AA63C3}"/>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B31B197B-E16F-4D6F-B396-9CB3EAE09127}"/>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3F103F32-150F-4B73-9664-6B88B9F03CC7}"/>
              </a:ext>
            </a:extLst>
          </p:cNvPr>
          <p:cNvSpPr>
            <a:spLocks xmlns:a="http://schemas.openxmlformats.org/drawingml/2006/main" noGrp="1"/>
          </p:cNvSpPr>
          <p:nvPr/>
        </p:nvSpPr>
        <p:spPr>
          <a:xfrm xmlns:a="http://schemas.openxmlformats.org/drawingml/2006/main">
            <a:off x="457200" y="12382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A1A1A"/>
                </a:solidFill>
                <a:latin typeface="Helvetica Neue"/>
                <a:ea typeface="Helvetica Neue"/>
                <a:cs typeface="Helvetica Neue"/>
              </a:defRPr>
            </a:pPr>
            <a:r>
              <a:rPr sz="1875" b="0">
                <a:solidFill>
                  <a:srgbClr val="1A1A1A"/>
                </a:solidFill>
                <a:latin typeface="Helvetica Neue"/>
                <a:ea typeface="Helvetica Neue"/>
                <a:cs typeface="Helvetica Neue"/>
              </a:rPr>
              <a:t>Intel Xeon Gold 6326, one socket, 24 MiB L3, 5 trials at each thread count</a:t>
            </a:r>
          </a:p>
        </p:txBody>
      </p:sp>
      <p:graphicFrame>
        <p:nvGraphicFramePr>
          <p:cNvPr id="15" name=""/>
          <p:cNvGraphicFramePr/>
          <p:nvPr/>
        </p:nvGraphicFramePr>
        <p:xfrm>
          <a:off xmlns:a="http://schemas.openxmlformats.org/drawingml/2006/main" x="457200" y="1819275"/>
          <a:ext xmlns:a="http://schemas.openxmlformats.org/drawingml/2006/main" cx="11277600" cy="2800350"/>
        </p:xfrm>
        <a:graphic xmlns:a="http://schemas.openxmlformats.org/drawingml/2006/main">
          <a:graphicData uri="http://schemas.openxmlformats.org/drawingml/2006/table">
            <a:tbl>
              <a:tblPr/>
              <a:tblGrid>
                <a:gridCol w="2476500"/>
                <a:gridCol w="4400550"/>
                <a:gridCol w="4400550"/>
              </a:tblGrid>
              <a:tr h="466725">
                <a:tc>
                  <a:txBody>
                    <a:bodyPr/>
                    <a:lstStyle/>
                    <a:p>
                      <a:r>
                        <a:rPr sz="1875" b="1">
                          <a:solidFill>
                            <a:srgbClr val="FFFFFF"/>
                          </a:solidFill>
                          <a:latin typeface="Helvetica Neue"/>
                          <a:ea typeface="Helvetica Neue"/>
                          <a:cs typeface="Helvetica Neue"/>
                        </a:rPr>
                        <a:t>Threads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Scale 16 median (ms)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Scale 22 median (ms)</a:t>
                      </a:r>
                    </a:p>
                  </a:txBody>
                  <a:tcPr marL="91440" marR="91440" marT="45720" marB="45720">
                    <a:solidFill>
                      <a:srgbClr val="00274C"/>
                    </a:solidFill>
                  </a:tcPr>
                </a:tc>
              </a:tr>
              <a:tr h="466725">
                <a:tc>
                  <a:txBody>
                    <a:bodyPr/>
                    <a:lstStyle/>
                    <a:p>
                      <a:r>
                        <a:rPr sz="187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20.45</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2539.72</a:t>
                      </a:r>
                    </a:p>
                  </a:txBody>
                  <a:tcPr marL="91440" marR="91440" marT="45720" marB="45720">
                    <a:solidFill>
                      <a:srgbClr val="FFFFFF"/>
                    </a:solidFill>
                  </a:tcPr>
                </a:tc>
              </a:tr>
              <a:tr h="466725">
                <a:tc>
                  <a:txBody>
                    <a:bodyPr/>
                    <a:lstStyle/>
                    <a:p>
                      <a:r>
                        <a:rPr sz="1875" b="0">
                          <a:solidFill>
                            <a:srgbClr val="1A1A1A"/>
                          </a:solidFill>
                          <a:latin typeface="Helvetica Neue"/>
                          <a:ea typeface="Helvetica Neue"/>
                          <a:cs typeface="Helvetica Neue"/>
                        </a:rPr>
                        <a:t>2</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10.28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1281.29</a:t>
                      </a:r>
                    </a:p>
                  </a:txBody>
                  <a:tcPr marL="91440" marR="91440" marT="45720" marB="45720">
                    <a:solidFill>
                      <a:srgbClr val="F4F4F4"/>
                    </a:solidFill>
                  </a:tcPr>
                </a:tc>
              </a:tr>
              <a:tr h="466725">
                <a:tc>
                  <a:txBody>
                    <a:bodyPr/>
                    <a:lstStyle/>
                    <a:p>
                      <a:r>
                        <a:rPr sz="1875" b="0">
                          <a:solidFill>
                            <a:srgbClr val="1A1A1A"/>
                          </a:solidFill>
                          <a:latin typeface="Helvetica Neue"/>
                          <a:ea typeface="Helvetica Neue"/>
                          <a:cs typeface="Helvetica Neue"/>
                        </a:rPr>
                        <a:t>4</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5.28</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646.16</a:t>
                      </a:r>
                    </a:p>
                  </a:txBody>
                  <a:tcPr marL="91440" marR="91440" marT="45720" marB="45720">
                    <a:solidFill>
                      <a:srgbClr val="FFFFFF"/>
                    </a:solidFill>
                  </a:tcPr>
                </a:tc>
              </a:tr>
              <a:tr h="466725">
                <a:tc>
                  <a:txBody>
                    <a:bodyPr/>
                    <a:lstStyle/>
                    <a:p>
                      <a:r>
                        <a:rPr sz="1875" b="0">
                          <a:solidFill>
                            <a:srgbClr val="1A1A1A"/>
                          </a:solidFill>
                          <a:latin typeface="Helvetica Neue"/>
                          <a:ea typeface="Helvetica Neue"/>
                          <a:cs typeface="Helvetica Neue"/>
                        </a:rPr>
                        <a:t>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5.18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335.84</a:t>
                      </a:r>
                    </a:p>
                  </a:txBody>
                  <a:tcPr marL="91440" marR="91440" marT="45720" marB="45720">
                    <a:solidFill>
                      <a:srgbClr val="F4F4F4"/>
                    </a:solidFill>
                  </a:tcPr>
                </a:tc>
              </a:tr>
              <a:tr h="466725">
                <a:tc>
                  <a:txBody>
                    <a:bodyPr/>
                    <a:lstStyle/>
                    <a:p>
                      <a:r>
                        <a:rPr sz="1875" b="0">
                          <a:solidFill>
                            <a:srgbClr val="1A1A1A"/>
                          </a:solidFill>
                          <a:latin typeface="Helvetica Neue"/>
                          <a:ea typeface="Helvetica Neue"/>
                          <a:cs typeface="Helvetica Neue"/>
                        </a:rPr>
                        <a:t>16</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5.20</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190.22</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C929852-9584-46A9-984F-D44785C1FCE4}"/>
              </a:ext>
            </a:extLst>
          </p:cNvPr>
          <p:cNvSpPr>
            <a:spLocks xmlns:a="http://schemas.openxmlformats.org/drawingml/2006/main" noGrp="1"/>
          </p:cNvSpPr>
          <p:nvPr/>
        </p:nvSpPr>
        <p:spPr>
          <a:xfrm xmlns:a="http://schemas.openxmlformats.org/drawingml/2006/main">
            <a:off x="457200" y="4933950"/>
            <a:ext cx="11239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16: 65,536 vertices, recorded footprint 8.33 MB</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22: 4,194,302 vertices, recorded footprint 580.35 MB</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Timing scope: application Trial Time. Raw runs date to 2026-09-22.</a:t>
            </a:r>
          </a:p>
        </p:txBody>
      </p:sp>
    </p:spTree>
    <p:extLst>
      <p:ext uri="{BB962C8B-B14F-4D97-AF65-F5344CB8AC3E}">
        <p14:creationId xmlns:p14="http://schemas.microsoft.com/office/powerpoint/2010/main" val="19944287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2026-09-24T04:49:10.1980000Z</dcterms:created>
  <dcterms:modified xsi:type="dcterms:W3CDTF">2026-09-24T04:49:10.1980000Z</dcterms:modified>
</coreProperties>
</file>